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7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人次</c:f>
              <c:strCache>
                <c:ptCount val="1"/>
                <c:pt idx="0">
                  <c:v>人次</c:v>
                </c:pt>
              </c:strCache>
            </c:strRef>
          </c:tx>
          <c:spPr>
            <a:solidFill>
              <a:srgbClr val="2F80ED"/>
            </a:solidFill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{"反复试错耗时","记录与回放麻烦","不知参数往哪调"}</c:f>
              <c:strCache>
                <c:ptCount val="3"/>
                <c:pt idx="0">
                  <c:v>反复试错耗时</c:v>
                </c:pt>
                <c:pt idx="1">
                  <c:v>记录与回放麻烦</c:v>
                </c:pt>
                <c:pt idx="2">
                  <c:v>不知参数往哪调</c:v>
                </c:pt>
              </c:strCache>
            </c:strRef>
          </c:cat>
          <c:val>
            <c:numRef>
              <c:f>{7,5,4}</c:f>
              <c:numCache>
                <c:formatCode>General</c:formatCode>
                <c:ptCount val="3"/>
                <c:pt idx="0">
                  <c:v>7</c:v>
                </c:pt>
                <c:pt idx="1">
                  <c:v>5</c:v>
                </c:pt>
                <c:pt idx="2">
                  <c:v>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C8CD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125" b="0" i="0" u="none" strike="noStrike" kern="1200" baseline="0">
                <a:solidFill>
                  <a:srgbClr val="111827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  <c:spPr>
        <a:solidFill>
          <a:srgbClr val="F1F3F5"/>
        </a:solidFill>
        <a:ln w="0">
          <a:solidFill>
            <a:srgbClr val="F1F3F5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cf61fee8-9ff5-4e95-9ef3-390d9163a27a}"/>
      </c:ext>
    </c:extLst>
  </c:chart>
  <c:spPr>
    <a:solidFill>
      <a:srgbClr val="F1F3F5"/>
    </a:solidFill>
    <a:ln w="0">
      <a:solidFill>
        <a:srgbClr val="F1F3F5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cover-eyebrow"/>
          <p:cNvSpPr>
            <a:spLocks noGrp="1"/>
          </p:cNvSpPr>
          <p:nvPr/>
        </p:nvSpPr>
        <p:spPr>
          <a:xfrm>
            <a:off x="400050" y="381000"/>
            <a:ext cx="4953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9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创客竞赛选题答辩 · V2.0</a:t>
            </a:r>
            <a:endParaRPr sz="1950" b="1">
              <a:solidFill>
                <a:srgbClr val="2F80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cover-theme"/>
          <p:cNvSpPr>
            <a:spLocks noGrp="1"/>
          </p:cNvSpPr>
          <p:nvPr/>
        </p:nvSpPr>
        <p:spPr>
          <a:xfrm>
            <a:off x="9525000" y="400050"/>
            <a:ext cx="2266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1800" b="1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+ OPC</a:t>
            </a:r>
            <a:endParaRPr sz="1800" b="1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cover-title"/>
          <p:cNvSpPr>
            <a:spLocks noGrp="1"/>
          </p:cNvSpPr>
          <p:nvPr/>
        </p:nvSpPr>
        <p:spPr>
          <a:xfrm>
            <a:off x="400050" y="1790700"/>
            <a:ext cx="7429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61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1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智串AI</a:t>
            </a:r>
            <a:endParaRPr sz="615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cover-subtitle"/>
          <p:cNvSpPr>
            <a:spLocks noGrp="1"/>
          </p:cNvSpPr>
          <p:nvPr/>
        </p:nvSpPr>
        <p:spPr>
          <a:xfrm>
            <a:off x="438150" y="2857500"/>
            <a:ext cx="9810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3225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面向电赛与智能车的串口诊断助手</a:t>
            </a:r>
            <a:endParaRPr sz="3225" b="1">
              <a:solidFill>
                <a:srgbClr val="1557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直接连接符 4"/>
          <p:cNvSpPr>
            <a:spLocks noGrp="1"/>
          </p:cNvSpPr>
          <p:nvPr/>
        </p:nvSpPr>
        <p:spPr>
          <a:xfrm>
            <a:off x="400050" y="4038600"/>
            <a:ext cx="11391900" cy="0"/>
          </a:xfrm>
          <a:prstGeom prst="line">
            <a:avLst/>
          </a:prstGeom>
          <a:noFill/>
          <a:ln w="19050">
            <a:solidFill>
              <a:srgbClr val="111827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400050" y="4457700"/>
            <a:ext cx="342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团队名称｜咕电子队</a:t>
            </a:r>
            <a:endParaRPr sz="165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00050" y="4933950"/>
            <a:ext cx="590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成员｜刘双瑞　胡雨杨　吴程龙秀</a:t>
            </a:r>
            <a:endParaRPr sz="165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877300" y="4914900"/>
            <a:ext cx="2914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65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2026年7月17日</a:t>
            </a:r>
            <a:endParaRPr sz="165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cover-accent-field"/>
          <p:cNvSpPr>
            <a:spLocks noGrp="1"/>
          </p:cNvSpPr>
          <p:nvPr/>
        </p:nvSpPr>
        <p:spPr>
          <a:xfrm>
            <a:off x="8715375" y="1543050"/>
            <a:ext cx="3076575" cy="1981200"/>
          </a:xfrm>
          <a:prstGeom prst="rect">
            <a:avLst/>
          </a:prstGeom>
          <a:solidFill>
            <a:srgbClr val="EAF6FC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991600" y="1847850"/>
            <a:ext cx="2476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r">
              <a:lnSpc>
                <a:spcPct val="105000"/>
              </a:lnSpc>
              <a:buNone/>
              <a:defRPr sz="37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7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SERIAL</a:t>
            </a:r>
            <a:endParaRPr sz="3750" b="1">
              <a:solidFill>
                <a:srgbClr val="2F80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>
              <a:lnSpc>
                <a:spcPct val="105000"/>
              </a:lnSpc>
              <a:buNone/>
              <a:defRPr sz="37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7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endParaRPr sz="3750" b="1">
              <a:solidFill>
                <a:srgbClr val="2F80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slide-2-title"/>
          <p:cNvSpPr>
            <a:spLocks noGrp="1"/>
          </p:cNvSpPr>
          <p:nvPr/>
        </p:nvSpPr>
        <p:spPr>
          <a:xfrm>
            <a:off x="400050" y="323850"/>
            <a:ext cx="108394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36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目录</a:t>
            </a:r>
            <a:endParaRPr sz="36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直接连接符 1"/>
          <p:cNvSpPr>
            <a:spLocks noGrp="1"/>
          </p:cNvSpPr>
          <p:nvPr/>
        </p:nvSpPr>
        <p:spPr>
          <a:xfrm>
            <a:off x="400050" y="1104900"/>
            <a:ext cx="11391900" cy="0"/>
          </a:xfrm>
          <a:prstGeom prst="line">
            <a:avLst/>
          </a:prstGeom>
          <a:noFill/>
          <a:ln w="9525">
            <a:solidFill>
              <a:srgbClr val="C8CDD4"/>
            </a:solidFill>
            <a:prstDash val="solid"/>
          </a:ln>
        </p:spPr>
      </p:sp>
      <p:sp>
        <p:nvSpPr>
          <p:cNvPr id="3" name="slide-2-number"/>
          <p:cNvSpPr>
            <a:spLocks noGrp="1"/>
          </p:cNvSpPr>
          <p:nvPr/>
        </p:nvSpPr>
        <p:spPr>
          <a:xfrm>
            <a:off x="11220450" y="63436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12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20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400050" y="2247900"/>
            <a:ext cx="11391900" cy="0"/>
          </a:xfrm>
          <a:prstGeom prst="line">
            <a:avLst/>
          </a:prstGeom>
          <a:noFill/>
          <a:ln w="9525">
            <a:solidFill>
              <a:srgbClr val="C8CDD4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00050" y="1657350"/>
            <a:ext cx="762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650" b="1">
              <a:solidFill>
                <a:srgbClr val="2F80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466850" y="1619250"/>
            <a:ext cx="857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5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选题背景与用户洞察</a:t>
            </a:r>
            <a:endParaRPr sz="255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直接连接符 6"/>
          <p:cNvSpPr>
            <a:spLocks noGrp="1"/>
          </p:cNvSpPr>
          <p:nvPr/>
        </p:nvSpPr>
        <p:spPr>
          <a:xfrm>
            <a:off x="400050" y="3086100"/>
            <a:ext cx="11391900" cy="0"/>
          </a:xfrm>
          <a:prstGeom prst="line">
            <a:avLst/>
          </a:prstGeom>
          <a:noFill/>
          <a:ln w="9525">
            <a:solidFill>
              <a:srgbClr val="C8CDD4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400050" y="2495550"/>
            <a:ext cx="762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650" b="1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466850" y="2457450"/>
            <a:ext cx="857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55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价值假设、竞品与精益画布</a:t>
            </a:r>
            <a:endParaRPr sz="255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400050" y="3924300"/>
            <a:ext cx="11391900" cy="0"/>
          </a:xfrm>
          <a:prstGeom prst="line">
            <a:avLst/>
          </a:prstGeom>
          <a:noFill/>
          <a:ln w="9525">
            <a:solidFill>
              <a:srgbClr val="C8CDD4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00050" y="3333750"/>
            <a:ext cx="762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650" b="1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466850" y="3295650"/>
            <a:ext cx="857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55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产品方案与MVP验证</a:t>
            </a:r>
            <a:endParaRPr sz="255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400050" y="4762500"/>
            <a:ext cx="11391900" cy="0"/>
          </a:xfrm>
          <a:prstGeom prst="line">
            <a:avLst/>
          </a:prstGeom>
          <a:noFill/>
          <a:ln w="9525">
            <a:solidFill>
              <a:srgbClr val="C8CDD4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400050" y="4171950"/>
            <a:ext cx="762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650" b="1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466850" y="4133850"/>
            <a:ext cx="857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55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增长路径、实施与团队分工</a:t>
            </a:r>
            <a:endParaRPr sz="255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400050" y="5600700"/>
            <a:ext cx="11391900" cy="0"/>
          </a:xfrm>
          <a:prstGeom prst="line">
            <a:avLst/>
          </a:prstGeom>
          <a:noFill/>
          <a:ln w="19050">
            <a:solidFill>
              <a:srgbClr val="111827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400050" y="5010150"/>
            <a:ext cx="762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650" b="1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466850" y="4972050"/>
            <a:ext cx="857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55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AI评价、团队分析与展望</a:t>
            </a:r>
            <a:endParaRPr sz="255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slide-3-title"/>
          <p:cNvSpPr>
            <a:spLocks noGrp="1"/>
          </p:cNvSpPr>
          <p:nvPr/>
        </p:nvSpPr>
        <p:spPr>
          <a:xfrm>
            <a:off x="400050" y="323850"/>
            <a:ext cx="108394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36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选题背景与意义</a:t>
            </a:r>
            <a:endParaRPr sz="36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直接连接符 1"/>
          <p:cNvSpPr>
            <a:spLocks noGrp="1"/>
          </p:cNvSpPr>
          <p:nvPr/>
        </p:nvSpPr>
        <p:spPr>
          <a:xfrm>
            <a:off x="400050" y="1104900"/>
            <a:ext cx="11391900" cy="0"/>
          </a:xfrm>
          <a:prstGeom prst="line">
            <a:avLst/>
          </a:prstGeom>
          <a:noFill/>
          <a:ln w="9525">
            <a:solidFill>
              <a:srgbClr val="C8CDD4"/>
            </a:solidFill>
            <a:prstDash val="solid"/>
          </a:ln>
        </p:spPr>
      </p:sp>
      <p:sp>
        <p:nvSpPr>
          <p:cNvPr id="3" name="slide-3-source"/>
          <p:cNvSpPr>
            <a:spLocks noGrp="1"/>
          </p:cNvSpPr>
          <p:nvPr/>
        </p:nvSpPr>
        <p:spPr>
          <a:xfrm>
            <a:off x="400050" y="6381750"/>
            <a:ext cx="933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数据来源：AI串口调试助手用户问卷</a:t>
            </a:r>
            <a:endParaRPr sz="112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lide-3-number"/>
          <p:cNvSpPr>
            <a:spLocks noGrp="1"/>
          </p:cNvSpPr>
          <p:nvPr/>
        </p:nvSpPr>
        <p:spPr>
          <a:xfrm>
            <a:off x="11220450" y="63436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12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20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00050" y="1295400"/>
            <a:ext cx="6572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250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调参反复、数据链割裂，是控制竞赛中的共同痛点</a:t>
            </a:r>
            <a:endParaRPr sz="2250" b="1">
              <a:solidFill>
                <a:srgbClr val="1557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00050" y="20002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9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950" b="1">
              <a:solidFill>
                <a:srgbClr val="2F80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71550" y="1981200"/>
            <a:ext cx="2076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研究背景</a:t>
            </a:r>
            <a:endParaRPr sz="21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71550" y="2409825"/>
            <a:ext cx="566737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65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65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</a:t>
            </a:r>
            <a:r>
              <a:rPr sz="165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受访者认为反复试错耗时；</a:t>
            </a:r>
            <a:r>
              <a:rPr lang="en-US" sz="165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42%</a:t>
            </a:r>
            <a:r>
              <a:rPr sz="165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将一个典型子系统调到基本达标需要3天以上。</a:t>
            </a:r>
            <a:endParaRPr sz="165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00050" y="33718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9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950" b="1">
              <a:solidFill>
                <a:srgbClr val="2F80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71550" y="3352800"/>
            <a:ext cx="2076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学术意义</a:t>
            </a:r>
            <a:endParaRPr sz="21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71550" y="3781425"/>
            <a:ext cx="566737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65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探索规则引擎、时序异常检测与大模型解释的协同机制，建立“耗时—准确率—误报率—信任度”的评价框架。</a:t>
            </a:r>
            <a:endParaRPr sz="165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00050" y="476250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9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950" b="1">
              <a:solidFill>
                <a:srgbClr val="2F80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71550" y="4743450"/>
            <a:ext cx="2076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实践价值</a:t>
            </a:r>
            <a:endParaRPr sz="21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71550" y="5172075"/>
            <a:ext cx="566737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65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把串口数据、波形、建议和报告串成闭环，减少盯屏与复制；</a:t>
            </a:r>
            <a:r>
              <a:rPr lang="en-US" sz="165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70%</a:t>
            </a:r>
            <a:r>
              <a:rPr sz="165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受访者明确需要数据记录与回放改善。</a:t>
            </a:r>
            <a:endParaRPr sz="165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pain-chart-panel"/>
          <p:cNvSpPr>
            <a:spLocks noGrp="1"/>
          </p:cNvSpPr>
          <p:nvPr/>
        </p:nvSpPr>
        <p:spPr>
          <a:xfrm>
            <a:off x="7239000" y="1381125"/>
            <a:ext cx="4552950" cy="337185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524750" y="160020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最突出的问题（人次）</a:t>
            </a:r>
            <a:endParaRPr sz="18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8" name="Chart"/>
          <p:cNvGraphicFramePr/>
          <p:nvPr/>
        </p:nvGraphicFramePr>
        <p:xfrm>
          <a:off x="7448550" y="2057400"/>
          <a:ext cx="4057650" cy="2324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8" name="矩形 17"/>
          <p:cNvSpPr>
            <a:spLocks noGrp="1"/>
          </p:cNvSpPr>
          <p:nvPr/>
        </p:nvSpPr>
        <p:spPr>
          <a:xfrm>
            <a:off x="7429500" y="5048250"/>
            <a:ext cx="1714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4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34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86%</a:t>
            </a:r>
            <a:endParaRPr lang="en-US" sz="3450" b="1">
              <a:solidFill>
                <a:srgbClr val="2F80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429500" y="5648325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愿意在赛前试用</a:t>
            </a:r>
            <a:endParaRPr sz="150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867900" y="5048250"/>
            <a:ext cx="1714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450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3450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70%</a:t>
            </a:r>
            <a:endParaRPr lang="en-US" sz="3450" b="1">
              <a:solidFill>
                <a:srgbClr val="1557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525000" y="5648325"/>
            <a:ext cx="2266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5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偏好AI建议、人工确认</a:t>
            </a:r>
            <a:endParaRPr sz="150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8" name="slide-4-title"/>
          <p:cNvSpPr>
            <a:spLocks noGrp="1"/>
          </p:cNvSpPr>
          <p:nvPr/>
        </p:nvSpPr>
        <p:spPr>
          <a:xfrm>
            <a:off x="400050" y="323850"/>
            <a:ext cx="108394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36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用户调研把需求从‘想当然’变成了‘有证据’</a:t>
            </a:r>
            <a:endParaRPr sz="36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直接连接符 1"/>
          <p:cNvSpPr>
            <a:spLocks noGrp="1"/>
          </p:cNvSpPr>
          <p:nvPr/>
        </p:nvSpPr>
        <p:spPr>
          <a:xfrm>
            <a:off x="400050" y="1104900"/>
            <a:ext cx="11391900" cy="0"/>
          </a:xfrm>
          <a:prstGeom prst="line">
            <a:avLst/>
          </a:prstGeom>
          <a:noFill/>
          <a:ln w="9525">
            <a:solidFill>
              <a:srgbClr val="C8CDD4"/>
            </a:solidFill>
            <a:prstDash val="solid"/>
          </a:ln>
        </p:spPr>
      </p:sp>
      <p:sp>
        <p:nvSpPr>
          <p:cNvPr id="3" name="slide-4-source"/>
          <p:cNvSpPr>
            <a:spLocks noGrp="1"/>
          </p:cNvSpPr>
          <p:nvPr/>
        </p:nvSpPr>
        <p:spPr>
          <a:xfrm>
            <a:off x="400050" y="6381750"/>
            <a:ext cx="933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数据来源：AI串口调试助手用户问卷</a:t>
            </a:r>
            <a:r>
              <a:rPr lang="zh-CN" sz="11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1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样本均参加过或正在准备控制类/智能车竞赛</a:t>
            </a:r>
            <a:endParaRPr sz="112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lide-4-number"/>
          <p:cNvSpPr>
            <a:spLocks noGrp="1"/>
          </p:cNvSpPr>
          <p:nvPr/>
        </p:nvSpPr>
        <p:spPr>
          <a:xfrm>
            <a:off x="11220450" y="63436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12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20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00050" y="1295400"/>
            <a:ext cx="1066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真正的机会不是替用户调参，而是缩短‘看数据—找原因—改参数—复盘’的循环</a:t>
            </a:r>
            <a:endParaRPr sz="2025" b="1">
              <a:solidFill>
                <a:srgbClr val="1557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insight-kpi-1"/>
          <p:cNvSpPr>
            <a:spLocks noGrp="1"/>
          </p:cNvSpPr>
          <p:nvPr/>
        </p:nvSpPr>
        <p:spPr>
          <a:xfrm>
            <a:off x="400050" y="1981200"/>
            <a:ext cx="2533650" cy="135255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351155" y="2152650"/>
            <a:ext cx="117284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31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31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100%</a:t>
            </a:r>
            <a:endParaRPr lang="en-US" sz="3150" b="1">
              <a:solidFill>
                <a:srgbClr val="2F80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466850" y="2171700"/>
            <a:ext cx="1295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8239"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反复试错太耗时</a:t>
            </a:r>
            <a:endParaRPr sz="165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71500" y="2781300"/>
            <a:ext cx="2152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所有受访者都将其列为痛点</a:t>
            </a:r>
            <a:endParaRPr sz="135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insight-kpi-2"/>
          <p:cNvSpPr>
            <a:spLocks noGrp="1"/>
          </p:cNvSpPr>
          <p:nvPr/>
        </p:nvSpPr>
        <p:spPr>
          <a:xfrm>
            <a:off x="3124200" y="1981200"/>
            <a:ext cx="2533650" cy="1352550"/>
          </a:xfrm>
          <a:prstGeom prst="rect">
            <a:avLst/>
          </a:prstGeom>
          <a:solidFill>
            <a:srgbClr val="EAF6FC"/>
          </a:solidFill>
          <a:ln w="9525">
            <a:solidFill>
              <a:srgbClr val="2F80ED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3295650" y="2152650"/>
            <a:ext cx="95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3150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3150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86%</a:t>
            </a:r>
            <a:endParaRPr lang="en-US" sz="3150" b="1">
              <a:solidFill>
                <a:srgbClr val="1557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191000" y="2171700"/>
            <a:ext cx="1295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愿意赛前试用</a:t>
            </a:r>
            <a:endParaRPr sz="165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295650" y="2781300"/>
            <a:ext cx="2152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5人非常愿意，1人比较愿意</a:t>
            </a:r>
            <a:endParaRPr sz="135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insight-kpi-3"/>
          <p:cNvSpPr>
            <a:spLocks noGrp="1"/>
          </p:cNvSpPr>
          <p:nvPr/>
        </p:nvSpPr>
        <p:spPr>
          <a:xfrm>
            <a:off x="5848350" y="1981200"/>
            <a:ext cx="2533650" cy="135255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019800" y="2152650"/>
            <a:ext cx="95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31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31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70%</a:t>
            </a:r>
            <a:endParaRPr lang="en-US" sz="3150" b="1">
              <a:solidFill>
                <a:srgbClr val="2F80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915150" y="2171700"/>
            <a:ext cx="1295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偏好人工确认</a:t>
            </a:r>
            <a:endParaRPr sz="165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019800" y="2781300"/>
            <a:ext cx="2152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736"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AI给建议，用户确认后再执行</a:t>
            </a:r>
            <a:endParaRPr sz="135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insight-flow-panel"/>
          <p:cNvSpPr>
            <a:spLocks noGrp="1"/>
          </p:cNvSpPr>
          <p:nvPr/>
        </p:nvSpPr>
        <p:spPr>
          <a:xfrm>
            <a:off x="400050" y="3638550"/>
            <a:ext cx="7981950" cy="22479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4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09600" y="38290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调研揭示的工作流断点</a:t>
            </a:r>
            <a:endParaRPr sz="18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右箭头 19"/>
          <p:cNvSpPr>
            <a:spLocks noGrp="1"/>
          </p:cNvSpPr>
          <p:nvPr/>
        </p:nvSpPr>
        <p:spPr>
          <a:xfrm>
            <a:off x="1962150" y="4552950"/>
            <a:ext cx="323850" cy="247650"/>
          </a:xfrm>
          <a:prstGeom prst="rightArrow">
            <a:avLst/>
          </a:prstGeom>
          <a:solidFill>
            <a:srgbClr val="6DCBF4"/>
          </a:solidFill>
          <a:ln w="9525">
            <a:solidFill>
              <a:srgbClr val="6DCBF4"/>
            </a:solidFill>
            <a:prstDash val="solid"/>
          </a:ln>
        </p:spPr>
      </p:sp>
      <p:sp>
        <p:nvSpPr>
          <p:cNvPr id="21" name="右箭头 20"/>
          <p:cNvSpPr>
            <a:spLocks noGrp="1"/>
          </p:cNvSpPr>
          <p:nvPr/>
        </p:nvSpPr>
        <p:spPr>
          <a:xfrm>
            <a:off x="3714750" y="4552950"/>
            <a:ext cx="323850" cy="247650"/>
          </a:xfrm>
          <a:prstGeom prst="rightArrow">
            <a:avLst/>
          </a:prstGeom>
          <a:solidFill>
            <a:srgbClr val="6DCBF4"/>
          </a:solidFill>
          <a:ln w="9525">
            <a:solidFill>
              <a:srgbClr val="6DCBF4"/>
            </a:solidFill>
            <a:prstDash val="solid"/>
          </a:ln>
        </p:spPr>
      </p:sp>
      <p:sp>
        <p:nvSpPr>
          <p:cNvPr id="22" name="右箭头 21"/>
          <p:cNvSpPr>
            <a:spLocks noGrp="1"/>
          </p:cNvSpPr>
          <p:nvPr/>
        </p:nvSpPr>
        <p:spPr>
          <a:xfrm>
            <a:off x="5467350" y="4552950"/>
            <a:ext cx="323850" cy="247650"/>
          </a:xfrm>
          <a:prstGeom prst="rightArrow">
            <a:avLst/>
          </a:prstGeom>
          <a:solidFill>
            <a:srgbClr val="6DCBF4"/>
          </a:solidFill>
          <a:ln w="9525">
            <a:solidFill>
              <a:srgbClr val="6DCBF4"/>
            </a:solidFill>
            <a:prstDash val="solid"/>
          </a:ln>
        </p:spPr>
      </p:sp>
      <p:sp>
        <p:nvSpPr>
          <p:cNvPr id="23" name="insight-flow-1"/>
          <p:cNvSpPr>
            <a:spLocks noGrp="1"/>
          </p:cNvSpPr>
          <p:nvPr/>
        </p:nvSpPr>
        <p:spPr>
          <a:xfrm>
            <a:off x="609600" y="4305300"/>
            <a:ext cx="1352550" cy="100965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723900" y="4476750"/>
            <a:ext cx="1123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看波形</a:t>
            </a:r>
            <a:endParaRPr sz="157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23900" y="4857750"/>
            <a:ext cx="1123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8897"/>
          </a:bodyPr>
          <a:lstStyle/>
          <a:p>
            <a:pPr algn="ctr">
              <a:lnSpc>
                <a:spcPct val="105000"/>
              </a:lnSpc>
              <a:buNone/>
              <a:defRPr sz="12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VOFA+ / Python</a:t>
            </a:r>
            <a:endParaRPr sz="127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insight-flow-2"/>
          <p:cNvSpPr>
            <a:spLocks noGrp="1"/>
          </p:cNvSpPr>
          <p:nvPr/>
        </p:nvSpPr>
        <p:spPr>
          <a:xfrm>
            <a:off x="2362200" y="4305300"/>
            <a:ext cx="1352550" cy="100965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2476500" y="4476750"/>
            <a:ext cx="1123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导出数据</a:t>
            </a:r>
            <a:endParaRPr sz="157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2476500" y="4857750"/>
            <a:ext cx="1123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8702"/>
          </a:bodyPr>
          <a:lstStyle/>
          <a:p>
            <a:pPr algn="ctr">
              <a:lnSpc>
                <a:spcPct val="105000"/>
              </a:lnSpc>
              <a:buNone/>
              <a:defRPr sz="12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复制日志、切换工具</a:t>
            </a:r>
            <a:endParaRPr sz="127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insight-flow-3"/>
          <p:cNvSpPr>
            <a:spLocks noGrp="1"/>
          </p:cNvSpPr>
          <p:nvPr/>
        </p:nvSpPr>
        <p:spPr>
          <a:xfrm>
            <a:off x="4114800" y="4305300"/>
            <a:ext cx="1352550" cy="1009650"/>
          </a:xfrm>
          <a:prstGeom prst="rect">
            <a:avLst/>
          </a:prstGeom>
          <a:solidFill>
            <a:srgbClr val="EAF6FC"/>
          </a:solidFill>
          <a:ln w="9525">
            <a:solidFill>
              <a:srgbClr val="2F80ED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4229100" y="4476750"/>
            <a:ext cx="1123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判断原因</a:t>
            </a:r>
            <a:endParaRPr sz="157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4229100" y="4857750"/>
            <a:ext cx="1123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485"/>
          </a:bodyPr>
          <a:lstStyle/>
          <a:p>
            <a:pPr algn="ctr">
              <a:lnSpc>
                <a:spcPct val="105000"/>
              </a:lnSpc>
              <a:buNone/>
              <a:defRPr sz="12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靠经验反复试错</a:t>
            </a:r>
            <a:endParaRPr sz="127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insight-flow-4"/>
          <p:cNvSpPr>
            <a:spLocks noGrp="1"/>
          </p:cNvSpPr>
          <p:nvPr/>
        </p:nvSpPr>
        <p:spPr>
          <a:xfrm>
            <a:off x="5867400" y="4305300"/>
            <a:ext cx="1352550" cy="100965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5981700" y="4476750"/>
            <a:ext cx="1123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记录结果</a:t>
            </a:r>
            <a:endParaRPr sz="157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5981700" y="4857750"/>
            <a:ext cx="1123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8702"/>
          </a:bodyPr>
          <a:lstStyle/>
          <a:p>
            <a:pPr algn="ctr">
              <a:lnSpc>
                <a:spcPct val="105000"/>
              </a:lnSpc>
              <a:buNone/>
              <a:defRPr sz="12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难关联参数与效果</a:t>
            </a:r>
            <a:endParaRPr sz="127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09600" y="5467350"/>
            <a:ext cx="742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产品切入点：把上下文留在同一工具内，让每条建议都能回到原始数据。</a:t>
            </a:r>
            <a:endParaRPr sz="1500" b="1">
              <a:solidFill>
                <a:srgbClr val="1557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insight-chart-panel"/>
          <p:cNvSpPr>
            <a:spLocks noGrp="1"/>
          </p:cNvSpPr>
          <p:nvPr/>
        </p:nvSpPr>
        <p:spPr>
          <a:xfrm>
            <a:off x="8667750" y="1981200"/>
            <a:ext cx="3124200" cy="390525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8915400" y="2209800"/>
            <a:ext cx="2590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每周调参 / 调试耗时</a:t>
            </a:r>
            <a:endParaRPr sz="18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8915400" y="2924175"/>
            <a:ext cx="781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2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3—8小时</a:t>
            </a:r>
            <a:endParaRPr sz="120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weekly-bar-1"/>
          <p:cNvSpPr>
            <a:spLocks noGrp="1"/>
          </p:cNvSpPr>
          <p:nvPr/>
        </p:nvSpPr>
        <p:spPr>
          <a:xfrm>
            <a:off x="9810750" y="2876550"/>
            <a:ext cx="1428750" cy="323850"/>
          </a:xfrm>
          <a:prstGeom prst="rect">
            <a:avLst/>
          </a:prstGeom>
          <a:solidFill>
            <a:srgbClr val="2F80ED"/>
          </a:solidFill>
          <a:ln w="0">
            <a:noFill/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11315700" y="290512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0000"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2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42%</a:t>
            </a:r>
            <a:endParaRPr lang="en-US" sz="127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8915400" y="3476625"/>
            <a:ext cx="781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2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8—20小时</a:t>
            </a:r>
            <a:endParaRPr sz="120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weekly-bar-2"/>
          <p:cNvSpPr>
            <a:spLocks noGrp="1"/>
          </p:cNvSpPr>
          <p:nvPr/>
        </p:nvSpPr>
        <p:spPr>
          <a:xfrm>
            <a:off x="9810750" y="3429000"/>
            <a:ext cx="1428750" cy="323850"/>
          </a:xfrm>
          <a:prstGeom prst="rect">
            <a:avLst/>
          </a:prstGeom>
          <a:solidFill>
            <a:srgbClr val="2F80ED"/>
          </a:solidFill>
          <a:ln w="0">
            <a:noFill/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11315700" y="345757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0000"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2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42%</a:t>
            </a:r>
            <a:endParaRPr lang="en-US" sz="127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8915400" y="4029075"/>
            <a:ext cx="781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2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&gt;20小时</a:t>
            </a:r>
            <a:endParaRPr sz="120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weekly-bar-3"/>
          <p:cNvSpPr>
            <a:spLocks noGrp="1"/>
          </p:cNvSpPr>
          <p:nvPr/>
        </p:nvSpPr>
        <p:spPr>
          <a:xfrm>
            <a:off x="9810750" y="3981450"/>
            <a:ext cx="476250" cy="323850"/>
          </a:xfrm>
          <a:prstGeom prst="rect">
            <a:avLst/>
          </a:prstGeom>
          <a:solidFill>
            <a:srgbClr val="2F80ED"/>
          </a:solidFill>
          <a:ln w="0">
            <a:noFill/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10363200" y="401002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0000"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2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14%</a:t>
            </a:r>
            <a:endParaRPr lang="en-US" sz="127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8915400" y="4895850"/>
            <a:ext cx="2590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336"/>
          </a:bodyPr>
          <a:lstStyle/>
          <a:p>
            <a:pPr algn="l">
              <a:lnSpc>
                <a:spcPct val="114000"/>
              </a:lnSpc>
              <a:buNone/>
              <a:defRPr sz="14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7人全部每周投入至少3小时，说明‘节省一次判断’会在高频循环中持续累积价值。</a:t>
            </a:r>
            <a:endParaRPr sz="142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4" name="slide-5-title"/>
          <p:cNvSpPr>
            <a:spLocks noGrp="1"/>
          </p:cNvSpPr>
          <p:nvPr/>
        </p:nvSpPr>
        <p:spPr>
          <a:xfrm>
            <a:off x="400050" y="323850"/>
            <a:ext cx="108394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36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三项关键假设决定项目是否值得继续</a:t>
            </a:r>
            <a:endParaRPr sz="36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直接连接符 1"/>
          <p:cNvSpPr>
            <a:spLocks noGrp="1"/>
          </p:cNvSpPr>
          <p:nvPr/>
        </p:nvSpPr>
        <p:spPr>
          <a:xfrm>
            <a:off x="400050" y="1104900"/>
            <a:ext cx="11391900" cy="0"/>
          </a:xfrm>
          <a:prstGeom prst="line">
            <a:avLst/>
          </a:prstGeom>
          <a:noFill/>
          <a:ln w="9525">
            <a:solidFill>
              <a:srgbClr val="C8CDD4"/>
            </a:solidFill>
            <a:prstDash val="solid"/>
          </a:ln>
        </p:spPr>
      </p:sp>
      <p:sp>
        <p:nvSpPr>
          <p:cNvPr id="3" name="slide-5-source"/>
          <p:cNvSpPr>
            <a:spLocks noGrp="1"/>
          </p:cNvSpPr>
          <p:nvPr/>
        </p:nvSpPr>
        <p:spPr>
          <a:xfrm>
            <a:off x="400050" y="6381750"/>
            <a:ext cx="933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证据来源：用户问卷；“初步支持”仅代表小样本结果</a:t>
            </a:r>
            <a:endParaRPr sz="112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lide-5-number"/>
          <p:cNvSpPr>
            <a:spLocks noGrp="1"/>
          </p:cNvSpPr>
          <p:nvPr/>
        </p:nvSpPr>
        <p:spPr>
          <a:xfrm>
            <a:off x="11220450" y="63436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12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20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00050" y="12954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325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痛点存在只是起点，产品还必须证明有效、安全，并能被低成本触达</a:t>
            </a:r>
            <a:endParaRPr sz="2325" b="1">
              <a:solidFill>
                <a:srgbClr val="1557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hypothesis-1"/>
          <p:cNvSpPr>
            <a:spLocks noGrp="1"/>
          </p:cNvSpPr>
          <p:nvPr/>
        </p:nvSpPr>
        <p:spPr>
          <a:xfrm>
            <a:off x="400050" y="2038350"/>
            <a:ext cx="3429000" cy="287655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2247900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H1</a:t>
            </a:r>
            <a:endParaRPr sz="1350" b="1">
              <a:solidFill>
                <a:srgbClr val="2F80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81100" y="2228850"/>
            <a:ext cx="123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价值假设</a:t>
            </a:r>
            <a:endParaRPr sz="1425" b="1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2724150"/>
            <a:ext cx="3009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9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用户确实需要</a:t>
            </a:r>
            <a:endParaRPr sz="195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09600" y="3219450"/>
            <a:ext cx="30099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3000"/>
              </a:lnSpc>
              <a:buNone/>
              <a:defRPr sz="15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竞赛学生存在高频调参试错，并愿意使用AI串口诊断助手。</a:t>
            </a:r>
            <a:endParaRPr sz="150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9600" y="4057650"/>
            <a:ext cx="3009900" cy="0"/>
          </a:xfrm>
          <a:prstGeom prst="line">
            <a:avLst/>
          </a:prstGeom>
          <a:noFill/>
          <a:ln w="9525">
            <a:solidFill>
              <a:srgbClr val="C8CDD4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09600" y="4229100"/>
            <a:ext cx="1809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350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100%</a:t>
            </a:r>
            <a:r>
              <a:rPr sz="1350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认为试错耗时</a:t>
            </a:r>
            <a:endParaRPr sz="1350" b="1">
              <a:solidFill>
                <a:srgbClr val="1557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8000"/>
              </a:lnSpc>
              <a:buNone/>
              <a:defRPr sz="1350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350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86%</a:t>
            </a:r>
            <a:r>
              <a:rPr sz="1350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愿意赛前试用</a:t>
            </a:r>
            <a:endParaRPr sz="1350" b="1">
              <a:solidFill>
                <a:srgbClr val="1557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438400" y="4305300"/>
            <a:ext cx="1181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2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小样本初步支持</a:t>
            </a:r>
            <a:endParaRPr sz="127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hypothesis-2"/>
          <p:cNvSpPr>
            <a:spLocks noGrp="1"/>
          </p:cNvSpPr>
          <p:nvPr/>
        </p:nvSpPr>
        <p:spPr>
          <a:xfrm>
            <a:off x="4191000" y="2038350"/>
            <a:ext cx="3429000" cy="2876550"/>
          </a:xfrm>
          <a:prstGeom prst="rect">
            <a:avLst/>
          </a:prstGeom>
          <a:solidFill>
            <a:srgbClr val="EAF6FC"/>
          </a:solidFill>
          <a:ln w="9525">
            <a:solidFill>
              <a:srgbClr val="2F80ED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400550" y="2247900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H2</a:t>
            </a:r>
            <a:endParaRPr sz="1350" b="1">
              <a:solidFill>
                <a:srgbClr val="2F80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972050" y="2228850"/>
            <a:ext cx="123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价值假设</a:t>
            </a:r>
            <a:endParaRPr sz="1425" b="1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400550" y="2724150"/>
            <a:ext cx="3009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9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辅助方式可被信任</a:t>
            </a:r>
            <a:endParaRPr sz="195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400550" y="3219450"/>
            <a:ext cx="30099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3000"/>
              </a:lnSpc>
              <a:buNone/>
              <a:defRPr sz="15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用户接受AI解释与参数建议，但希望保留最终确认权。</a:t>
            </a:r>
            <a:endParaRPr sz="150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4400550" y="4057650"/>
            <a:ext cx="3009900" cy="0"/>
          </a:xfrm>
          <a:prstGeom prst="line">
            <a:avLst/>
          </a:prstGeom>
          <a:noFill/>
          <a:ln w="9525">
            <a:solidFill>
              <a:srgbClr val="C8CDD4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4400550" y="4229100"/>
            <a:ext cx="1809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350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70%</a:t>
            </a:r>
            <a:r>
              <a:rPr sz="1350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偏好人工确认</a:t>
            </a:r>
            <a:endParaRPr sz="1350" b="1">
              <a:solidFill>
                <a:srgbClr val="1557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8000"/>
              </a:lnSpc>
              <a:buNone/>
              <a:defRPr sz="1350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</a:t>
            </a:r>
            <a:r>
              <a:rPr lang="en-US" sz="1350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30%</a:t>
            </a:r>
            <a:r>
              <a:rPr sz="1350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偏好全自动</a:t>
            </a:r>
            <a:endParaRPr sz="1350" b="1">
              <a:solidFill>
                <a:srgbClr val="1557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229350" y="4305300"/>
            <a:ext cx="1181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2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小样本初步支持</a:t>
            </a:r>
            <a:endParaRPr sz="127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hypothesis-3"/>
          <p:cNvSpPr>
            <a:spLocks noGrp="1"/>
          </p:cNvSpPr>
          <p:nvPr/>
        </p:nvSpPr>
        <p:spPr>
          <a:xfrm>
            <a:off x="7981950" y="2038350"/>
            <a:ext cx="3429000" cy="287655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8191500" y="2247900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H3</a:t>
            </a:r>
            <a:endParaRPr sz="1350" b="1">
              <a:solidFill>
                <a:srgbClr val="2F80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763000" y="2228850"/>
            <a:ext cx="123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增长假设</a:t>
            </a:r>
            <a:endParaRPr sz="1425" b="1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191500" y="2724150"/>
            <a:ext cx="3009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9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渠道能够带来使用</a:t>
            </a:r>
            <a:endParaRPr sz="195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191500" y="3219450"/>
            <a:ext cx="30099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3000"/>
              </a:lnSpc>
              <a:buNone/>
              <a:defRPr sz="15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B站、GitHub和竞赛社群能够低成本触达并转化早期用户。</a:t>
            </a:r>
            <a:endParaRPr sz="150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直接连接符 26"/>
          <p:cNvSpPr>
            <a:spLocks noGrp="1"/>
          </p:cNvSpPr>
          <p:nvPr/>
        </p:nvSpPr>
        <p:spPr>
          <a:xfrm>
            <a:off x="8191500" y="4057650"/>
            <a:ext cx="3009900" cy="0"/>
          </a:xfrm>
          <a:prstGeom prst="line">
            <a:avLst/>
          </a:prstGeom>
          <a:noFill/>
          <a:ln w="9525">
            <a:solidFill>
              <a:srgbClr val="C8CDD4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8191500" y="4229100"/>
            <a:ext cx="1809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B站、GitHub各</a:t>
            </a:r>
            <a:r>
              <a:rPr lang="en-US" sz="1350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56%</a:t>
            </a:r>
            <a:endParaRPr sz="1350" b="1">
              <a:solidFill>
                <a:srgbClr val="1557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8000"/>
              </a:lnSpc>
              <a:buNone/>
              <a:defRPr sz="1350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尚无真实转化数据</a:t>
            </a:r>
            <a:endParaRPr sz="1350" b="1">
              <a:solidFill>
                <a:srgbClr val="1557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9900920" y="4305300"/>
            <a:ext cx="130048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2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仅有渠道偏好证据</a:t>
            </a:r>
            <a:endParaRPr sz="127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highest-risk-hypothesis"/>
          <p:cNvSpPr>
            <a:spLocks noGrp="1"/>
          </p:cNvSpPr>
          <p:nvPr/>
        </p:nvSpPr>
        <p:spPr>
          <a:xfrm>
            <a:off x="400050" y="5219700"/>
            <a:ext cx="1101090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2F80ED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609600" y="542925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最高风险假设</a:t>
            </a:r>
            <a:endParaRPr sz="1800" b="1">
              <a:solidFill>
                <a:srgbClr val="1557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2324100" y="5410200"/>
            <a:ext cx="6572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智串AI能在不产生危险建议时，使典型诊断任务时间下降≥30%</a:t>
            </a:r>
            <a:endParaRPr sz="157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8896350" y="5353050"/>
            <a:ext cx="2305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2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若准确性不足，保留数据整理与报告功能，暂缓参数建议。</a:t>
            </a:r>
            <a:endParaRPr sz="127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8" name="slide-6-title"/>
          <p:cNvSpPr>
            <a:spLocks noGrp="1"/>
          </p:cNvSpPr>
          <p:nvPr/>
        </p:nvSpPr>
        <p:spPr>
          <a:xfrm>
            <a:off x="400050" y="323850"/>
            <a:ext cx="108394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36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差异化不在“有AI”，而在贯通上下文、证据和安全</a:t>
            </a:r>
            <a:endParaRPr sz="36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直接连接符 1"/>
          <p:cNvSpPr>
            <a:spLocks noGrp="1"/>
          </p:cNvSpPr>
          <p:nvPr/>
        </p:nvSpPr>
        <p:spPr>
          <a:xfrm>
            <a:off x="400050" y="1104900"/>
            <a:ext cx="11391900" cy="0"/>
          </a:xfrm>
          <a:prstGeom prst="line">
            <a:avLst/>
          </a:prstGeom>
          <a:noFill/>
          <a:ln w="9525">
            <a:solidFill>
              <a:srgbClr val="C8CDD4"/>
            </a:solidFill>
            <a:prstDash val="solid"/>
          </a:ln>
        </p:spPr>
      </p:sp>
      <p:sp>
        <p:nvSpPr>
          <p:cNvPr id="3" name="slide-6-source"/>
          <p:cNvSpPr>
            <a:spLocks noGrp="1"/>
          </p:cNvSpPr>
          <p:nvPr/>
        </p:nvSpPr>
        <p:spPr>
          <a:xfrm>
            <a:off x="400050" y="6381750"/>
            <a:ext cx="933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竞品信息来源：《创意提案》的初步工具梳理；正式答辩前应补充逐项版本与来源</a:t>
            </a:r>
            <a:endParaRPr sz="112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lide-6-number"/>
          <p:cNvSpPr>
            <a:spLocks noGrp="1"/>
          </p:cNvSpPr>
          <p:nvPr/>
        </p:nvSpPr>
        <p:spPr>
          <a:xfrm>
            <a:off x="11220450" y="63436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12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120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00050" y="1295400"/>
            <a:ext cx="1104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250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我们不与成熟串口工具正面拼功能，而是占据“赛前调参加速器”的互补位</a:t>
            </a:r>
            <a:endParaRPr sz="2250" b="1">
              <a:solidFill>
                <a:srgbClr val="1557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compare-head-1"/>
          <p:cNvSpPr>
            <a:spLocks noGrp="1"/>
          </p:cNvSpPr>
          <p:nvPr/>
        </p:nvSpPr>
        <p:spPr>
          <a:xfrm>
            <a:off x="400050" y="2038350"/>
            <a:ext cx="2114550" cy="495300"/>
          </a:xfrm>
          <a:prstGeom prst="rect">
            <a:avLst/>
          </a:prstGeom>
          <a:solidFill>
            <a:srgbClr val="1557A0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514350" y="2171700"/>
            <a:ext cx="1885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compare-head-2"/>
          <p:cNvSpPr>
            <a:spLocks noGrp="1"/>
          </p:cNvSpPr>
          <p:nvPr/>
        </p:nvSpPr>
        <p:spPr>
          <a:xfrm>
            <a:off x="2514600" y="2038350"/>
            <a:ext cx="2247900" cy="495300"/>
          </a:xfrm>
          <a:prstGeom prst="rect">
            <a:avLst/>
          </a:prstGeom>
          <a:solidFill>
            <a:srgbClr val="E7EEF5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2628900" y="2171700"/>
            <a:ext cx="2019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串口 / 波形</a:t>
            </a:r>
            <a:endParaRPr sz="15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compare-head-3"/>
          <p:cNvSpPr>
            <a:spLocks noGrp="1"/>
          </p:cNvSpPr>
          <p:nvPr/>
        </p:nvSpPr>
        <p:spPr>
          <a:xfrm>
            <a:off x="4762500" y="2038350"/>
            <a:ext cx="2381250" cy="495300"/>
          </a:xfrm>
          <a:prstGeom prst="rect">
            <a:avLst/>
          </a:prstGeom>
          <a:solidFill>
            <a:srgbClr val="E7EEF5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876800" y="2171700"/>
            <a:ext cx="2152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AI实时上下文</a:t>
            </a:r>
            <a:endParaRPr sz="15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compare-head-4"/>
          <p:cNvSpPr>
            <a:spLocks noGrp="1"/>
          </p:cNvSpPr>
          <p:nvPr/>
        </p:nvSpPr>
        <p:spPr>
          <a:xfrm>
            <a:off x="7143750" y="2038350"/>
            <a:ext cx="2362200" cy="495300"/>
          </a:xfrm>
          <a:prstGeom prst="rect">
            <a:avLst/>
          </a:prstGeom>
          <a:solidFill>
            <a:srgbClr val="E7EEF5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258050" y="2171700"/>
            <a:ext cx="2133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证据与复盘</a:t>
            </a:r>
            <a:endParaRPr sz="15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compare-head-5"/>
          <p:cNvSpPr>
            <a:spLocks noGrp="1"/>
          </p:cNvSpPr>
          <p:nvPr/>
        </p:nvSpPr>
        <p:spPr>
          <a:xfrm>
            <a:off x="9505950" y="2038350"/>
            <a:ext cx="2286000" cy="495300"/>
          </a:xfrm>
          <a:prstGeom prst="rect">
            <a:avLst/>
          </a:prstGeom>
          <a:solidFill>
            <a:srgbClr val="E7EEF5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9620250" y="2171700"/>
            <a:ext cx="2057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离线与安全</a:t>
            </a:r>
            <a:endParaRPr sz="15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compare-1-1"/>
          <p:cNvSpPr>
            <a:spLocks noGrp="1"/>
          </p:cNvSpPr>
          <p:nvPr/>
        </p:nvSpPr>
        <p:spPr>
          <a:xfrm>
            <a:off x="400050" y="2533650"/>
            <a:ext cx="211455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4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514350" y="2705100"/>
            <a:ext cx="1885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VOFA+</a:t>
            </a:r>
            <a:endParaRPr sz="142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compare-1-2"/>
          <p:cNvSpPr>
            <a:spLocks noGrp="1"/>
          </p:cNvSpPr>
          <p:nvPr/>
        </p:nvSpPr>
        <p:spPr>
          <a:xfrm>
            <a:off x="2514600" y="2533650"/>
            <a:ext cx="22479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4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2628900" y="2705100"/>
            <a:ext cx="2019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</a:t>
            </a:r>
            <a:endParaRPr sz="127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compare-1-3"/>
          <p:cNvSpPr>
            <a:spLocks noGrp="1"/>
          </p:cNvSpPr>
          <p:nvPr/>
        </p:nvSpPr>
        <p:spPr>
          <a:xfrm>
            <a:off x="4762500" y="2533650"/>
            <a:ext cx="238125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4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4876800" y="2705100"/>
            <a:ext cx="2152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</a:t>
            </a:r>
            <a:endParaRPr sz="127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compare-1-4"/>
          <p:cNvSpPr>
            <a:spLocks noGrp="1"/>
          </p:cNvSpPr>
          <p:nvPr/>
        </p:nvSpPr>
        <p:spPr>
          <a:xfrm>
            <a:off x="7143750" y="2533650"/>
            <a:ext cx="23622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4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7258050" y="2705100"/>
            <a:ext cx="2133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以波形与导出为主</a:t>
            </a:r>
            <a:endParaRPr sz="127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compare-1-5"/>
          <p:cNvSpPr>
            <a:spLocks noGrp="1"/>
          </p:cNvSpPr>
          <p:nvPr/>
        </p:nvSpPr>
        <p:spPr>
          <a:xfrm>
            <a:off x="9505950" y="2533650"/>
            <a:ext cx="22860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4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9620250" y="2705100"/>
            <a:ext cx="2057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本地可用</a:t>
            </a:r>
            <a:endParaRPr sz="127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compare-2-1"/>
          <p:cNvSpPr>
            <a:spLocks noGrp="1"/>
          </p:cNvSpPr>
          <p:nvPr/>
        </p:nvSpPr>
        <p:spPr>
          <a:xfrm>
            <a:off x="400050" y="3200400"/>
            <a:ext cx="211455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4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514350" y="3371850"/>
            <a:ext cx="1885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3703"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SSCOM / Serial Studio</a:t>
            </a:r>
            <a:endParaRPr sz="142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compare-2-2"/>
          <p:cNvSpPr>
            <a:spLocks noGrp="1"/>
          </p:cNvSpPr>
          <p:nvPr/>
        </p:nvSpPr>
        <p:spPr>
          <a:xfrm>
            <a:off x="2514600" y="3200400"/>
            <a:ext cx="22479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4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2628900" y="3371850"/>
            <a:ext cx="2019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收发或可视化</a:t>
            </a:r>
            <a:endParaRPr sz="127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compare-2-3"/>
          <p:cNvSpPr>
            <a:spLocks noGrp="1"/>
          </p:cNvSpPr>
          <p:nvPr/>
        </p:nvSpPr>
        <p:spPr>
          <a:xfrm>
            <a:off x="4762500" y="3200400"/>
            <a:ext cx="238125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4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4876800" y="3371850"/>
            <a:ext cx="2152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</a:t>
            </a:r>
            <a:endParaRPr sz="127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compare-2-4"/>
          <p:cNvSpPr>
            <a:spLocks noGrp="1"/>
          </p:cNvSpPr>
          <p:nvPr/>
        </p:nvSpPr>
        <p:spPr>
          <a:xfrm>
            <a:off x="7143750" y="3200400"/>
            <a:ext cx="23622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4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7258050" y="3371850"/>
            <a:ext cx="2133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上下文关联较弱</a:t>
            </a:r>
            <a:endParaRPr sz="127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compare-2-5"/>
          <p:cNvSpPr>
            <a:spLocks noGrp="1"/>
          </p:cNvSpPr>
          <p:nvPr/>
        </p:nvSpPr>
        <p:spPr>
          <a:xfrm>
            <a:off x="9505950" y="3200400"/>
            <a:ext cx="22860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4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9620250" y="3371850"/>
            <a:ext cx="2057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部分跨平台</a:t>
            </a:r>
            <a:endParaRPr sz="127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compare-3-1"/>
          <p:cNvSpPr>
            <a:spLocks noGrp="1"/>
          </p:cNvSpPr>
          <p:nvPr/>
        </p:nvSpPr>
        <p:spPr>
          <a:xfrm>
            <a:off x="400050" y="3867150"/>
            <a:ext cx="211455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4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514350" y="4038600"/>
            <a:ext cx="1885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通用大模型</a:t>
            </a:r>
            <a:endParaRPr sz="142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compare-3-2"/>
          <p:cNvSpPr>
            <a:spLocks noGrp="1"/>
          </p:cNvSpPr>
          <p:nvPr/>
        </p:nvSpPr>
        <p:spPr>
          <a:xfrm>
            <a:off x="2514600" y="3867150"/>
            <a:ext cx="22479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4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2628900" y="4038600"/>
            <a:ext cx="2019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需复制粘贴</a:t>
            </a:r>
            <a:endParaRPr sz="127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compare-3-3"/>
          <p:cNvSpPr>
            <a:spLocks noGrp="1"/>
          </p:cNvSpPr>
          <p:nvPr/>
        </p:nvSpPr>
        <p:spPr>
          <a:xfrm>
            <a:off x="4762500" y="3867150"/>
            <a:ext cx="238125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4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4876800" y="4038600"/>
            <a:ext cx="2152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片段式</a:t>
            </a:r>
            <a:endParaRPr sz="127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compare-3-4"/>
          <p:cNvSpPr>
            <a:spLocks noGrp="1"/>
          </p:cNvSpPr>
          <p:nvPr/>
        </p:nvSpPr>
        <p:spPr>
          <a:xfrm>
            <a:off x="7143750" y="3867150"/>
            <a:ext cx="23622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4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7258050" y="4038600"/>
            <a:ext cx="2133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原始证据易断裂</a:t>
            </a:r>
            <a:endParaRPr sz="127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compare-3-5"/>
          <p:cNvSpPr>
            <a:spLocks noGrp="1"/>
          </p:cNvSpPr>
          <p:nvPr/>
        </p:nvSpPr>
        <p:spPr>
          <a:xfrm>
            <a:off x="9505950" y="3867150"/>
            <a:ext cx="22860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4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9620250" y="4038600"/>
            <a:ext cx="2057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通常依赖网络</a:t>
            </a:r>
            <a:endParaRPr sz="127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compare-4-1"/>
          <p:cNvSpPr>
            <a:spLocks noGrp="1"/>
          </p:cNvSpPr>
          <p:nvPr/>
        </p:nvSpPr>
        <p:spPr>
          <a:xfrm>
            <a:off x="400050" y="4533900"/>
            <a:ext cx="2114550" cy="666750"/>
          </a:xfrm>
          <a:prstGeom prst="rect">
            <a:avLst/>
          </a:prstGeom>
          <a:solidFill>
            <a:srgbClr val="EAF6FC"/>
          </a:solidFill>
          <a:ln w="9525">
            <a:solidFill>
              <a:srgbClr val="C8CDD4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514350" y="4705350"/>
            <a:ext cx="1885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智串AI</a:t>
            </a:r>
            <a:endParaRPr sz="1425" b="1">
              <a:solidFill>
                <a:srgbClr val="1557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compare-4-2"/>
          <p:cNvSpPr>
            <a:spLocks noGrp="1"/>
          </p:cNvSpPr>
          <p:nvPr/>
        </p:nvSpPr>
        <p:spPr>
          <a:xfrm>
            <a:off x="2514600" y="4533900"/>
            <a:ext cx="2247900" cy="666750"/>
          </a:xfrm>
          <a:prstGeom prst="rect">
            <a:avLst/>
          </a:prstGeom>
          <a:solidFill>
            <a:srgbClr val="EAF6FC"/>
          </a:solidFill>
          <a:ln w="9525">
            <a:solidFill>
              <a:srgbClr val="C8CDD4"/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2628900" y="4705350"/>
            <a:ext cx="2019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集成</a:t>
            </a:r>
            <a:endParaRPr sz="1275" b="1">
              <a:solidFill>
                <a:srgbClr val="1557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compare-4-3"/>
          <p:cNvSpPr>
            <a:spLocks noGrp="1"/>
          </p:cNvSpPr>
          <p:nvPr/>
        </p:nvSpPr>
        <p:spPr>
          <a:xfrm>
            <a:off x="4762500" y="4533900"/>
            <a:ext cx="2381250" cy="666750"/>
          </a:xfrm>
          <a:prstGeom prst="rect">
            <a:avLst/>
          </a:prstGeom>
          <a:solidFill>
            <a:srgbClr val="EAF6FC"/>
          </a:solidFill>
          <a:ln w="9525">
            <a:solidFill>
              <a:srgbClr val="C8CDD4"/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4876800" y="4705350"/>
            <a:ext cx="2152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持续读取串口流</a:t>
            </a:r>
            <a:endParaRPr sz="1275" b="1">
              <a:solidFill>
                <a:srgbClr val="1557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compare-4-4"/>
          <p:cNvSpPr>
            <a:spLocks noGrp="1"/>
          </p:cNvSpPr>
          <p:nvPr/>
        </p:nvSpPr>
        <p:spPr>
          <a:xfrm>
            <a:off x="7143750" y="4533900"/>
            <a:ext cx="2362200" cy="666750"/>
          </a:xfrm>
          <a:prstGeom prst="rect">
            <a:avLst/>
          </a:prstGeom>
          <a:solidFill>
            <a:srgbClr val="EAF6FC"/>
          </a:solidFill>
          <a:ln w="9525">
            <a:solidFill>
              <a:srgbClr val="C8CDD4"/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7258050" y="4705350"/>
            <a:ext cx="2133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时间戳、建议、结果留痕</a:t>
            </a:r>
            <a:endParaRPr sz="1275" b="1">
              <a:solidFill>
                <a:srgbClr val="1557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compare-4-5"/>
          <p:cNvSpPr>
            <a:spLocks noGrp="1"/>
          </p:cNvSpPr>
          <p:nvPr/>
        </p:nvSpPr>
        <p:spPr>
          <a:xfrm>
            <a:off x="9505950" y="4533900"/>
            <a:ext cx="2286000" cy="666750"/>
          </a:xfrm>
          <a:prstGeom prst="rect">
            <a:avLst/>
          </a:prstGeom>
          <a:solidFill>
            <a:srgbClr val="EAF6FC"/>
          </a:solidFill>
          <a:ln w="9525">
            <a:solidFill>
              <a:srgbClr val="C8CDD4"/>
            </a:solidFill>
            <a:prstDash val="solid"/>
          </a:ln>
        </p:spPr>
      </p:sp>
      <p:sp>
        <p:nvSpPr>
          <p:cNvPr id="55" name="矩形 54"/>
          <p:cNvSpPr>
            <a:spLocks noGrp="1"/>
          </p:cNvSpPr>
          <p:nvPr/>
        </p:nvSpPr>
        <p:spPr>
          <a:xfrm>
            <a:off x="9620250" y="4705350"/>
            <a:ext cx="2057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离线降级＋人工确认</a:t>
            </a:r>
            <a:endParaRPr sz="1275" b="1">
              <a:solidFill>
                <a:srgbClr val="1557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400050" y="554355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定位结论</a:t>
            </a:r>
            <a:endParaRPr sz="18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1809750" y="5505450"/>
            <a:ext cx="9601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125"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VOFA+继续承担赛场波形主力；智串AI负责赛前把“现象—参数—效果”整理成可解释、可验证的闭环。</a:t>
            </a:r>
            <a:endParaRPr sz="1650" b="1">
              <a:solidFill>
                <a:srgbClr val="1557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slide-7-title"/>
          <p:cNvSpPr>
            <a:spLocks noGrp="1"/>
          </p:cNvSpPr>
          <p:nvPr/>
        </p:nvSpPr>
        <p:spPr>
          <a:xfrm>
            <a:off x="400050" y="323850"/>
            <a:ext cx="108394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36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精益画布①：先把用户、问题和价值主张对齐</a:t>
            </a:r>
            <a:endParaRPr sz="36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直接连接符 1"/>
          <p:cNvSpPr>
            <a:spLocks noGrp="1"/>
          </p:cNvSpPr>
          <p:nvPr/>
        </p:nvSpPr>
        <p:spPr>
          <a:xfrm>
            <a:off x="400050" y="1104900"/>
            <a:ext cx="11391900" cy="0"/>
          </a:xfrm>
          <a:prstGeom prst="line">
            <a:avLst/>
          </a:prstGeom>
          <a:noFill/>
          <a:ln w="9525">
            <a:solidFill>
              <a:srgbClr val="C8CDD4"/>
            </a:solidFill>
            <a:prstDash val="solid"/>
          </a:ln>
        </p:spPr>
      </p:sp>
      <p:sp>
        <p:nvSpPr>
          <p:cNvPr id="3" name="slide-7-source"/>
          <p:cNvSpPr>
            <a:spLocks noGrp="1"/>
          </p:cNvSpPr>
          <p:nvPr/>
        </p:nvSpPr>
        <p:spPr>
          <a:xfrm>
            <a:off x="400050" y="6381750"/>
            <a:ext cx="933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画布依据：问卷、开放题反馈与创意提案</a:t>
            </a:r>
            <a:endParaRPr sz="112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lide-7-number"/>
          <p:cNvSpPr>
            <a:spLocks noGrp="1"/>
          </p:cNvSpPr>
          <p:nvPr/>
        </p:nvSpPr>
        <p:spPr>
          <a:xfrm>
            <a:off x="11220450" y="63436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12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120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00050" y="1295400"/>
            <a:ext cx="1057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250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早期采用者不是所有学生，而是正在为控制指标反复试错的竞赛成员</a:t>
            </a:r>
            <a:endParaRPr sz="2250" b="1">
              <a:solidFill>
                <a:srgbClr val="1557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canvas-problem"/>
          <p:cNvSpPr>
            <a:spLocks noGrp="1"/>
          </p:cNvSpPr>
          <p:nvPr/>
        </p:nvSpPr>
        <p:spPr>
          <a:xfrm>
            <a:off x="400050" y="2019300"/>
            <a:ext cx="3429000" cy="337185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28650" y="2228850"/>
            <a:ext cx="95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9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endParaRPr sz="195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28650" y="2781300"/>
            <a:ext cx="2914650" cy="1905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6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 反复试错耗时</a:t>
            </a:r>
            <a:endParaRPr sz="165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650"/>
          </a:p>
          <a:p>
            <a:pPr algn="l">
              <a:lnSpc>
                <a:spcPct val="118000"/>
              </a:lnSpc>
              <a:buNone/>
              <a:defRPr sz="16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 参数与效果难对应</a:t>
            </a:r>
            <a:endParaRPr sz="165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650"/>
          </a:p>
          <a:p>
            <a:pPr algn="l">
              <a:lnSpc>
                <a:spcPct val="118000"/>
              </a:lnSpc>
              <a:buNone/>
              <a:defRPr sz="16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 数据割裂、赛场弱网</a:t>
            </a:r>
            <a:endParaRPr sz="165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28650" y="49720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优先级来自问卷与开放题</a:t>
            </a:r>
            <a:endParaRPr sz="127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canvas-customer"/>
          <p:cNvSpPr>
            <a:spLocks noGrp="1"/>
          </p:cNvSpPr>
          <p:nvPr/>
        </p:nvSpPr>
        <p:spPr>
          <a:xfrm>
            <a:off x="4057650" y="2019300"/>
            <a:ext cx="3543300" cy="1581150"/>
          </a:xfrm>
          <a:prstGeom prst="rect">
            <a:avLst/>
          </a:prstGeom>
          <a:solidFill>
            <a:srgbClr val="EAF6FC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286250" y="22288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客户细分与早期采用者</a:t>
            </a:r>
            <a:endParaRPr sz="187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286250" y="2705100"/>
            <a:ext cx="30670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392"/>
          </a:bodyPr>
          <a:lstStyle/>
          <a:p>
            <a:pPr algn="l">
              <a:lnSpc>
                <a:spcPct val="112000"/>
              </a:lnSpc>
              <a:buNone/>
              <a:defRPr sz="14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电赛 / 智能车 / RM等控制类团队</a:t>
            </a:r>
            <a:endParaRPr sz="142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4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以STM32调参的电控、硬件成员</a:t>
            </a:r>
            <a:endParaRPr sz="142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4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每周调试≥3小时，依赖VOFA+或Python</a:t>
            </a:r>
            <a:endParaRPr sz="142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canvas-solution"/>
          <p:cNvSpPr>
            <a:spLocks noGrp="1"/>
          </p:cNvSpPr>
          <p:nvPr/>
        </p:nvSpPr>
        <p:spPr>
          <a:xfrm>
            <a:off x="4057650" y="3810000"/>
            <a:ext cx="3543300" cy="158115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4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4286250" y="4019550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解决方案</a:t>
            </a:r>
            <a:endParaRPr sz="187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286250" y="4495800"/>
            <a:ext cx="30670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328"/>
          </a:bodyPr>
          <a:lstStyle/>
          <a:p>
            <a:pPr algn="l">
              <a:lnSpc>
                <a:spcPct val="113000"/>
              </a:lnSpc>
              <a:buNone/>
              <a:defRPr sz="14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离线 / 实时数据分析</a:t>
            </a:r>
            <a:endParaRPr sz="142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3000"/>
              </a:lnSpc>
              <a:buNone/>
              <a:defRPr sz="14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现象—参数—方向解释</a:t>
            </a:r>
            <a:endParaRPr sz="142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3000"/>
              </a:lnSpc>
              <a:buNone/>
              <a:defRPr sz="14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安全限幅＋人工确认＋报告回放</a:t>
            </a:r>
            <a:endParaRPr sz="142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canvas-uvp"/>
          <p:cNvSpPr>
            <a:spLocks noGrp="1"/>
          </p:cNvSpPr>
          <p:nvPr/>
        </p:nvSpPr>
        <p:spPr>
          <a:xfrm>
            <a:off x="7829550" y="2019300"/>
            <a:ext cx="3962400" cy="2076450"/>
          </a:xfrm>
          <a:prstGeom prst="rect">
            <a:avLst/>
          </a:prstGeom>
          <a:solidFill>
            <a:srgbClr val="1557A0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077200" y="224790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独特价值主张</a:t>
            </a:r>
            <a:endParaRPr sz="18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077200" y="2781300"/>
            <a:ext cx="34480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让竞赛调参从“凭手感、反复试”变为“看得懂、调得准、可复盘”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canvas-advantage"/>
          <p:cNvSpPr>
            <a:spLocks noGrp="1"/>
          </p:cNvSpPr>
          <p:nvPr/>
        </p:nvSpPr>
        <p:spPr>
          <a:xfrm>
            <a:off x="7829550" y="4305300"/>
            <a:ext cx="3962400" cy="108585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8077200" y="449580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优势来源</a:t>
            </a:r>
            <a:endParaRPr sz="165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134475" y="4457700"/>
            <a:ext cx="23907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307"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真实竞赛日志＋参数—现象标注＋控制环模板＋校园测试入口</a:t>
            </a:r>
            <a:endParaRPr sz="135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slide-8-title"/>
          <p:cNvSpPr>
            <a:spLocks noGrp="1"/>
          </p:cNvSpPr>
          <p:nvPr/>
        </p:nvSpPr>
        <p:spPr>
          <a:xfrm>
            <a:off x="400050" y="323850"/>
            <a:ext cx="108394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36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精益画布②：用行为指标检验增长与商业闭环</a:t>
            </a:r>
            <a:endParaRPr sz="36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直接连接符 1"/>
          <p:cNvSpPr>
            <a:spLocks noGrp="1"/>
          </p:cNvSpPr>
          <p:nvPr/>
        </p:nvSpPr>
        <p:spPr>
          <a:xfrm>
            <a:off x="400050" y="1104900"/>
            <a:ext cx="11391900" cy="0"/>
          </a:xfrm>
          <a:prstGeom prst="line">
            <a:avLst/>
          </a:prstGeom>
          <a:noFill/>
          <a:ln w="9525">
            <a:solidFill>
              <a:srgbClr val="C8CDD4"/>
            </a:solidFill>
            <a:prstDash val="solid"/>
          </a:ln>
        </p:spPr>
      </p:sp>
      <p:sp>
        <p:nvSpPr>
          <p:cNvPr id="3" name="slide-8-source"/>
          <p:cNvSpPr>
            <a:spLocks noGrp="1"/>
          </p:cNvSpPr>
          <p:nvPr/>
        </p:nvSpPr>
        <p:spPr>
          <a:xfrm>
            <a:off x="400050" y="6381750"/>
            <a:ext cx="933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收入与增长均为待用真实行为数据检验的商业假设</a:t>
            </a:r>
            <a:endParaRPr sz="112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lide-8-number"/>
          <p:cNvSpPr>
            <a:spLocks noGrp="1"/>
          </p:cNvSpPr>
          <p:nvPr/>
        </p:nvSpPr>
        <p:spPr>
          <a:xfrm>
            <a:off x="11220450" y="63436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12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120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00050" y="12954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250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现阶段不虚报市场规模，先验证“能否触达、能否激活、能否留存”</a:t>
            </a:r>
            <a:endParaRPr sz="2250" b="1">
              <a:solidFill>
                <a:srgbClr val="1557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canvas-back-1"/>
          <p:cNvSpPr>
            <a:spLocks noGrp="1"/>
          </p:cNvSpPr>
          <p:nvPr/>
        </p:nvSpPr>
        <p:spPr>
          <a:xfrm>
            <a:off x="400050" y="2038350"/>
            <a:ext cx="5372100" cy="161925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28650" y="224790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渠道</a:t>
            </a:r>
            <a:endParaRPr sz="187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209800" y="2228850"/>
            <a:ext cx="32956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4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B站：调参案例与故障诊断教程</a:t>
            </a:r>
            <a:endParaRPr sz="142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buNone/>
              <a:defRPr sz="14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GitHub：开源基础版、Issue与日志样本</a:t>
            </a:r>
            <a:endParaRPr sz="142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buNone/>
              <a:defRPr sz="14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竞赛QQ群 / 微信群、教师与同学推荐</a:t>
            </a:r>
            <a:endParaRPr sz="142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canvas-back-2"/>
          <p:cNvSpPr>
            <a:spLocks noGrp="1"/>
          </p:cNvSpPr>
          <p:nvPr/>
        </p:nvSpPr>
        <p:spPr>
          <a:xfrm>
            <a:off x="6000750" y="2038350"/>
            <a:ext cx="5791200" cy="161925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229350" y="224790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关键指标</a:t>
            </a:r>
            <a:endParaRPr sz="187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810500" y="2228850"/>
            <a:ext cx="37147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4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访问→下载→完成首次诊断的激活率</a:t>
            </a:r>
            <a:endParaRPr sz="142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buNone/>
              <a:defRPr sz="14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任务时间、解释正确率、误报率、安全事件</a:t>
            </a:r>
            <a:endParaRPr sz="142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buNone/>
              <a:defRPr sz="14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7日留存、重复使用和报告生成率</a:t>
            </a:r>
            <a:endParaRPr sz="142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canvas-back-3"/>
          <p:cNvSpPr>
            <a:spLocks noGrp="1"/>
          </p:cNvSpPr>
          <p:nvPr/>
        </p:nvSpPr>
        <p:spPr>
          <a:xfrm>
            <a:off x="400050" y="3905250"/>
            <a:ext cx="5372100" cy="161925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28650" y="411480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成本结构</a:t>
            </a:r>
            <a:endParaRPr sz="187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209800" y="4095750"/>
            <a:ext cx="32956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829"/>
          </a:bodyPr>
          <a:lstStyle/>
          <a:p>
            <a:pPr algn="l">
              <a:lnSpc>
                <a:spcPct val="116000"/>
              </a:lnSpc>
              <a:buNone/>
              <a:defRPr sz="14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固定：研发、界面、测试设备与维护</a:t>
            </a:r>
            <a:endParaRPr sz="142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buNone/>
              <a:defRPr sz="14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可变：模型API、服务器、存储和用户支持</a:t>
            </a:r>
            <a:endParaRPr sz="142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buNone/>
              <a:defRPr sz="14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降本：用户自带Key、离线规则、开源组件</a:t>
            </a:r>
            <a:endParaRPr sz="142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canvas-back-4"/>
          <p:cNvSpPr>
            <a:spLocks noGrp="1"/>
          </p:cNvSpPr>
          <p:nvPr/>
        </p:nvSpPr>
        <p:spPr>
          <a:xfrm>
            <a:off x="6000750" y="3905250"/>
            <a:ext cx="5791200" cy="1619250"/>
          </a:xfrm>
          <a:prstGeom prst="rect">
            <a:avLst/>
          </a:prstGeom>
          <a:solidFill>
            <a:srgbClr val="EAF6FC"/>
          </a:solidFill>
          <a:ln w="9525">
            <a:solidFill>
              <a:srgbClr val="2F80ED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229350" y="411480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收入来源</a:t>
            </a:r>
            <a:endParaRPr sz="1875" b="1">
              <a:solidFill>
                <a:srgbClr val="1557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810500" y="4095750"/>
            <a:ext cx="37147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4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基础波形与收发免费</a:t>
            </a:r>
            <a:endParaRPr sz="142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buNone/>
              <a:defRPr sz="14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个人专业版：AI诊断、模板与报告</a:t>
            </a:r>
            <a:endParaRPr sz="142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buNone/>
              <a:defRPr sz="14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团队/实验室：协作、知识库与私有化部署</a:t>
            </a:r>
            <a:endParaRPr sz="142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00050" y="584835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逻辑链</a:t>
            </a:r>
            <a:endParaRPr sz="165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428750" y="5829300"/>
            <a:ext cx="10363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痛点→AI解释与安全建议　｜　早期用户→竞赛社群与B站　｜　付费功能→覆盖模型与维护成本</a:t>
            </a:r>
            <a:endParaRPr sz="1500" b="1">
              <a:solidFill>
                <a:srgbClr val="1557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3" name="slide-9-title"/>
          <p:cNvSpPr>
            <a:spLocks noGrp="1"/>
          </p:cNvSpPr>
          <p:nvPr/>
        </p:nvSpPr>
        <p:spPr>
          <a:xfrm>
            <a:off x="400050" y="323850"/>
            <a:ext cx="108394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36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产品把现有调试步骤整合成一个可追溯闭环</a:t>
            </a:r>
            <a:endParaRPr sz="36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直接连接符 1"/>
          <p:cNvSpPr>
            <a:spLocks noGrp="1"/>
          </p:cNvSpPr>
          <p:nvPr/>
        </p:nvSpPr>
        <p:spPr>
          <a:xfrm>
            <a:off x="400050" y="1104900"/>
            <a:ext cx="11391900" cy="0"/>
          </a:xfrm>
          <a:prstGeom prst="line">
            <a:avLst/>
          </a:prstGeom>
          <a:noFill/>
          <a:ln w="9525">
            <a:solidFill>
              <a:srgbClr val="C8CDD4"/>
            </a:solidFill>
            <a:prstDash val="solid"/>
          </a:ln>
        </p:spPr>
      </p:sp>
      <p:sp>
        <p:nvSpPr>
          <p:cNvPr id="3" name="slide-9-source"/>
          <p:cNvSpPr>
            <a:spLocks noGrp="1"/>
          </p:cNvSpPr>
          <p:nvPr/>
        </p:nvSpPr>
        <p:spPr>
          <a:xfrm>
            <a:off x="400050" y="6381750"/>
            <a:ext cx="933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功能依据：《创意提案》与用户调研；MVP坚持‘AI建议、人工确认、全程留痕’</a:t>
            </a:r>
            <a:endParaRPr sz="112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lide-9-number"/>
          <p:cNvSpPr>
            <a:spLocks noGrp="1"/>
          </p:cNvSpPr>
          <p:nvPr/>
        </p:nvSpPr>
        <p:spPr>
          <a:xfrm>
            <a:off x="11220450" y="63436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12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120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00050" y="1295400"/>
            <a:ext cx="1066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400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输入一段串口流，输出的不只是答案，而是证据、建议和可回放的调试过程</a:t>
            </a:r>
            <a:endParaRPr sz="2400" b="1">
              <a:solidFill>
                <a:srgbClr val="1557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右箭头 5"/>
          <p:cNvSpPr>
            <a:spLocks noGrp="1"/>
          </p:cNvSpPr>
          <p:nvPr/>
        </p:nvSpPr>
        <p:spPr>
          <a:xfrm>
            <a:off x="2152650" y="2590800"/>
            <a:ext cx="495300" cy="323850"/>
          </a:xfrm>
          <a:prstGeom prst="rightArrow">
            <a:avLst/>
          </a:prstGeom>
          <a:solidFill>
            <a:srgbClr val="6DCBF4"/>
          </a:solidFill>
          <a:ln w="9525">
            <a:solidFill>
              <a:srgbClr val="6DCBF4"/>
            </a:solidFill>
            <a:prstDash val="solid"/>
          </a:ln>
        </p:spPr>
      </p:sp>
      <p:sp>
        <p:nvSpPr>
          <p:cNvPr id="7" name="右箭头 6"/>
          <p:cNvSpPr>
            <a:spLocks noGrp="1"/>
          </p:cNvSpPr>
          <p:nvPr/>
        </p:nvSpPr>
        <p:spPr>
          <a:xfrm>
            <a:off x="4476750" y="2590800"/>
            <a:ext cx="495300" cy="323850"/>
          </a:xfrm>
          <a:prstGeom prst="rightArrow">
            <a:avLst/>
          </a:prstGeom>
          <a:solidFill>
            <a:srgbClr val="6DCBF4"/>
          </a:solidFill>
          <a:ln w="9525">
            <a:solidFill>
              <a:srgbClr val="6DCBF4"/>
            </a:solidFill>
            <a:prstDash val="solid"/>
          </a:ln>
        </p:spPr>
      </p:sp>
      <p:sp>
        <p:nvSpPr>
          <p:cNvPr id="8" name="右箭头 7"/>
          <p:cNvSpPr>
            <a:spLocks noGrp="1"/>
          </p:cNvSpPr>
          <p:nvPr/>
        </p:nvSpPr>
        <p:spPr>
          <a:xfrm>
            <a:off x="6800850" y="2590800"/>
            <a:ext cx="495300" cy="323850"/>
          </a:xfrm>
          <a:prstGeom prst="rightArrow">
            <a:avLst/>
          </a:prstGeom>
          <a:solidFill>
            <a:srgbClr val="6DCBF4"/>
          </a:solidFill>
          <a:ln w="9525">
            <a:solidFill>
              <a:srgbClr val="6DCBF4"/>
            </a:solidFill>
            <a:prstDash val="solid"/>
          </a:ln>
        </p:spPr>
      </p:sp>
      <p:sp>
        <p:nvSpPr>
          <p:cNvPr id="9" name="右箭头 8"/>
          <p:cNvSpPr>
            <a:spLocks noGrp="1"/>
          </p:cNvSpPr>
          <p:nvPr/>
        </p:nvSpPr>
        <p:spPr>
          <a:xfrm>
            <a:off x="9124950" y="2590800"/>
            <a:ext cx="495300" cy="323850"/>
          </a:xfrm>
          <a:prstGeom prst="rightArrow">
            <a:avLst/>
          </a:prstGeom>
          <a:solidFill>
            <a:srgbClr val="6DCBF4"/>
          </a:solidFill>
          <a:ln w="9525">
            <a:solidFill>
              <a:srgbClr val="6DCBF4"/>
            </a:solidFill>
            <a:prstDash val="solid"/>
          </a:ln>
        </p:spPr>
      </p:sp>
      <p:sp>
        <p:nvSpPr>
          <p:cNvPr id="10" name="solution-node-1"/>
          <p:cNvSpPr>
            <a:spLocks noGrp="1"/>
          </p:cNvSpPr>
          <p:nvPr/>
        </p:nvSpPr>
        <p:spPr>
          <a:xfrm>
            <a:off x="400050" y="2133600"/>
            <a:ext cx="1752600" cy="1504950"/>
          </a:xfrm>
          <a:prstGeom prst="rect">
            <a:avLst/>
          </a:prstGeom>
          <a:solidFill>
            <a:srgbClr val="F1F3F5"/>
          </a:solidFill>
          <a:ln w="9525">
            <a:solidFill>
              <a:srgbClr val="C8CDD4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552450" y="230505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350" b="1">
              <a:solidFill>
                <a:srgbClr val="2F80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52450" y="2667000"/>
            <a:ext cx="1447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72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数据接入</a:t>
            </a:r>
            <a:endParaRPr sz="172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52450" y="3105150"/>
            <a:ext cx="1447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4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串口实时流</a:t>
            </a:r>
            <a:endParaRPr sz="142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14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历史日志回放</a:t>
            </a:r>
            <a:endParaRPr sz="142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solution-node-2"/>
          <p:cNvSpPr>
            <a:spLocks noGrp="1"/>
          </p:cNvSpPr>
          <p:nvPr/>
        </p:nvSpPr>
        <p:spPr>
          <a:xfrm>
            <a:off x="2724150" y="2133600"/>
            <a:ext cx="1752600" cy="1504950"/>
          </a:xfrm>
          <a:prstGeom prst="rect">
            <a:avLst/>
          </a:prstGeom>
          <a:solidFill>
            <a:srgbClr val="F1F3F5"/>
          </a:solidFill>
          <a:ln w="9525">
            <a:solidFill>
              <a:srgbClr val="C8CDD4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2876550" y="230505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350" b="1">
              <a:solidFill>
                <a:srgbClr val="2F80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876550" y="2667000"/>
            <a:ext cx="1447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72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波形与检测</a:t>
            </a:r>
            <a:endParaRPr sz="172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2876550" y="3105150"/>
            <a:ext cx="1447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4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多通道可视化</a:t>
            </a:r>
            <a:endParaRPr sz="142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14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规则筛查异常</a:t>
            </a:r>
            <a:endParaRPr sz="142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olution-node-3"/>
          <p:cNvSpPr>
            <a:spLocks noGrp="1"/>
          </p:cNvSpPr>
          <p:nvPr/>
        </p:nvSpPr>
        <p:spPr>
          <a:xfrm>
            <a:off x="5048250" y="2133600"/>
            <a:ext cx="1752600" cy="1504950"/>
          </a:xfrm>
          <a:prstGeom prst="rect">
            <a:avLst/>
          </a:prstGeom>
          <a:solidFill>
            <a:srgbClr val="EAF6FC"/>
          </a:solidFill>
          <a:ln w="9525">
            <a:solidFill>
              <a:srgbClr val="2F80ED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5200650" y="230505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350" b="1">
              <a:solidFill>
                <a:srgbClr val="2F80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200650" y="2667000"/>
            <a:ext cx="1447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72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AI诊断</a:t>
            </a:r>
            <a:endParaRPr sz="172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200650" y="3105150"/>
            <a:ext cx="1447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4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解释异常原因</a:t>
            </a:r>
            <a:endParaRPr sz="142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14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关联原始时间戳</a:t>
            </a:r>
            <a:endParaRPr sz="142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solution-node-4"/>
          <p:cNvSpPr>
            <a:spLocks noGrp="1"/>
          </p:cNvSpPr>
          <p:nvPr/>
        </p:nvSpPr>
        <p:spPr>
          <a:xfrm>
            <a:off x="7372350" y="2133600"/>
            <a:ext cx="1752600" cy="1504950"/>
          </a:xfrm>
          <a:prstGeom prst="rect">
            <a:avLst/>
          </a:prstGeom>
          <a:solidFill>
            <a:srgbClr val="F1F3F5"/>
          </a:solidFill>
          <a:ln w="9525">
            <a:solidFill>
              <a:srgbClr val="C8CDD4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7524750" y="230505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350" b="1">
              <a:solidFill>
                <a:srgbClr val="2F80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524750" y="2667000"/>
            <a:ext cx="1447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72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建议与确认</a:t>
            </a:r>
            <a:endParaRPr sz="172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524750" y="3105150"/>
            <a:ext cx="1447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4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给出调参方向</a:t>
            </a:r>
            <a:endParaRPr sz="142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14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人工确认再执行</a:t>
            </a:r>
            <a:endParaRPr sz="142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solution-node-5"/>
          <p:cNvSpPr>
            <a:spLocks noGrp="1"/>
          </p:cNvSpPr>
          <p:nvPr/>
        </p:nvSpPr>
        <p:spPr>
          <a:xfrm>
            <a:off x="9696450" y="2133600"/>
            <a:ext cx="1752600" cy="1504950"/>
          </a:xfrm>
          <a:prstGeom prst="rect">
            <a:avLst/>
          </a:prstGeom>
          <a:solidFill>
            <a:srgbClr val="F1F3F5"/>
          </a:solidFill>
          <a:ln w="9525">
            <a:solidFill>
              <a:srgbClr val="C8CDD4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9848850" y="230505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350" b="1">
              <a:solidFill>
                <a:srgbClr val="2F80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9848850" y="2667000"/>
            <a:ext cx="1447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72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报告与复盘</a:t>
            </a:r>
            <a:endParaRPr sz="172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9848850" y="3105150"/>
            <a:ext cx="1447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4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参数—效果关联</a:t>
            </a:r>
            <a:endParaRPr sz="142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14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自动生成记录</a:t>
            </a:r>
            <a:endParaRPr sz="142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mvp-scope-panel"/>
          <p:cNvSpPr>
            <a:spLocks noGrp="1"/>
          </p:cNvSpPr>
          <p:nvPr/>
        </p:nvSpPr>
        <p:spPr>
          <a:xfrm>
            <a:off x="400050" y="4095750"/>
            <a:ext cx="7334250" cy="154305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647700" y="4324350"/>
            <a:ext cx="104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MVP首版</a:t>
            </a:r>
            <a:endParaRPr sz="1800" b="1">
              <a:solidFill>
                <a:srgbClr val="1557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809750" y="43243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598"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日志导入 / 串口接入</a:t>
            </a:r>
            <a:endParaRPr sz="157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3714750" y="4324350"/>
            <a:ext cx="104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异常定位</a:t>
            </a:r>
            <a:endParaRPr sz="157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4953000" y="4324350"/>
            <a:ext cx="95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AI解释</a:t>
            </a:r>
            <a:endParaRPr sz="157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076950" y="4324350"/>
            <a:ext cx="114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报告回放</a:t>
            </a:r>
            <a:endParaRPr sz="157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直接连接符 35"/>
          <p:cNvSpPr>
            <a:spLocks noGrp="1"/>
          </p:cNvSpPr>
          <p:nvPr/>
        </p:nvSpPr>
        <p:spPr>
          <a:xfrm>
            <a:off x="1809750" y="4791075"/>
            <a:ext cx="5257800" cy="0"/>
          </a:xfrm>
          <a:prstGeom prst="line">
            <a:avLst/>
          </a:prstGeom>
          <a:noFill/>
          <a:ln w="9525">
            <a:solidFill>
              <a:srgbClr val="C8CDD4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1809750" y="4953000"/>
            <a:ext cx="5391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286"/>
          </a:bodyPr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先用离线日志完成可复现验证，再接入真实串口；首版不直接改写硬件参数。</a:t>
            </a:r>
            <a:endParaRPr sz="150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future-scope-panel"/>
          <p:cNvSpPr>
            <a:spLocks noGrp="1"/>
          </p:cNvSpPr>
          <p:nvPr/>
        </p:nvSpPr>
        <p:spPr>
          <a:xfrm>
            <a:off x="8001000" y="4095750"/>
            <a:ext cx="3790950" cy="1543050"/>
          </a:xfrm>
          <a:prstGeom prst="rect">
            <a:avLst/>
          </a:prstGeom>
          <a:solidFill>
            <a:srgbClr val="EAF6FC"/>
          </a:solidFill>
          <a:ln w="0">
            <a:noFill/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8248650" y="4324350"/>
            <a:ext cx="114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后续扩展</a:t>
            </a:r>
            <a:endParaRPr sz="1800" b="1">
              <a:solidFill>
                <a:srgbClr val="1557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8248650" y="4819650"/>
            <a:ext cx="133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协议智能识别</a:t>
            </a:r>
            <a:endParaRPr sz="15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9715500" y="4762500"/>
            <a:ext cx="1657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5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PID仿真 /</a:t>
            </a:r>
            <a:endParaRPr sz="15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2000"/>
              </a:lnSpc>
              <a:buNone/>
              <a:defRPr sz="15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限幅沙箱</a:t>
            </a:r>
            <a:endParaRPr sz="15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8248650" y="5238750"/>
            <a:ext cx="3086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验证安全边界后再逐步开放自动化。</a:t>
            </a:r>
            <a:endParaRPr sz="135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-24765" y="-27305"/>
            <a:ext cx="12235815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2" name="slide-10-title"/>
          <p:cNvSpPr>
            <a:spLocks noGrp="1"/>
          </p:cNvSpPr>
          <p:nvPr/>
        </p:nvSpPr>
        <p:spPr>
          <a:xfrm>
            <a:off x="400050" y="323850"/>
            <a:ext cx="108394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36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研究思路与框架</a:t>
            </a:r>
            <a:endParaRPr sz="36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直接连接符 1"/>
          <p:cNvSpPr>
            <a:spLocks noGrp="1"/>
          </p:cNvSpPr>
          <p:nvPr/>
        </p:nvSpPr>
        <p:spPr>
          <a:xfrm>
            <a:off x="400050" y="1104900"/>
            <a:ext cx="11391900" cy="0"/>
          </a:xfrm>
          <a:prstGeom prst="line">
            <a:avLst/>
          </a:prstGeom>
          <a:noFill/>
          <a:ln w="9525">
            <a:solidFill>
              <a:srgbClr val="C8CDD4"/>
            </a:solidFill>
            <a:prstDash val="solid"/>
          </a:ln>
        </p:spPr>
      </p:sp>
      <p:sp>
        <p:nvSpPr>
          <p:cNvPr id="3" name="slide-10-source"/>
          <p:cNvSpPr>
            <a:spLocks noGrp="1"/>
          </p:cNvSpPr>
          <p:nvPr/>
        </p:nvSpPr>
        <p:spPr>
          <a:xfrm>
            <a:off x="400050" y="6381750"/>
            <a:ext cx="933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框架来源：《选题设计报告》《选题验证报告》</a:t>
            </a:r>
            <a:endParaRPr sz="112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lide-10-number"/>
          <p:cNvSpPr>
            <a:spLocks noGrp="1"/>
          </p:cNvSpPr>
          <p:nvPr/>
        </p:nvSpPr>
        <p:spPr>
          <a:xfrm>
            <a:off x="11220450" y="63436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12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20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00050" y="1295400"/>
            <a:ext cx="10763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550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用“数据—诊断—建议—确认—复盘”闭环组织系统与验证</a:t>
            </a:r>
            <a:endParaRPr sz="2550" b="1">
              <a:solidFill>
                <a:srgbClr val="1557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右箭头 5"/>
          <p:cNvSpPr>
            <a:spLocks noGrp="1"/>
          </p:cNvSpPr>
          <p:nvPr/>
        </p:nvSpPr>
        <p:spPr>
          <a:xfrm>
            <a:off x="2114550" y="2381250"/>
            <a:ext cx="552450" cy="361950"/>
          </a:xfrm>
          <a:prstGeom prst="rightArrow">
            <a:avLst/>
          </a:prstGeom>
          <a:solidFill>
            <a:srgbClr val="6DCBF4"/>
          </a:solidFill>
          <a:ln w="9525">
            <a:solidFill>
              <a:srgbClr val="6DCBF4"/>
            </a:solidFill>
            <a:prstDash val="solid"/>
          </a:ln>
        </p:spPr>
      </p:sp>
      <p:sp>
        <p:nvSpPr>
          <p:cNvPr id="7" name="右箭头 6"/>
          <p:cNvSpPr>
            <a:spLocks noGrp="1"/>
          </p:cNvSpPr>
          <p:nvPr/>
        </p:nvSpPr>
        <p:spPr>
          <a:xfrm>
            <a:off x="4438650" y="2381250"/>
            <a:ext cx="552450" cy="361950"/>
          </a:xfrm>
          <a:prstGeom prst="rightArrow">
            <a:avLst/>
          </a:prstGeom>
          <a:solidFill>
            <a:srgbClr val="6DCBF4"/>
          </a:solidFill>
          <a:ln w="9525">
            <a:solidFill>
              <a:srgbClr val="6DCBF4"/>
            </a:solidFill>
            <a:prstDash val="solid"/>
          </a:ln>
        </p:spPr>
      </p:sp>
      <p:sp>
        <p:nvSpPr>
          <p:cNvPr id="8" name="右箭头 7"/>
          <p:cNvSpPr>
            <a:spLocks noGrp="1"/>
          </p:cNvSpPr>
          <p:nvPr/>
        </p:nvSpPr>
        <p:spPr>
          <a:xfrm>
            <a:off x="6762750" y="2381250"/>
            <a:ext cx="552450" cy="361950"/>
          </a:xfrm>
          <a:prstGeom prst="rightArrow">
            <a:avLst/>
          </a:prstGeom>
          <a:solidFill>
            <a:srgbClr val="6DCBF4"/>
          </a:solidFill>
          <a:ln w="9525">
            <a:solidFill>
              <a:srgbClr val="6DCBF4"/>
            </a:solidFill>
            <a:prstDash val="solid"/>
          </a:ln>
        </p:spPr>
      </p:sp>
      <p:sp>
        <p:nvSpPr>
          <p:cNvPr id="9" name="右箭头 8"/>
          <p:cNvSpPr>
            <a:spLocks noGrp="1"/>
          </p:cNvSpPr>
          <p:nvPr/>
        </p:nvSpPr>
        <p:spPr>
          <a:xfrm>
            <a:off x="9086850" y="2381250"/>
            <a:ext cx="552450" cy="361950"/>
          </a:xfrm>
          <a:prstGeom prst="rightArrow">
            <a:avLst/>
          </a:prstGeom>
          <a:solidFill>
            <a:srgbClr val="6DCBF4"/>
          </a:solidFill>
          <a:ln w="9525">
            <a:solidFill>
              <a:srgbClr val="6DCBF4"/>
            </a:solidFill>
            <a:prstDash val="solid"/>
          </a:ln>
        </p:spPr>
      </p:sp>
      <p:sp>
        <p:nvSpPr>
          <p:cNvPr id="10" name="framework-node-1"/>
          <p:cNvSpPr>
            <a:spLocks noGrp="1"/>
          </p:cNvSpPr>
          <p:nvPr/>
        </p:nvSpPr>
        <p:spPr>
          <a:xfrm>
            <a:off x="400050" y="2047875"/>
            <a:ext cx="1714500" cy="1219200"/>
          </a:xfrm>
          <a:prstGeom prst="rect">
            <a:avLst/>
          </a:prstGeom>
          <a:solidFill>
            <a:srgbClr val="F1F3F5"/>
          </a:solidFill>
          <a:ln w="9525">
            <a:solidFill>
              <a:srgbClr val="C8CDD4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552450" y="219075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350" b="1">
              <a:solidFill>
                <a:srgbClr val="2F80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52450" y="2514600"/>
            <a:ext cx="1409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数据接入</a:t>
            </a:r>
            <a:endParaRPr sz="18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52450" y="2886075"/>
            <a:ext cx="1409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3333"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串口实时流</a:t>
            </a:r>
            <a:endParaRPr sz="150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5000"/>
              </a:lnSpc>
              <a:buNone/>
              <a:defRPr sz="15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历史日志回放</a:t>
            </a:r>
            <a:endParaRPr sz="150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framework-node-2"/>
          <p:cNvSpPr>
            <a:spLocks noGrp="1"/>
          </p:cNvSpPr>
          <p:nvPr/>
        </p:nvSpPr>
        <p:spPr>
          <a:xfrm>
            <a:off x="2724150" y="2047875"/>
            <a:ext cx="1714500" cy="1219200"/>
          </a:xfrm>
          <a:prstGeom prst="rect">
            <a:avLst/>
          </a:prstGeom>
          <a:solidFill>
            <a:srgbClr val="F1F3F5"/>
          </a:solidFill>
          <a:ln w="9525">
            <a:solidFill>
              <a:srgbClr val="C8CDD4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2876550" y="219075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350" b="1">
              <a:solidFill>
                <a:srgbClr val="2F80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876550" y="2514600"/>
            <a:ext cx="1409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特征分析</a:t>
            </a:r>
            <a:endParaRPr sz="18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2876550" y="2886075"/>
            <a:ext cx="1409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3333"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规则筛选</a:t>
            </a:r>
            <a:endParaRPr sz="150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5000"/>
              </a:lnSpc>
              <a:buNone/>
              <a:defRPr sz="15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时序异常检测</a:t>
            </a:r>
            <a:endParaRPr sz="150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framework-node-3"/>
          <p:cNvSpPr>
            <a:spLocks noGrp="1"/>
          </p:cNvSpPr>
          <p:nvPr/>
        </p:nvSpPr>
        <p:spPr>
          <a:xfrm>
            <a:off x="5048250" y="2047875"/>
            <a:ext cx="1714500" cy="1219200"/>
          </a:xfrm>
          <a:prstGeom prst="rect">
            <a:avLst/>
          </a:prstGeom>
          <a:solidFill>
            <a:srgbClr val="EAF6FC"/>
          </a:solidFill>
          <a:ln w="9525">
            <a:solidFill>
              <a:srgbClr val="2F80ED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5200650" y="219075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350" b="1">
              <a:solidFill>
                <a:srgbClr val="2F80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200650" y="2514600"/>
            <a:ext cx="1409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AI诊断</a:t>
            </a:r>
            <a:endParaRPr sz="18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200650" y="2886075"/>
            <a:ext cx="1409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3333"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关联原始帧</a:t>
            </a:r>
            <a:endParaRPr sz="150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5000"/>
              </a:lnSpc>
              <a:buNone/>
              <a:defRPr sz="15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解释原因</a:t>
            </a:r>
            <a:endParaRPr sz="150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framework-node-4"/>
          <p:cNvSpPr>
            <a:spLocks noGrp="1"/>
          </p:cNvSpPr>
          <p:nvPr/>
        </p:nvSpPr>
        <p:spPr>
          <a:xfrm>
            <a:off x="7372350" y="2047875"/>
            <a:ext cx="1714500" cy="1219200"/>
          </a:xfrm>
          <a:prstGeom prst="rect">
            <a:avLst/>
          </a:prstGeom>
          <a:solidFill>
            <a:srgbClr val="F1F3F5"/>
          </a:solidFill>
          <a:ln w="9525">
            <a:solidFill>
              <a:srgbClr val="C8CDD4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7524750" y="219075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350" b="1">
              <a:solidFill>
                <a:srgbClr val="2F80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524750" y="2514600"/>
            <a:ext cx="1409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人工确认</a:t>
            </a:r>
            <a:endParaRPr sz="18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524750" y="2886075"/>
            <a:ext cx="1409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3333"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参数建议</a:t>
            </a:r>
            <a:endParaRPr sz="150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5000"/>
              </a:lnSpc>
              <a:buNone/>
              <a:defRPr sz="15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安全限幅</a:t>
            </a:r>
            <a:endParaRPr sz="150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framework-node-5"/>
          <p:cNvSpPr>
            <a:spLocks noGrp="1"/>
          </p:cNvSpPr>
          <p:nvPr/>
        </p:nvSpPr>
        <p:spPr>
          <a:xfrm>
            <a:off x="9696450" y="2047875"/>
            <a:ext cx="1714500" cy="1219200"/>
          </a:xfrm>
          <a:prstGeom prst="rect">
            <a:avLst/>
          </a:prstGeom>
          <a:solidFill>
            <a:srgbClr val="F1F3F5"/>
          </a:solidFill>
          <a:ln w="9525">
            <a:solidFill>
              <a:srgbClr val="C8CDD4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9848850" y="219075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350" b="1">
              <a:solidFill>
                <a:srgbClr val="2F80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9848850" y="2514600"/>
            <a:ext cx="1409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报告复盘</a:t>
            </a:r>
            <a:endParaRPr sz="18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9848850" y="2886075"/>
            <a:ext cx="1409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3333"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操作留痕</a:t>
            </a:r>
            <a:endParaRPr sz="150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5000"/>
              </a:lnSpc>
              <a:buNone/>
              <a:defRPr sz="15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结果可回放</a:t>
            </a:r>
            <a:endParaRPr sz="150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400050" y="3810000"/>
            <a:ext cx="171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9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验证路径</a:t>
            </a:r>
            <a:endParaRPr sz="195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400050" y="4381500"/>
            <a:ext cx="2333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需求证据</a:t>
            </a:r>
            <a:endParaRPr sz="172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400050" y="4857750"/>
            <a:ext cx="2333625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5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问卷 n=7</a:t>
            </a:r>
            <a:endParaRPr sz="157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5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识别高频痛点</a:t>
            </a:r>
            <a:endParaRPr sz="157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直接连接符 32"/>
          <p:cNvSpPr>
            <a:spLocks noGrp="1"/>
          </p:cNvSpPr>
          <p:nvPr/>
        </p:nvSpPr>
        <p:spPr>
          <a:xfrm>
            <a:off x="3028950" y="4476750"/>
            <a:ext cx="0" cy="1143000"/>
          </a:xfrm>
          <a:prstGeom prst="line">
            <a:avLst/>
          </a:prstGeom>
          <a:noFill/>
          <a:ln w="9525">
            <a:solidFill>
              <a:srgbClr val="C8CDD4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3248025" y="4381500"/>
            <a:ext cx="2333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原型实现</a:t>
            </a:r>
            <a:endParaRPr sz="172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3248025" y="4857750"/>
            <a:ext cx="2333625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5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日志回放 + AI诊断</a:t>
            </a:r>
            <a:endParaRPr sz="157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5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禁用自动写设备</a:t>
            </a:r>
            <a:endParaRPr sz="157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直接连接符 35"/>
          <p:cNvSpPr>
            <a:spLocks noGrp="1"/>
          </p:cNvSpPr>
          <p:nvPr/>
        </p:nvSpPr>
        <p:spPr>
          <a:xfrm>
            <a:off x="5876925" y="4476750"/>
            <a:ext cx="0" cy="1143000"/>
          </a:xfrm>
          <a:prstGeom prst="line">
            <a:avLst/>
          </a:prstGeom>
          <a:noFill/>
          <a:ln w="9525">
            <a:solidFill>
              <a:srgbClr val="C8CDD4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6096000" y="4381500"/>
            <a:ext cx="2333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对照测试</a:t>
            </a:r>
            <a:endParaRPr sz="1725" b="1">
              <a:solidFill>
                <a:srgbClr val="2F80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6096000" y="4857750"/>
            <a:ext cx="2333625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5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传统工具 vs. MVP</a:t>
            </a:r>
            <a:endParaRPr sz="157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5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时间、准确率、信任度</a:t>
            </a:r>
            <a:endParaRPr sz="157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直接连接符 38"/>
          <p:cNvSpPr>
            <a:spLocks noGrp="1"/>
          </p:cNvSpPr>
          <p:nvPr/>
        </p:nvSpPr>
        <p:spPr>
          <a:xfrm>
            <a:off x="8724900" y="4476750"/>
            <a:ext cx="0" cy="1143000"/>
          </a:xfrm>
          <a:prstGeom prst="line">
            <a:avLst/>
          </a:prstGeom>
          <a:noFill/>
          <a:ln w="9525">
            <a:solidFill>
              <a:srgbClr val="C8CDD4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8943975" y="4381500"/>
            <a:ext cx="2333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迭代决策</a:t>
            </a:r>
            <a:endParaRPr sz="172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8943975" y="4857750"/>
            <a:ext cx="2333625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5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保留有效功能</a:t>
            </a:r>
            <a:endParaRPr sz="157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5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扩展协议与场景</a:t>
            </a:r>
            <a:endParaRPr sz="157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" name="slide-11-title"/>
          <p:cNvSpPr>
            <a:spLocks noGrp="1"/>
          </p:cNvSpPr>
          <p:nvPr/>
        </p:nvSpPr>
        <p:spPr>
          <a:xfrm>
            <a:off x="400050" y="323850"/>
            <a:ext cx="108394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36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三层技术架构支撑实时、可扩展与安全</a:t>
            </a:r>
            <a:endParaRPr sz="36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直接连接符 1"/>
          <p:cNvSpPr>
            <a:spLocks noGrp="1"/>
          </p:cNvSpPr>
          <p:nvPr/>
        </p:nvSpPr>
        <p:spPr>
          <a:xfrm>
            <a:off x="400050" y="1104900"/>
            <a:ext cx="11391900" cy="0"/>
          </a:xfrm>
          <a:prstGeom prst="line">
            <a:avLst/>
          </a:prstGeom>
          <a:noFill/>
          <a:ln w="9525">
            <a:solidFill>
              <a:srgbClr val="C8CDD4"/>
            </a:solidFill>
            <a:prstDash val="solid"/>
          </a:ln>
        </p:spPr>
      </p:sp>
      <p:sp>
        <p:nvSpPr>
          <p:cNvPr id="3" name="slide-11-source"/>
          <p:cNvSpPr>
            <a:spLocks noGrp="1"/>
          </p:cNvSpPr>
          <p:nvPr/>
        </p:nvSpPr>
        <p:spPr>
          <a:xfrm>
            <a:off x="400050" y="6381750"/>
            <a:ext cx="933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技术方案来源：《创意提案》；首版采用成熟桌面端与串口组件，AI接口保持可替换</a:t>
            </a:r>
            <a:endParaRPr sz="112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lide-11-number"/>
          <p:cNvSpPr>
            <a:spLocks noGrp="1"/>
          </p:cNvSpPr>
          <p:nvPr/>
        </p:nvSpPr>
        <p:spPr>
          <a:xfrm>
            <a:off x="11220450" y="63436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12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120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00050" y="1295400"/>
            <a:ext cx="11049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325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难点不在‘调用一次大模型’，而在持续接入上下文、保留证据并控制执行边界</a:t>
            </a:r>
            <a:endParaRPr sz="2325" b="1">
              <a:solidFill>
                <a:srgbClr val="1557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ch-layer-1"/>
          <p:cNvSpPr>
            <a:spLocks noGrp="1"/>
          </p:cNvSpPr>
          <p:nvPr/>
        </p:nvSpPr>
        <p:spPr>
          <a:xfrm>
            <a:off x="400050" y="2038350"/>
            <a:ext cx="7239000" cy="876300"/>
          </a:xfrm>
          <a:prstGeom prst="rect">
            <a:avLst/>
          </a:prstGeom>
          <a:solidFill>
            <a:srgbClr val="EAF6FC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590550" y="2209800"/>
            <a:ext cx="495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350" b="1">
              <a:solidFill>
                <a:srgbClr val="2F80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62050" y="2171700"/>
            <a:ext cx="2000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前端 UI 层</a:t>
            </a:r>
            <a:endParaRPr sz="18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257550" y="2171700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Electron + Vue 3 + Element Plus + ECharts</a:t>
            </a:r>
            <a:endParaRPr sz="1425" b="1">
              <a:solidFill>
                <a:srgbClr val="1557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162050" y="2571750"/>
            <a:ext cx="619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串口配置｜多通道波形｜自然语言交互｜诊断报告</a:t>
            </a:r>
            <a:endParaRPr sz="135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ch-layer-2"/>
          <p:cNvSpPr>
            <a:spLocks noGrp="1"/>
          </p:cNvSpPr>
          <p:nvPr/>
        </p:nvSpPr>
        <p:spPr>
          <a:xfrm>
            <a:off x="400050" y="3124200"/>
            <a:ext cx="7239000" cy="87630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590550" y="3295650"/>
            <a:ext cx="495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350" b="1">
              <a:solidFill>
                <a:srgbClr val="2F80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162050" y="3257550"/>
            <a:ext cx="2000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主进程 / 数据层</a:t>
            </a:r>
            <a:endParaRPr sz="18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257550" y="3257550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450"/>
          </a:bodyPr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Node.js serialport + 数据缓冲 + 规则 / 时序分析</a:t>
            </a:r>
            <a:endParaRPr sz="1425" b="1">
              <a:solidFill>
                <a:srgbClr val="1557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162050" y="3657600"/>
            <a:ext cx="619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实时收发｜窗口切片｜异常候选｜历史日志回放｜审计留痕</a:t>
            </a:r>
            <a:endParaRPr sz="135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ch-layer-3"/>
          <p:cNvSpPr>
            <a:spLocks noGrp="1"/>
          </p:cNvSpPr>
          <p:nvPr/>
        </p:nvSpPr>
        <p:spPr>
          <a:xfrm>
            <a:off x="400050" y="4210050"/>
            <a:ext cx="72390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4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590550" y="4381500"/>
            <a:ext cx="495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350" b="1">
              <a:solidFill>
                <a:srgbClr val="2F80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162050" y="4343400"/>
            <a:ext cx="2000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能力层</a:t>
            </a:r>
            <a:endParaRPr sz="18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257550" y="4343400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OpenAI兼容API / 可替换本地模型</a:t>
            </a:r>
            <a:endParaRPr sz="1425" b="1">
              <a:solidFill>
                <a:srgbClr val="1557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162050" y="4743450"/>
            <a:ext cx="619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结构化提示词｜证据引用｜参数建议｜风险检查｜报告生成</a:t>
            </a:r>
            <a:endParaRPr sz="135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feasibility-panel"/>
          <p:cNvSpPr>
            <a:spLocks noGrp="1"/>
          </p:cNvSpPr>
          <p:nvPr/>
        </p:nvSpPr>
        <p:spPr>
          <a:xfrm>
            <a:off x="7981950" y="2038350"/>
            <a:ext cx="3810000" cy="304800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8248650" y="2286000"/>
            <a:ext cx="1905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可行性判断</a:t>
            </a:r>
            <a:endParaRPr sz="202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椭圆 22"/>
          <p:cNvSpPr>
            <a:spLocks noGrp="1"/>
          </p:cNvSpPr>
          <p:nvPr/>
        </p:nvSpPr>
        <p:spPr>
          <a:xfrm>
            <a:off x="8248650" y="2838450"/>
            <a:ext cx="171450" cy="171450"/>
          </a:xfrm>
          <a:prstGeom prst="ellipse">
            <a:avLst/>
          </a:prstGeom>
          <a:solidFill>
            <a:srgbClr val="2F80ED"/>
          </a:solidFill>
          <a:ln w="9525">
            <a:solidFill>
              <a:srgbClr val="2F80ED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8534400" y="2800350"/>
            <a:ext cx="1028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成熟组件</a:t>
            </a:r>
            <a:endParaRPr sz="15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9601200" y="2800350"/>
            <a:ext cx="1943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039"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串口通信、桌面端框架与图表均有成熟生态</a:t>
            </a:r>
            <a:endParaRPr sz="127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椭圆 25"/>
          <p:cNvSpPr>
            <a:spLocks noGrp="1"/>
          </p:cNvSpPr>
          <p:nvPr/>
        </p:nvSpPr>
        <p:spPr>
          <a:xfrm>
            <a:off x="8248650" y="3390900"/>
            <a:ext cx="171450" cy="171450"/>
          </a:xfrm>
          <a:prstGeom prst="ellipse">
            <a:avLst/>
          </a:prstGeom>
          <a:solidFill>
            <a:srgbClr val="2F80ED"/>
          </a:solidFill>
          <a:ln w="9525">
            <a:solidFill>
              <a:srgbClr val="2F80ED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8534400" y="3352800"/>
            <a:ext cx="1028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低成本验证</a:t>
            </a:r>
            <a:endParaRPr sz="15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9601200" y="3352800"/>
            <a:ext cx="1943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039"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使用历史日志即可反复测试诊断质量</a:t>
            </a:r>
            <a:endParaRPr sz="127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椭圆 28"/>
          <p:cNvSpPr>
            <a:spLocks noGrp="1"/>
          </p:cNvSpPr>
          <p:nvPr/>
        </p:nvSpPr>
        <p:spPr>
          <a:xfrm>
            <a:off x="8248650" y="3943350"/>
            <a:ext cx="171450" cy="171450"/>
          </a:xfrm>
          <a:prstGeom prst="ellipse">
            <a:avLst/>
          </a:prstGeom>
          <a:solidFill>
            <a:srgbClr val="2F80ED"/>
          </a:solidFill>
          <a:ln w="9525">
            <a:solidFill>
              <a:srgbClr val="2F80ED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8534400" y="3905250"/>
            <a:ext cx="1028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接口可替换</a:t>
            </a:r>
            <a:endParaRPr sz="15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9601200" y="3905250"/>
            <a:ext cx="1943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039"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云端模型、本地模型与规则路径可以解耦</a:t>
            </a:r>
            <a:endParaRPr sz="127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椭圆 31"/>
          <p:cNvSpPr>
            <a:spLocks noGrp="1"/>
          </p:cNvSpPr>
          <p:nvPr/>
        </p:nvSpPr>
        <p:spPr>
          <a:xfrm>
            <a:off x="8248650" y="4495800"/>
            <a:ext cx="171450" cy="171450"/>
          </a:xfrm>
          <a:prstGeom prst="ellipse">
            <a:avLst/>
          </a:prstGeom>
          <a:solidFill>
            <a:srgbClr val="1557A0"/>
          </a:solidFill>
          <a:ln w="9525">
            <a:solidFill>
              <a:srgbClr val="1557A0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8534400" y="4457700"/>
            <a:ext cx="1028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安全可控</a:t>
            </a:r>
            <a:endParaRPr sz="15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9601200" y="4457700"/>
            <a:ext cx="1943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039"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建议默认不下发，所有动作保留确认与限幅</a:t>
            </a:r>
            <a:endParaRPr sz="127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7981950" y="542925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差异化定位</a:t>
            </a:r>
            <a:endParaRPr sz="18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9563100" y="5410200"/>
            <a:ext cx="2228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4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传统串口工具：收发 / 波形</a:t>
            </a:r>
            <a:endParaRPr sz="142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7981950" y="5810250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通用AI：复制 / 粘贴 / 上下文断裂</a:t>
            </a:r>
            <a:endParaRPr sz="142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7981950" y="6134100"/>
            <a:ext cx="381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智串AI：实时上下文 + 证据链 + 人工确认</a:t>
            </a:r>
            <a:endParaRPr sz="1575" b="1">
              <a:solidFill>
                <a:srgbClr val="1557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7" name="slide-12-title"/>
          <p:cNvSpPr>
            <a:spLocks noGrp="1"/>
          </p:cNvSpPr>
          <p:nvPr/>
        </p:nvSpPr>
        <p:spPr>
          <a:xfrm>
            <a:off x="400050" y="323850"/>
            <a:ext cx="108394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36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MVP用对照任务验证价值，而不是展示完整产品</a:t>
            </a:r>
            <a:endParaRPr sz="36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直接连接符 1"/>
          <p:cNvSpPr>
            <a:spLocks noGrp="1"/>
          </p:cNvSpPr>
          <p:nvPr/>
        </p:nvSpPr>
        <p:spPr>
          <a:xfrm>
            <a:off x="400050" y="1104900"/>
            <a:ext cx="11391900" cy="0"/>
          </a:xfrm>
          <a:prstGeom prst="line">
            <a:avLst/>
          </a:prstGeom>
          <a:noFill/>
          <a:ln w="9525">
            <a:solidFill>
              <a:srgbClr val="C8CDD4"/>
            </a:solidFill>
            <a:prstDash val="solid"/>
          </a:ln>
        </p:spPr>
      </p:sp>
      <p:sp>
        <p:nvSpPr>
          <p:cNvPr id="3" name="slide-12-source"/>
          <p:cNvSpPr>
            <a:spLocks noGrp="1"/>
          </p:cNvSpPr>
          <p:nvPr/>
        </p:nvSpPr>
        <p:spPr>
          <a:xfrm>
            <a:off x="400050" y="6381750"/>
            <a:ext cx="933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以下为首轮试用的目标阈值，并非已实现结果；验证后据实迭代</a:t>
            </a:r>
            <a:endParaRPr sz="112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lide-12-number"/>
          <p:cNvSpPr>
            <a:spLocks noGrp="1"/>
          </p:cNvSpPr>
          <p:nvPr/>
        </p:nvSpPr>
        <p:spPr>
          <a:xfrm>
            <a:off x="11220450" y="63436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12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120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00050" y="1295400"/>
            <a:ext cx="9525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475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先证明‘更快、更准、更可信’，再讨论更复杂的自动化</a:t>
            </a:r>
            <a:endParaRPr sz="2475" b="1">
              <a:solidFill>
                <a:srgbClr val="1557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mvp-test-panel"/>
          <p:cNvSpPr>
            <a:spLocks noGrp="1"/>
          </p:cNvSpPr>
          <p:nvPr/>
        </p:nvSpPr>
        <p:spPr>
          <a:xfrm>
            <a:off x="400050" y="2038350"/>
            <a:ext cx="4286250" cy="350520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66750" y="228600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首轮测试怎么做</a:t>
            </a:r>
            <a:endParaRPr sz="202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66750" y="281940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275" b="1">
              <a:solidFill>
                <a:srgbClr val="2F80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62050" y="28003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招募3—5名目标用户</a:t>
            </a:r>
            <a:endParaRPr sz="157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162050" y="3095625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556"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电控 / 硬件 / 算法成员，优先有真实调参经验</a:t>
            </a:r>
            <a:endParaRPr sz="127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66750" y="346710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275" b="1">
              <a:solidFill>
                <a:srgbClr val="2F80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162050" y="34480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准备3类典型故障</a:t>
            </a:r>
            <a:endParaRPr sz="157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162050" y="3743325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8721"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连接不稳、参数不合适、数据异常或协议解析错误</a:t>
            </a:r>
            <a:endParaRPr sz="127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66750" y="411480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275" b="1">
              <a:solidFill>
                <a:srgbClr val="2F80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162050" y="40957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进行AB对照任务</a:t>
            </a:r>
            <a:endParaRPr sz="157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162050" y="4391025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0691"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传统工具流程 vs. 智串AI MVP，使用同一份日志</a:t>
            </a:r>
            <a:endParaRPr sz="127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66750" y="476250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275" b="1">
              <a:solidFill>
                <a:srgbClr val="2F80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162050" y="47434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记录结果与反馈</a:t>
            </a:r>
            <a:endParaRPr sz="157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162050" y="5038725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0838"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完成时间、诊断正确性、误报、信任度与继续使用意愿</a:t>
            </a:r>
            <a:endParaRPr sz="127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143500" y="2038350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成功标准</a:t>
            </a:r>
            <a:endParaRPr sz="202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mvp-metric-1"/>
          <p:cNvSpPr>
            <a:spLocks noGrp="1"/>
          </p:cNvSpPr>
          <p:nvPr/>
        </p:nvSpPr>
        <p:spPr>
          <a:xfrm>
            <a:off x="5143500" y="2571750"/>
            <a:ext cx="304800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4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5314950" y="2705100"/>
            <a:ext cx="11239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≥30%</a:t>
            </a:r>
            <a:endParaRPr sz="2850" b="1">
              <a:solidFill>
                <a:srgbClr val="2F80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534150" y="2819400"/>
            <a:ext cx="1466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631"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任务完成时间下降</a:t>
            </a:r>
            <a:endParaRPr sz="157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mvp-metric-2"/>
          <p:cNvSpPr>
            <a:spLocks noGrp="1"/>
          </p:cNvSpPr>
          <p:nvPr/>
        </p:nvSpPr>
        <p:spPr>
          <a:xfrm>
            <a:off x="8439150" y="2571750"/>
            <a:ext cx="304800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4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8610600" y="2705100"/>
            <a:ext cx="11239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≥85%</a:t>
            </a:r>
            <a:endParaRPr sz="2850" b="1">
              <a:solidFill>
                <a:srgbClr val="2F80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829800" y="2819400"/>
            <a:ext cx="1466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关键解释正确率</a:t>
            </a:r>
            <a:endParaRPr sz="157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mvp-metric-3"/>
          <p:cNvSpPr>
            <a:spLocks noGrp="1"/>
          </p:cNvSpPr>
          <p:nvPr/>
        </p:nvSpPr>
        <p:spPr>
          <a:xfrm>
            <a:off x="5143500" y="3638550"/>
            <a:ext cx="304800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4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5314950" y="3771900"/>
            <a:ext cx="11239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≥80%</a:t>
            </a:r>
            <a:endParaRPr sz="2850" b="1">
              <a:solidFill>
                <a:srgbClr val="2F80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534150" y="3886200"/>
            <a:ext cx="1466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典型异常召回率</a:t>
            </a:r>
            <a:endParaRPr sz="157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mvp-metric-4"/>
          <p:cNvSpPr>
            <a:spLocks noGrp="1"/>
          </p:cNvSpPr>
          <p:nvPr/>
        </p:nvSpPr>
        <p:spPr>
          <a:xfrm>
            <a:off x="8439150" y="3638550"/>
            <a:ext cx="304800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4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8610600" y="3771900"/>
            <a:ext cx="11239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≤20%</a:t>
            </a:r>
            <a:endParaRPr sz="2850" b="1">
              <a:solidFill>
                <a:srgbClr val="2F80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829800" y="3886200"/>
            <a:ext cx="1466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异常误报率</a:t>
            </a:r>
            <a:endParaRPr sz="157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mvp-metric-5"/>
          <p:cNvSpPr>
            <a:spLocks noGrp="1"/>
          </p:cNvSpPr>
          <p:nvPr/>
        </p:nvSpPr>
        <p:spPr>
          <a:xfrm>
            <a:off x="5143500" y="4705350"/>
            <a:ext cx="6343650" cy="838200"/>
          </a:xfrm>
          <a:prstGeom prst="rect">
            <a:avLst/>
          </a:prstGeom>
          <a:solidFill>
            <a:srgbClr val="EAF6FC"/>
          </a:solidFill>
          <a:ln w="9525">
            <a:solidFill>
              <a:srgbClr val="2F80ED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5314950" y="4838700"/>
            <a:ext cx="11239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sz="2850" b="1">
              <a:solidFill>
                <a:srgbClr val="1557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534150" y="495300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严重错误指令</a:t>
            </a:r>
            <a:endParaRPr sz="157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5143500" y="5848350"/>
            <a:ext cx="6343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3333"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决策规则：若效率提升但诊断可信度不足，保留‘数据整理 + 报告’功能，暂缓参数建议。</a:t>
            </a:r>
            <a:endParaRPr sz="1500" b="1">
              <a:solidFill>
                <a:srgbClr val="1557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4" name="slide-13-title"/>
          <p:cNvSpPr>
            <a:spLocks noGrp="1"/>
          </p:cNvSpPr>
          <p:nvPr/>
        </p:nvSpPr>
        <p:spPr>
          <a:xfrm>
            <a:off x="400050" y="323850"/>
            <a:ext cx="108394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36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增长先看可触达漏斗，不虚报未经来源的市场规模</a:t>
            </a:r>
            <a:endParaRPr sz="36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直接连接符 1"/>
          <p:cNvSpPr>
            <a:spLocks noGrp="1"/>
          </p:cNvSpPr>
          <p:nvPr/>
        </p:nvSpPr>
        <p:spPr>
          <a:xfrm>
            <a:off x="400050" y="1104900"/>
            <a:ext cx="11391900" cy="0"/>
          </a:xfrm>
          <a:prstGeom prst="line">
            <a:avLst/>
          </a:prstGeom>
          <a:noFill/>
          <a:ln w="9525">
            <a:solidFill>
              <a:srgbClr val="C8CDD4"/>
            </a:solidFill>
            <a:prstDash val="solid"/>
          </a:ln>
        </p:spPr>
      </p:sp>
      <p:sp>
        <p:nvSpPr>
          <p:cNvPr id="3" name="slide-13-source"/>
          <p:cNvSpPr>
            <a:spLocks noGrp="1"/>
          </p:cNvSpPr>
          <p:nvPr/>
        </p:nvSpPr>
        <p:spPr>
          <a:xfrm>
            <a:off x="400050" y="6381750"/>
            <a:ext cx="933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下列数字均为首轮渠道实验目标，不是已实现结果</a:t>
            </a:r>
            <a:endParaRPr sz="112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lide-13-number"/>
          <p:cNvSpPr>
            <a:spLocks noGrp="1"/>
          </p:cNvSpPr>
          <p:nvPr/>
        </p:nvSpPr>
        <p:spPr>
          <a:xfrm>
            <a:off x="11220450" y="63436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12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120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00050" y="12954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250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B站、GitHub与竞赛社群是否有效，要用“曝光—激活—留存”验证</a:t>
            </a:r>
            <a:endParaRPr sz="2250" b="1">
              <a:solidFill>
                <a:srgbClr val="1557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00050" y="2076450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9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首轮增长漏斗</a:t>
            </a:r>
            <a:endParaRPr sz="195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growth-funnel-1"/>
          <p:cNvSpPr>
            <a:spLocks noGrp="1"/>
          </p:cNvSpPr>
          <p:nvPr/>
        </p:nvSpPr>
        <p:spPr>
          <a:xfrm>
            <a:off x="400050" y="2667000"/>
            <a:ext cx="5143500" cy="55245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571500" y="2809875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内容曝光</a:t>
            </a:r>
            <a:endParaRPr sz="15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057400" y="276225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1,000</a:t>
            </a:r>
            <a:endParaRPr sz="2025" b="1">
              <a:solidFill>
                <a:srgbClr val="2F80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086100" y="28194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5522"/>
          </a:bodyPr>
          <a:lstStyle/>
          <a:p>
            <a:pPr algn="r">
              <a:lnSpc>
                <a:spcPct val="105000"/>
              </a:lnSpc>
              <a:buNone/>
              <a:defRPr sz="12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B站视频、社群帖子、GitHub README</a:t>
            </a:r>
            <a:endParaRPr sz="120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growth-funnel-2"/>
          <p:cNvSpPr>
            <a:spLocks noGrp="1"/>
          </p:cNvSpPr>
          <p:nvPr/>
        </p:nvSpPr>
        <p:spPr>
          <a:xfrm>
            <a:off x="781050" y="3390900"/>
            <a:ext cx="4381500" cy="55245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52500" y="3533775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落地页访问</a:t>
            </a:r>
            <a:endParaRPr sz="15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438400" y="348615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≥150</a:t>
            </a:r>
            <a:endParaRPr sz="2025" b="1">
              <a:solidFill>
                <a:srgbClr val="2F80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467100" y="354330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2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访问率目标≥15%</a:t>
            </a:r>
            <a:endParaRPr sz="120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growth-funnel-3"/>
          <p:cNvSpPr>
            <a:spLocks noGrp="1"/>
          </p:cNvSpPr>
          <p:nvPr/>
        </p:nvSpPr>
        <p:spPr>
          <a:xfrm>
            <a:off x="1162050" y="4114800"/>
            <a:ext cx="3619500" cy="552450"/>
          </a:xfrm>
          <a:prstGeom prst="rect">
            <a:avLst/>
          </a:prstGeom>
          <a:solidFill>
            <a:srgbClr val="EAF6FC"/>
          </a:solidFill>
          <a:ln w="9525">
            <a:solidFill>
              <a:srgbClr val="2F80ED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333500" y="4257675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完成首次诊断</a:t>
            </a:r>
            <a:endParaRPr sz="15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2819400" y="421005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≥30</a:t>
            </a:r>
            <a:endParaRPr sz="2025" b="1">
              <a:solidFill>
                <a:srgbClr val="2F80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848100" y="4267200"/>
            <a:ext cx="76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69444"/>
          </a:bodyPr>
          <a:lstStyle/>
          <a:p>
            <a:pPr algn="r">
              <a:lnSpc>
                <a:spcPct val="105000"/>
              </a:lnSpc>
              <a:buNone/>
              <a:defRPr sz="12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试用转化目标≥20%</a:t>
            </a:r>
            <a:endParaRPr sz="120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growth-funnel-4"/>
          <p:cNvSpPr>
            <a:spLocks noGrp="1"/>
          </p:cNvSpPr>
          <p:nvPr/>
        </p:nvSpPr>
        <p:spPr>
          <a:xfrm>
            <a:off x="1543050" y="4838700"/>
            <a:ext cx="2857500" cy="552450"/>
          </a:xfrm>
          <a:prstGeom prst="rect">
            <a:avLst/>
          </a:prstGeom>
          <a:solidFill>
            <a:srgbClr val="1557A0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1714500" y="4981575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7日留存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3200400" y="493395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≥10</a:t>
            </a:r>
            <a:endParaRPr sz="20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growth-channel"/>
          <p:cNvSpPr>
            <a:spLocks noGrp="1"/>
          </p:cNvSpPr>
          <p:nvPr/>
        </p:nvSpPr>
        <p:spPr>
          <a:xfrm>
            <a:off x="6191250" y="2038350"/>
            <a:ext cx="5600700" cy="186690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6457950" y="2266950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渠道依据</a:t>
            </a:r>
            <a:endParaRPr sz="187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457950" y="2781300"/>
            <a:ext cx="23241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0000"/>
          </a:bodyPr>
          <a:lstStyle/>
          <a:p>
            <a:pPr algn="l">
              <a:lnSpc>
                <a:spcPct val="118000"/>
              </a:lnSpc>
              <a:buNone/>
              <a:defRPr sz="1575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B站 </a:t>
            </a:r>
            <a:r>
              <a:rPr lang="en-US" sz="1575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56%</a:t>
            </a:r>
            <a:r>
              <a:rPr sz="1575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GitHub </a:t>
            </a:r>
            <a:r>
              <a:rPr lang="en-US" sz="1575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56%</a:t>
            </a:r>
            <a:endParaRPr sz="1575" b="1">
              <a:solidFill>
                <a:srgbClr val="1557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1575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竞赛群 </a:t>
            </a:r>
            <a:r>
              <a:rPr lang="en-US" sz="1575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42%</a:t>
            </a:r>
            <a:r>
              <a:rPr sz="1575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师生推荐 </a:t>
            </a:r>
            <a:r>
              <a:rPr lang="en-US" sz="1575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42%</a:t>
            </a:r>
            <a:endParaRPr sz="1575" b="1">
              <a:solidFill>
                <a:srgbClr val="1557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1575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CSDN </a:t>
            </a:r>
            <a:r>
              <a:rPr lang="en-US" sz="1575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30%</a:t>
            </a:r>
            <a:endParaRPr lang="en-US" sz="1575" b="1">
              <a:solidFill>
                <a:srgbClr val="1557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9010650" y="2781300"/>
            <a:ext cx="24574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3000"/>
              </a:lnSpc>
              <a:buNone/>
              <a:defRPr sz="135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先选择受访者已经使用的渠道，</a:t>
            </a:r>
            <a:endParaRPr sz="135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3000"/>
              </a:lnSpc>
              <a:buNone/>
              <a:defRPr sz="135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再用真实点击与留存决定是否扩大投入。</a:t>
            </a:r>
            <a:endParaRPr sz="135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growth-revenue"/>
          <p:cNvSpPr>
            <a:spLocks noGrp="1"/>
          </p:cNvSpPr>
          <p:nvPr/>
        </p:nvSpPr>
        <p:spPr>
          <a:xfrm>
            <a:off x="6191250" y="4133850"/>
            <a:ext cx="5600700" cy="1600200"/>
          </a:xfrm>
          <a:prstGeom prst="rect">
            <a:avLst/>
          </a:prstGeom>
          <a:solidFill>
            <a:srgbClr val="EAF6FC"/>
          </a:solidFill>
          <a:ln w="0">
            <a:noFill/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6457950" y="436245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商业模式假设</a:t>
            </a:r>
            <a:endParaRPr sz="1875" b="1">
              <a:solidFill>
                <a:srgbClr val="1557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457950" y="491490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免费基础版</a:t>
            </a:r>
            <a:endParaRPr sz="15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8020050" y="4914900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专业版</a:t>
            </a:r>
            <a:endParaRPr sz="15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9258300" y="49149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 / 实验室</a:t>
            </a:r>
            <a:endParaRPr sz="15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457950" y="5276850"/>
            <a:ext cx="1333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收发、波形</a:t>
            </a:r>
            <a:endParaRPr sz="127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020050" y="5276850"/>
            <a:ext cx="152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AI诊断、模板、报告</a:t>
            </a:r>
            <a:endParaRPr sz="127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9639300" y="5276850"/>
            <a:ext cx="1885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2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协作、知识库、私有部署</a:t>
            </a:r>
            <a:endParaRPr sz="127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" name="slide-14-title"/>
          <p:cNvSpPr>
            <a:spLocks noGrp="1"/>
          </p:cNvSpPr>
          <p:nvPr/>
        </p:nvSpPr>
        <p:spPr>
          <a:xfrm>
            <a:off x="400050" y="323850"/>
            <a:ext cx="108394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36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八周内完成“可测试MVP—对照验证—迭代决策”</a:t>
            </a:r>
            <a:endParaRPr sz="36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直接连接符 1"/>
          <p:cNvSpPr>
            <a:spLocks noGrp="1"/>
          </p:cNvSpPr>
          <p:nvPr/>
        </p:nvSpPr>
        <p:spPr>
          <a:xfrm>
            <a:off x="400050" y="1104900"/>
            <a:ext cx="11391900" cy="0"/>
          </a:xfrm>
          <a:prstGeom prst="line">
            <a:avLst/>
          </a:prstGeom>
          <a:noFill/>
          <a:ln w="9525">
            <a:solidFill>
              <a:srgbClr val="C8CDD4"/>
            </a:solidFill>
            <a:prstDash val="solid"/>
          </a:ln>
        </p:spPr>
      </p:sp>
      <p:sp>
        <p:nvSpPr>
          <p:cNvPr id="3" name="slide-14-source"/>
          <p:cNvSpPr>
            <a:spLocks noGrp="1"/>
          </p:cNvSpPr>
          <p:nvPr/>
        </p:nvSpPr>
        <p:spPr>
          <a:xfrm>
            <a:off x="400050" y="6381750"/>
            <a:ext cx="933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团队分工为当前建议版本，可根据实际专长调整</a:t>
            </a:r>
            <a:endParaRPr sz="112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lide-14-number"/>
          <p:cNvSpPr>
            <a:spLocks noGrp="1"/>
          </p:cNvSpPr>
          <p:nvPr/>
        </p:nvSpPr>
        <p:spPr>
          <a:xfrm>
            <a:off x="11220450" y="63436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12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</a:t>
            </a:r>
            <a:endParaRPr sz="120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00050" y="1295400"/>
            <a:ext cx="9906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250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里程碑与责任人同时明确，避免功能扩张挤占验证时间</a:t>
            </a:r>
            <a:endParaRPr sz="2250" b="1">
              <a:solidFill>
                <a:srgbClr val="1557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右箭头 5"/>
          <p:cNvSpPr>
            <a:spLocks noGrp="1"/>
          </p:cNvSpPr>
          <p:nvPr/>
        </p:nvSpPr>
        <p:spPr>
          <a:xfrm>
            <a:off x="2857500" y="2590800"/>
            <a:ext cx="323850" cy="266700"/>
          </a:xfrm>
          <a:prstGeom prst="rightArrow">
            <a:avLst/>
          </a:prstGeom>
          <a:solidFill>
            <a:srgbClr val="6DCBF4"/>
          </a:solidFill>
          <a:ln w="9525">
            <a:solidFill>
              <a:srgbClr val="6DCBF4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400050" y="203835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第1—2周</a:t>
            </a:r>
            <a:endParaRPr sz="1350" b="1">
              <a:solidFill>
                <a:srgbClr val="2F80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00050" y="2438400"/>
            <a:ext cx="2324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数据与原型</a:t>
            </a:r>
            <a:endParaRPr sz="18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00050" y="2952750"/>
            <a:ext cx="23241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整理3类故障日志</a:t>
            </a:r>
            <a:endParaRPr sz="135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35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完成日志导入和波形回放</a:t>
            </a:r>
            <a:endParaRPr sz="135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右箭头 9"/>
          <p:cNvSpPr>
            <a:spLocks noGrp="1"/>
          </p:cNvSpPr>
          <p:nvPr/>
        </p:nvSpPr>
        <p:spPr>
          <a:xfrm>
            <a:off x="5705475" y="2590800"/>
            <a:ext cx="323850" cy="266700"/>
          </a:xfrm>
          <a:prstGeom prst="rightArrow">
            <a:avLst/>
          </a:prstGeom>
          <a:solidFill>
            <a:srgbClr val="6DCBF4"/>
          </a:solidFill>
          <a:ln w="9525">
            <a:solidFill>
              <a:srgbClr val="6DCBF4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3248025" y="203835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第3—4周</a:t>
            </a:r>
            <a:endParaRPr sz="1350" b="1">
              <a:solidFill>
                <a:srgbClr val="2F80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248025" y="2438400"/>
            <a:ext cx="2324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诊断与安全</a:t>
            </a:r>
            <a:endParaRPr sz="18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248025" y="2952750"/>
            <a:ext cx="23241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规则筛查、AI解释</a:t>
            </a:r>
            <a:endParaRPr sz="135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35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加入限幅与人工确认</a:t>
            </a:r>
            <a:endParaRPr sz="135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右箭头 13"/>
          <p:cNvSpPr>
            <a:spLocks noGrp="1"/>
          </p:cNvSpPr>
          <p:nvPr/>
        </p:nvSpPr>
        <p:spPr>
          <a:xfrm>
            <a:off x="8553450" y="2590800"/>
            <a:ext cx="323850" cy="266700"/>
          </a:xfrm>
          <a:prstGeom prst="rightArrow">
            <a:avLst/>
          </a:prstGeom>
          <a:solidFill>
            <a:srgbClr val="6DCBF4"/>
          </a:solidFill>
          <a:ln w="9525">
            <a:solidFill>
              <a:srgbClr val="6DCBF4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096000" y="203835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第5—6周</a:t>
            </a:r>
            <a:endParaRPr sz="1350" b="1">
              <a:solidFill>
                <a:srgbClr val="2F80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096000" y="2438400"/>
            <a:ext cx="2324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用户对照测试</a:t>
            </a:r>
            <a:endParaRPr sz="18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096000" y="2952750"/>
            <a:ext cx="23241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传统流程 vs. MVP</a:t>
            </a:r>
            <a:endParaRPr sz="135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35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记录时间、正确率、信任度</a:t>
            </a:r>
            <a:endParaRPr sz="135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943975" y="203835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第7—8周</a:t>
            </a:r>
            <a:endParaRPr sz="1350" b="1">
              <a:solidFill>
                <a:srgbClr val="2F80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943975" y="2438400"/>
            <a:ext cx="2324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复盘与决策</a:t>
            </a:r>
            <a:endParaRPr sz="18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943975" y="2952750"/>
            <a:ext cx="23241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保留有效功能</a:t>
            </a:r>
            <a:endParaRPr sz="135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35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决定协议与PID沙箱是否进入下一版</a:t>
            </a:r>
            <a:endParaRPr sz="135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00050" y="409575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RACI分工</a:t>
            </a:r>
            <a:endParaRPr sz="187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400050" y="4914900"/>
            <a:ext cx="11391900" cy="0"/>
          </a:xfrm>
          <a:prstGeom prst="line">
            <a:avLst/>
          </a:prstGeom>
          <a:noFill/>
          <a:ln w="9525">
            <a:solidFill>
              <a:srgbClr val="C8CDD4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400050" y="459105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刘双瑞</a:t>
            </a:r>
            <a:endParaRPr sz="142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2190750" y="459105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项目协调、AI诊断与安全规则</a:t>
            </a:r>
            <a:endParaRPr sz="135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0096500" y="4591050"/>
            <a:ext cx="1695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3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/ R</a:t>
            </a:r>
            <a:endParaRPr sz="1350" b="1">
              <a:solidFill>
                <a:srgbClr val="2F80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直接连接符 25"/>
          <p:cNvSpPr>
            <a:spLocks noGrp="1"/>
          </p:cNvSpPr>
          <p:nvPr/>
        </p:nvSpPr>
        <p:spPr>
          <a:xfrm>
            <a:off x="400050" y="5295900"/>
            <a:ext cx="11391900" cy="0"/>
          </a:xfrm>
          <a:prstGeom prst="line">
            <a:avLst/>
          </a:prstGeom>
          <a:noFill/>
          <a:ln w="9525">
            <a:solidFill>
              <a:srgbClr val="C8CDD4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400050" y="497205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胡雨杨</a:t>
            </a:r>
            <a:endParaRPr sz="142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2190750" y="497205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串口接入、数据缓冲与波形展示</a:t>
            </a:r>
            <a:endParaRPr sz="135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0096500" y="4972050"/>
            <a:ext cx="1695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3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</a:t>
            </a:r>
            <a:endParaRPr sz="1350" b="1">
              <a:solidFill>
                <a:srgbClr val="2F80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直接连接符 29"/>
          <p:cNvSpPr>
            <a:spLocks noGrp="1"/>
          </p:cNvSpPr>
          <p:nvPr/>
        </p:nvSpPr>
        <p:spPr>
          <a:xfrm>
            <a:off x="400050" y="5676900"/>
            <a:ext cx="11391900" cy="0"/>
          </a:xfrm>
          <a:prstGeom prst="line">
            <a:avLst/>
          </a:prstGeom>
          <a:noFill/>
          <a:ln w="9525">
            <a:solidFill>
              <a:srgbClr val="C8CDD4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400050" y="535305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吴程龙秀</a:t>
            </a:r>
            <a:endParaRPr sz="142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2190750" y="535305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用户调研、测试组织与报告整理</a:t>
            </a:r>
            <a:endParaRPr sz="135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0096500" y="5353050"/>
            <a:ext cx="1695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3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</a:t>
            </a:r>
            <a:endParaRPr sz="1350" b="1">
              <a:solidFill>
                <a:srgbClr val="2F80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直接连接符 33"/>
          <p:cNvSpPr>
            <a:spLocks noGrp="1"/>
          </p:cNvSpPr>
          <p:nvPr/>
        </p:nvSpPr>
        <p:spPr>
          <a:xfrm>
            <a:off x="400050" y="6057900"/>
            <a:ext cx="11391900" cy="0"/>
          </a:xfrm>
          <a:prstGeom prst="line">
            <a:avLst/>
          </a:prstGeom>
          <a:noFill/>
          <a:ln w="19050">
            <a:solidFill>
              <a:srgbClr val="111827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400050" y="573405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全体成员</a:t>
            </a:r>
            <a:endParaRPr sz="1425" b="1">
              <a:solidFill>
                <a:srgbClr val="1557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2190750" y="573405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关键假设、MVP范围与迭代决策</a:t>
            </a:r>
            <a:endParaRPr sz="135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0096500" y="5734050"/>
            <a:ext cx="1695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3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 / I</a:t>
            </a:r>
            <a:endParaRPr sz="1350" b="1">
              <a:solidFill>
                <a:srgbClr val="2F80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slide-15-title"/>
          <p:cNvSpPr>
            <a:spLocks noGrp="1"/>
          </p:cNvSpPr>
          <p:nvPr/>
        </p:nvSpPr>
        <p:spPr>
          <a:xfrm>
            <a:off x="400050" y="323850"/>
            <a:ext cx="108394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36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AI外部审视集中暴露了三类问题</a:t>
            </a:r>
            <a:endParaRPr sz="36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直接连接符 1"/>
          <p:cNvSpPr>
            <a:spLocks noGrp="1"/>
          </p:cNvSpPr>
          <p:nvPr/>
        </p:nvSpPr>
        <p:spPr>
          <a:xfrm>
            <a:off x="400050" y="1104900"/>
            <a:ext cx="11391900" cy="0"/>
          </a:xfrm>
          <a:prstGeom prst="line">
            <a:avLst/>
          </a:prstGeom>
          <a:noFill/>
          <a:ln w="9525">
            <a:solidFill>
              <a:srgbClr val="C8CDD4"/>
            </a:solidFill>
            <a:prstDash val="solid"/>
          </a:ln>
        </p:spPr>
      </p:sp>
      <p:sp>
        <p:nvSpPr>
          <p:cNvPr id="3" name="slide-15-source"/>
          <p:cNvSpPr>
            <a:spLocks noGrp="1"/>
          </p:cNvSpPr>
          <p:nvPr/>
        </p:nvSpPr>
        <p:spPr>
          <a:xfrm>
            <a:off x="400050" y="6381750"/>
            <a:ext cx="933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AI工具：OpenAI Codex｜提问日期：2026年7月17日</a:t>
            </a:r>
            <a:endParaRPr sz="112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lide-15-number"/>
          <p:cNvSpPr>
            <a:spLocks noGrp="1"/>
          </p:cNvSpPr>
          <p:nvPr/>
        </p:nvSpPr>
        <p:spPr>
          <a:xfrm>
            <a:off x="11220450" y="63436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12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120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00050" y="1295400"/>
            <a:ext cx="1057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250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AI不是裁判，而是一面帮助团队发现证据缺口和逻辑矛盾的镜子</a:t>
            </a:r>
            <a:endParaRPr sz="2250" b="1">
              <a:solidFill>
                <a:srgbClr val="1557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ai-prompt-panel"/>
          <p:cNvSpPr>
            <a:spLocks noGrp="1"/>
          </p:cNvSpPr>
          <p:nvPr/>
        </p:nvSpPr>
        <p:spPr>
          <a:xfrm>
            <a:off x="400050" y="2038350"/>
            <a:ext cx="4838700" cy="379095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47700" y="226695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完整评价提示词</a:t>
            </a:r>
            <a:endParaRPr sz="187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47700" y="2781300"/>
            <a:ext cx="4343400" cy="2781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请评价我们的《智串AI选题汇报PPT》，从以下六个维度提出具体、尖锐、可操作的意见：</a:t>
            </a:r>
            <a:endParaRPr sz="127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75"/>
          </a:p>
          <a:p>
            <a:pPr algn="l">
              <a:lnSpc>
                <a:spcPct val="108000"/>
              </a:lnSpc>
              <a:buNone/>
              <a:defRPr sz="12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需求真实性：痛点是否真实，调研能否支持结论；</a:t>
            </a:r>
            <a:endParaRPr sz="127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8000"/>
              </a:lnSpc>
              <a:buNone/>
              <a:defRPr sz="12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方案可行性：MVP能否验证核心假设、成本是否足够低；</a:t>
            </a:r>
            <a:endParaRPr sz="127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8000"/>
              </a:lnSpc>
              <a:buNone/>
              <a:defRPr sz="12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竞争差异化：竞品分析是否充分，优势是否清晰可量化；</a:t>
            </a:r>
            <a:endParaRPr sz="127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8000"/>
              </a:lnSpc>
              <a:buNone/>
              <a:defRPr sz="12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逻辑自洽性：画布模块及假设—验证—结论是否闭环；</a:t>
            </a:r>
            <a:endParaRPr sz="127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8000"/>
              </a:lnSpc>
              <a:buNone/>
              <a:defRPr sz="12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 风险与漏洞：最脆弱之处和未知盲区；</a:t>
            </a:r>
            <a:endParaRPr sz="127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8000"/>
              </a:lnSpc>
              <a:buNone/>
              <a:defRPr sz="12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⑥ 证据可信度：来源是否清楚、证据链是否可追溯。</a:t>
            </a:r>
            <a:endParaRPr sz="127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75"/>
          </a:p>
          <a:p>
            <a:pPr algn="l">
              <a:lnSpc>
                <a:spcPct val="108000"/>
              </a:lnSpc>
              <a:buNone/>
              <a:defRPr sz="12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请给出至少3个关键问题及修改建议。</a:t>
            </a:r>
            <a:endParaRPr sz="127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638800" y="211455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350" b="1">
              <a:solidFill>
                <a:srgbClr val="2F80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191250" y="20383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证据外推过度</a:t>
            </a:r>
            <a:endParaRPr sz="187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191250" y="2495550"/>
            <a:ext cx="5219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样本全部来自985高校</a:t>
            </a:r>
            <a:r>
              <a:rPr lang="zh-CN" sz="15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，且主要为大一大二学生</a:t>
            </a:r>
            <a:r>
              <a:rPr sz="15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，不能直接代表全国竞赛学生。</a:t>
            </a:r>
            <a:endParaRPr sz="150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5638800" y="3143250"/>
            <a:ext cx="5772150" cy="0"/>
          </a:xfrm>
          <a:prstGeom prst="line">
            <a:avLst/>
          </a:prstGeom>
          <a:noFill/>
          <a:ln w="9525">
            <a:solidFill>
              <a:srgbClr val="C8CDD4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5638800" y="337185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350" b="1">
              <a:solidFill>
                <a:srgbClr val="2F80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191250" y="32956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MVP边界过宽</a:t>
            </a:r>
            <a:endParaRPr sz="187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191250" y="3752850"/>
            <a:ext cx="5219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诊断、协议识别、离线分析和自动调参同时推进，验证成本过高。</a:t>
            </a:r>
            <a:endParaRPr sz="150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5638800" y="4400550"/>
            <a:ext cx="5772150" cy="0"/>
          </a:xfrm>
          <a:prstGeom prst="line">
            <a:avLst/>
          </a:prstGeom>
          <a:noFill/>
          <a:ln w="9525">
            <a:solidFill>
              <a:srgbClr val="C8CDD4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5638800" y="462915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350" b="1">
              <a:solidFill>
                <a:srgbClr val="2F80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191250" y="45529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差异化证据不足</a:t>
            </a:r>
            <a:endParaRPr sz="187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191250" y="5010150"/>
            <a:ext cx="5219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“竞品没有AI”和“效率提升30%—50%”缺少版本清单与对照实验。</a:t>
            </a:r>
            <a:endParaRPr sz="150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slide-16-title"/>
          <p:cNvSpPr>
            <a:spLocks noGrp="1"/>
          </p:cNvSpPr>
          <p:nvPr/>
        </p:nvSpPr>
        <p:spPr>
          <a:xfrm>
            <a:off x="400050" y="323850"/>
            <a:ext cx="108394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36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团队把AI意见分为“认同、已执行、存疑”</a:t>
            </a:r>
            <a:endParaRPr sz="36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直接连接符 1"/>
          <p:cNvSpPr>
            <a:spLocks noGrp="1"/>
          </p:cNvSpPr>
          <p:nvPr/>
        </p:nvSpPr>
        <p:spPr>
          <a:xfrm>
            <a:off x="400050" y="1104900"/>
            <a:ext cx="11391900" cy="0"/>
          </a:xfrm>
          <a:prstGeom prst="line">
            <a:avLst/>
          </a:prstGeom>
          <a:noFill/>
          <a:ln w="9525">
            <a:solidFill>
              <a:srgbClr val="C8CDD4"/>
            </a:solidFill>
            <a:prstDash val="solid"/>
          </a:ln>
        </p:spPr>
      </p:sp>
      <p:sp>
        <p:nvSpPr>
          <p:cNvPr id="3" name="slide-16-source"/>
          <p:cNvSpPr>
            <a:spLocks noGrp="1"/>
          </p:cNvSpPr>
          <p:nvPr/>
        </p:nvSpPr>
        <p:spPr>
          <a:xfrm>
            <a:off x="400050" y="6381750"/>
            <a:ext cx="933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分析原则：不全盘接受，也不回避证据充分的批评</a:t>
            </a:r>
            <a:endParaRPr sz="112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lide-16-number"/>
          <p:cNvSpPr>
            <a:spLocks noGrp="1"/>
          </p:cNvSpPr>
          <p:nvPr/>
        </p:nvSpPr>
        <p:spPr>
          <a:xfrm>
            <a:off x="11220450" y="63436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12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</a:t>
            </a:r>
            <a:endParaRPr sz="120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00050" y="1295400"/>
            <a:ext cx="9906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250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外部反馈只有转化为具体修改和验证动作，才真正产生价值</a:t>
            </a:r>
            <a:endParaRPr sz="2250" b="1">
              <a:solidFill>
                <a:srgbClr val="1557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am-response-1"/>
          <p:cNvSpPr>
            <a:spLocks noGrp="1"/>
          </p:cNvSpPr>
          <p:nvPr/>
        </p:nvSpPr>
        <p:spPr>
          <a:xfrm>
            <a:off x="400050" y="2038350"/>
            <a:ext cx="3429000" cy="342900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2266950"/>
            <a:ext cx="819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认同</a:t>
            </a:r>
            <a:endParaRPr sz="1500" b="1">
              <a:solidFill>
                <a:srgbClr val="2F80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2781300"/>
            <a:ext cx="30099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9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证据和边界需要收紧</a:t>
            </a:r>
            <a:endParaRPr sz="195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3562350"/>
            <a:ext cx="3009900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5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样本量小且同质</a:t>
            </a:r>
            <a:endParaRPr sz="150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15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“有AI”不是长期壁垒</a:t>
            </a:r>
            <a:endParaRPr sz="150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15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未验证的效率数据不能写成成果</a:t>
            </a:r>
            <a:endParaRPr sz="150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609600" y="4800600"/>
            <a:ext cx="3009900" cy="0"/>
          </a:xfrm>
          <a:prstGeom prst="line">
            <a:avLst/>
          </a:prstGeom>
          <a:noFill/>
          <a:ln w="9525">
            <a:solidFill>
              <a:srgbClr val="C8CDD4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09600" y="5010150"/>
            <a:ext cx="3009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影响：结论统一标明适用范围。</a:t>
            </a:r>
            <a:endParaRPr sz="1350" b="1">
              <a:solidFill>
                <a:srgbClr val="1557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am-response-2"/>
          <p:cNvSpPr>
            <a:spLocks noGrp="1"/>
          </p:cNvSpPr>
          <p:nvPr/>
        </p:nvSpPr>
        <p:spPr>
          <a:xfrm>
            <a:off x="4191000" y="2038350"/>
            <a:ext cx="3429000" cy="3429000"/>
          </a:xfrm>
          <a:prstGeom prst="rect">
            <a:avLst/>
          </a:prstGeom>
          <a:solidFill>
            <a:srgbClr val="EAF6FC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4400550" y="2266950"/>
            <a:ext cx="819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已执行</a:t>
            </a:r>
            <a:endParaRPr sz="1500" b="1">
              <a:solidFill>
                <a:srgbClr val="2F80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400550" y="2781300"/>
            <a:ext cx="30099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9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把批评落实到V2.0</a:t>
            </a:r>
            <a:endParaRPr sz="195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400550" y="3562350"/>
            <a:ext cx="3009900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5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全自动改为建议＋确认</a:t>
            </a:r>
            <a:endParaRPr sz="150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15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MVP聚焦日志、诊断与报告</a:t>
            </a:r>
            <a:endParaRPr sz="150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15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增加成功、失败与安全阈值</a:t>
            </a:r>
            <a:endParaRPr sz="150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4400550" y="4800600"/>
            <a:ext cx="3009900" cy="0"/>
          </a:xfrm>
          <a:prstGeom prst="line">
            <a:avLst/>
          </a:prstGeom>
          <a:noFill/>
          <a:ln w="9525">
            <a:solidFill>
              <a:srgbClr val="C8CDD4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4400550" y="5010150"/>
            <a:ext cx="3009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效果：验证成本下降，方案更可控。</a:t>
            </a:r>
            <a:endParaRPr sz="1350" b="1">
              <a:solidFill>
                <a:srgbClr val="1557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am-response-3"/>
          <p:cNvSpPr>
            <a:spLocks noGrp="1"/>
          </p:cNvSpPr>
          <p:nvPr/>
        </p:nvSpPr>
        <p:spPr>
          <a:xfrm>
            <a:off x="7981950" y="2038350"/>
            <a:ext cx="3429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4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191500" y="2266950"/>
            <a:ext cx="819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存疑</a:t>
            </a:r>
            <a:endParaRPr sz="1500" b="1">
              <a:solidFill>
                <a:srgbClr val="2F80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191500" y="2781300"/>
            <a:ext cx="30099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9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差异化仍需实验回答</a:t>
            </a:r>
            <a:endParaRPr sz="195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191500" y="3562350"/>
            <a:ext cx="3009900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5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我们认为核心不是聊天框，而是实时上下文、控制模板、证据链和安全护栏。</a:t>
            </a:r>
            <a:endParaRPr sz="150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8191500" y="4800600"/>
            <a:ext cx="3009900" cy="0"/>
          </a:xfrm>
          <a:prstGeom prst="line">
            <a:avLst/>
          </a:prstGeom>
          <a:noFill/>
          <a:ln w="9525">
            <a:solidFill>
              <a:srgbClr val="C8CDD4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8191500" y="5010150"/>
            <a:ext cx="3009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应对：用VOFA+＋通用AI对照测试证明。</a:t>
            </a:r>
            <a:endParaRPr sz="1350" b="1">
              <a:solidFill>
                <a:srgbClr val="1557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400050" y="5867400"/>
            <a:ext cx="11010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V2.0修改结果：数据标注更严谨｜MVP范围更小｜验证指标更明确｜风险回应更具体</a:t>
            </a:r>
            <a:endParaRPr sz="1650" b="1">
              <a:solidFill>
                <a:srgbClr val="1557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" name="slide-17-title"/>
          <p:cNvSpPr>
            <a:spLocks noGrp="1"/>
          </p:cNvSpPr>
          <p:nvPr/>
        </p:nvSpPr>
        <p:spPr>
          <a:xfrm>
            <a:off x="400050" y="323850"/>
            <a:ext cx="108394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36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不足之处与展望</a:t>
            </a:r>
            <a:endParaRPr sz="36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直接连接符 1"/>
          <p:cNvSpPr>
            <a:spLocks noGrp="1"/>
          </p:cNvSpPr>
          <p:nvPr/>
        </p:nvSpPr>
        <p:spPr>
          <a:xfrm>
            <a:off x="400050" y="1104900"/>
            <a:ext cx="11391900" cy="0"/>
          </a:xfrm>
          <a:prstGeom prst="line">
            <a:avLst/>
          </a:prstGeom>
          <a:noFill/>
          <a:ln w="9525">
            <a:solidFill>
              <a:srgbClr val="C8CDD4"/>
            </a:solidFill>
            <a:prstDash val="solid"/>
          </a:ln>
        </p:spPr>
      </p:sp>
      <p:sp>
        <p:nvSpPr>
          <p:cNvPr id="3" name="slide-17-source"/>
          <p:cNvSpPr>
            <a:spLocks noGrp="1"/>
          </p:cNvSpPr>
          <p:nvPr/>
        </p:nvSpPr>
        <p:spPr>
          <a:xfrm>
            <a:off x="400050" y="6381750"/>
            <a:ext cx="933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下一阶段计划：扩大样本、验证安全、提升跨平台泛化</a:t>
            </a:r>
            <a:endParaRPr sz="112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lide-17-number"/>
          <p:cNvSpPr>
            <a:spLocks noGrp="1"/>
          </p:cNvSpPr>
          <p:nvPr/>
        </p:nvSpPr>
        <p:spPr>
          <a:xfrm>
            <a:off x="11220450" y="63436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12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17</a:t>
            </a:r>
            <a:endParaRPr sz="120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limitations-band"/>
          <p:cNvSpPr>
            <a:spLocks noGrp="1"/>
          </p:cNvSpPr>
          <p:nvPr/>
        </p:nvSpPr>
        <p:spPr>
          <a:xfrm>
            <a:off x="400050" y="1352550"/>
            <a:ext cx="11391900" cy="112395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66750" y="1638300"/>
            <a:ext cx="857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950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不足</a:t>
            </a:r>
            <a:endParaRPr sz="1950" b="1">
              <a:solidFill>
                <a:srgbClr val="1557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619250" y="1600200"/>
            <a:ext cx="9696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当前调研样本</a:t>
            </a:r>
            <a:r>
              <a:rPr lang="zh-CN" sz="165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较小</a:t>
            </a:r>
            <a:r>
              <a:rPr sz="165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且集中于控制竞赛；跨协议泛化、真实设备安全边界与长期稳定性仍需在更多平台和任务中持续检验。</a:t>
            </a:r>
            <a:endParaRPr sz="165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00050" y="3028950"/>
            <a:ext cx="1047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展望</a:t>
            </a:r>
            <a:endParaRPr sz="21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1790700" y="3981450"/>
            <a:ext cx="9525000" cy="0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</a:ln>
        </p:spPr>
      </p:sp>
      <p:sp>
        <p:nvSpPr>
          <p:cNvPr id="10" name="椭圆 9"/>
          <p:cNvSpPr>
            <a:spLocks noGrp="1"/>
          </p:cNvSpPr>
          <p:nvPr/>
        </p:nvSpPr>
        <p:spPr>
          <a:xfrm>
            <a:off x="1695450" y="3857625"/>
            <a:ext cx="247650" cy="247650"/>
          </a:xfrm>
          <a:prstGeom prst="ellipse">
            <a:avLst/>
          </a:prstGeom>
          <a:solidFill>
            <a:srgbClr val="2F80ED"/>
          </a:solidFill>
          <a:ln w="28575">
            <a:solidFill>
              <a:srgbClr val="2F80ED"/>
            </a:solidFill>
            <a:prstDash val="solid"/>
          </a:ln>
        </p:spPr>
      </p:sp>
      <p:sp>
        <p:nvSpPr>
          <p:cNvPr id="11" name="椭圆 10"/>
          <p:cNvSpPr>
            <a:spLocks noGrp="1"/>
          </p:cNvSpPr>
          <p:nvPr/>
        </p:nvSpPr>
        <p:spPr>
          <a:xfrm>
            <a:off x="4267200" y="3857625"/>
            <a:ext cx="247650" cy="2476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F80ED"/>
            </a:solidFill>
            <a:prstDash val="solid"/>
          </a:ln>
        </p:spPr>
      </p:sp>
      <p:sp>
        <p:nvSpPr>
          <p:cNvPr id="12" name="椭圆 11"/>
          <p:cNvSpPr>
            <a:spLocks noGrp="1"/>
          </p:cNvSpPr>
          <p:nvPr/>
        </p:nvSpPr>
        <p:spPr>
          <a:xfrm>
            <a:off x="6838950" y="3857625"/>
            <a:ext cx="247650" cy="2476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F80ED"/>
            </a:solidFill>
            <a:prstDash val="solid"/>
          </a:ln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9410700" y="3857625"/>
            <a:ext cx="247650" cy="2476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F80ED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276350" y="35052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350" b="1">
              <a:solidFill>
                <a:srgbClr val="2F80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276350" y="4305300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跨平台扩展</a:t>
            </a:r>
            <a:endParaRPr sz="18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276350" y="4762500"/>
            <a:ext cx="2095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覆盖 Arduino、RISC-V 与自定义协议</a:t>
            </a:r>
            <a:endParaRPr sz="150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3848100" y="35052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350" b="1">
              <a:solidFill>
                <a:srgbClr val="2F80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848100" y="4305300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本地智能</a:t>
            </a:r>
            <a:endParaRPr sz="18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848100" y="4762500"/>
            <a:ext cx="2095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轻量模型与规则协同，弱网环境持续可用</a:t>
            </a:r>
            <a:endParaRPr sz="150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419850" y="35052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350" b="1">
              <a:solidFill>
                <a:srgbClr val="2F80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419850" y="4305300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安全调参</a:t>
            </a:r>
            <a:endParaRPr sz="18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419850" y="4762500"/>
            <a:ext cx="2095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在仿真/限幅沙箱中推进PID辅助调参</a:t>
            </a:r>
            <a:endParaRPr sz="150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991600" y="35052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350" b="1">
              <a:solidFill>
                <a:srgbClr val="2F80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991600" y="4305300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生态与基准</a:t>
            </a:r>
            <a:endParaRPr sz="18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991600" y="4762500"/>
            <a:ext cx="2095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兼容VOFA+工作流，建设日志集与评价基准</a:t>
            </a:r>
            <a:endParaRPr sz="150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400050" y="5924550"/>
            <a:ext cx="11391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950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目标：从“会给答案”走向“可解释、可验证、可安全执行”</a:t>
            </a:r>
            <a:endParaRPr sz="1950" b="1">
              <a:solidFill>
                <a:srgbClr val="1557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slide-18-title"/>
          <p:cNvSpPr>
            <a:spLocks noGrp="1"/>
          </p:cNvSpPr>
          <p:nvPr/>
        </p:nvSpPr>
        <p:spPr>
          <a:xfrm>
            <a:off x="400050" y="323850"/>
            <a:ext cx="108394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36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三个问题决定智串AI能否进入下一轮</a:t>
            </a:r>
            <a:endParaRPr sz="36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直接连接符 1"/>
          <p:cNvSpPr>
            <a:spLocks noGrp="1"/>
          </p:cNvSpPr>
          <p:nvPr/>
        </p:nvSpPr>
        <p:spPr>
          <a:xfrm>
            <a:off x="400050" y="1104900"/>
            <a:ext cx="11391900" cy="0"/>
          </a:xfrm>
          <a:prstGeom prst="line">
            <a:avLst/>
          </a:prstGeom>
          <a:noFill/>
          <a:ln w="9525">
            <a:solidFill>
              <a:srgbClr val="C8CDD4"/>
            </a:solidFill>
            <a:prstDash val="solid"/>
          </a:ln>
        </p:spPr>
      </p:sp>
      <p:sp>
        <p:nvSpPr>
          <p:cNvPr id="3" name="slide-18-source"/>
          <p:cNvSpPr>
            <a:spLocks noGrp="1"/>
          </p:cNvSpPr>
          <p:nvPr/>
        </p:nvSpPr>
        <p:spPr>
          <a:xfrm>
            <a:off x="400050" y="6381750"/>
            <a:ext cx="933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答辩Q&amp;A预判</a:t>
            </a:r>
            <a:endParaRPr sz="1125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lide-18-number"/>
          <p:cNvSpPr>
            <a:spLocks noGrp="1"/>
          </p:cNvSpPr>
          <p:nvPr/>
        </p:nvSpPr>
        <p:spPr>
          <a:xfrm>
            <a:off x="11220450" y="63436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12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</a:t>
            </a:r>
            <a:endParaRPr sz="120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00050" y="1295400"/>
            <a:ext cx="1047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250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557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我们不回避失败条件：若核心假设不成立，就缩小或调整产品方向</a:t>
            </a:r>
            <a:endParaRPr sz="2250" b="1">
              <a:solidFill>
                <a:srgbClr val="1557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00050" y="2076450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Q1</a:t>
            </a:r>
            <a:endParaRPr sz="1575" b="1">
              <a:solidFill>
                <a:srgbClr val="2F80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200150" y="2038350"/>
            <a:ext cx="4095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9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为什么不用VOFA+＋ChatGPT？</a:t>
            </a:r>
            <a:endParaRPr sz="195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619750" y="2057400"/>
            <a:ext cx="57912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3000"/>
              </a:lnSpc>
              <a:buNone/>
              <a:defRPr sz="15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因为复制粘贴会切断实时上下文和证据链</a:t>
            </a:r>
            <a:r>
              <a:rPr lang="zh-CN" sz="15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，且回答欠缺专业性</a:t>
            </a:r>
            <a:r>
              <a:rPr sz="15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；但这一优势必须由对照任务证明，而不是靠描述。</a:t>
            </a:r>
            <a:endParaRPr sz="150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400050" y="3009900"/>
            <a:ext cx="11010900" cy="0"/>
          </a:xfrm>
          <a:prstGeom prst="line">
            <a:avLst/>
          </a:prstGeom>
          <a:noFill/>
          <a:ln w="9525">
            <a:solidFill>
              <a:srgbClr val="C8CDD4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400050" y="3333750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Q2</a:t>
            </a:r>
            <a:endParaRPr sz="1575" b="1">
              <a:solidFill>
                <a:srgbClr val="2F80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200150" y="3295650"/>
            <a:ext cx="4095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9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AI给错参数会不会损坏硬件？</a:t>
            </a:r>
            <a:endParaRPr sz="195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619750" y="3314700"/>
            <a:ext cx="57912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3000"/>
              </a:lnSpc>
              <a:buNone/>
              <a:defRPr sz="15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首版不自动写入；规则限幅、人工确认、仿真沙箱和操作留痕共同约束，严重错误指令目标为0。</a:t>
            </a:r>
            <a:endParaRPr sz="150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400050" y="4267200"/>
            <a:ext cx="11010900" cy="0"/>
          </a:xfrm>
          <a:prstGeom prst="line">
            <a:avLst/>
          </a:prstGeom>
          <a:noFill/>
          <a:ln w="9525">
            <a:solidFill>
              <a:srgbClr val="C8CDD4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400050" y="4591050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Q3</a:t>
            </a:r>
            <a:endParaRPr sz="1575" b="1">
              <a:solidFill>
                <a:srgbClr val="2F80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200150" y="4552950"/>
            <a:ext cx="4095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9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学生为什么愿意持续使用或付费？</a:t>
            </a:r>
            <a:endParaRPr sz="195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619750" y="4572000"/>
            <a:ext cx="57912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3000"/>
              </a:lnSpc>
              <a:buNone/>
              <a:defRPr sz="15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先验证节省时间与7日留存；基础功能免费，专业版和团队版只为可量化的诊断、报告和协作价值收费。</a:t>
            </a:r>
            <a:endParaRPr sz="1500" b="0">
              <a:solidFill>
                <a:srgbClr val="5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qa-close"/>
          <p:cNvSpPr>
            <a:spLocks noGrp="1"/>
          </p:cNvSpPr>
          <p:nvPr/>
        </p:nvSpPr>
        <p:spPr>
          <a:xfrm>
            <a:off x="400050" y="5848350"/>
            <a:ext cx="11010900" cy="495300"/>
          </a:xfrm>
          <a:prstGeom prst="rect">
            <a:avLst/>
          </a:prstGeom>
          <a:solidFill>
            <a:srgbClr val="1557A0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66750" y="5981700"/>
            <a:ext cx="1047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下一步只做一件事：用真实日志和真实用户证明，它比现有流程更快、更准、更安全。</a:t>
            </a:r>
            <a:endParaRPr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5057</Words>
  <Application>WPS 演示</Application>
  <PresentationFormat>Converted Presentation</PresentationFormat>
  <Paragraphs>833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6" baseType="lpstr">
      <vt:lpstr>Arial</vt:lpstr>
      <vt:lpstr>宋体</vt:lpstr>
      <vt:lpstr>Wingdings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LIURR</cp:lastModifiedBy>
  <cp:revision>2</cp:revision>
  <dcterms:created xsi:type="dcterms:W3CDTF">2026-07-17T04:52:00Z</dcterms:created>
  <dcterms:modified xsi:type="dcterms:W3CDTF">2026-07-17T05:15:15Z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06050721991F4403A448F192431EB2AC_12</vt:lpwstr>
  </property>
  <property fmtid="{D5CDD505-2E9C-101B-9397-08002B2CF9AE}" pid="3" name="KSOProductBuildVer">
    <vt:lpwstr>2052-12.8.2.21177</vt:lpwstr>
  </property>
</Properties>
</file>