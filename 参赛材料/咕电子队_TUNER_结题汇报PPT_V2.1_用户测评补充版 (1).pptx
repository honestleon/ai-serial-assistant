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指标</c:v>
          </c:tx>
          <c:spPr>
            <a:solidFill>
              <a:srgbClr val="009EDB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587CA0"/>
              </a:solidFill>
            </c:spPr>
            <c:extLst>
              <c:ext xmlns:c16="http://schemas.microsoft.com/office/drawing/2014/chart" uri="{C3380CC4-5D6E-409C-BE32-E72D297353CC}">
                <c16:uniqueId val="{00000001-885B-4672-BDB2-2C165B93F39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85B-4672-BDB2-2C165B93F393}"/>
              </c:ext>
            </c:extLst>
          </c:dPt>
          <c:dPt>
            <c:idx val="2"/>
            <c:invertIfNegative val="0"/>
            <c:bubble3D val="0"/>
            <c:spPr>
              <a:solidFill>
                <a:srgbClr val="128269"/>
              </a:solidFill>
            </c:spPr>
            <c:extLst>
              <c:ext xmlns:c16="http://schemas.microsoft.com/office/drawing/2014/chart" uri="{C3380CC4-5D6E-409C-BE32-E72D297353CC}">
                <c16:uniqueId val="{00000005-885B-4672-BDB2-2C165B93F39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425" b="1">
                    <a:solidFill>
                      <a:srgbClr val="061F32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选题问卷</c:v>
              </c:pt>
              <c:pt idx="1">
                <c:v>中期深访</c:v>
              </c:pt>
              <c:pt idx="2">
                <c:v>结题反馈</c:v>
              </c:pt>
            </c:strLit>
          </c:cat>
          <c:val>
            <c:numLit>
              <c:formatCode>0</c:formatCode>
              <c:ptCount val="3"/>
              <c:pt idx="0">
                <c:v>7</c:v>
              </c:pt>
              <c:pt idx="1">
                <c:v>12</c:v>
              </c:pt>
              <c:pt idx="2">
                <c:v>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885B-4672-BDB2-2C165B93F39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536477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5"/>
          <c:min val="0"/>
        </c:scaling>
        <c:delete val="0"/>
        <c:axPos val="l"/>
        <c:majorGridlines>
          <c:spPr>
            <a:ln w="9525">
              <a:solidFill>
                <a:srgbClr val="D6E2EB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36477"/>
                </a:solidFill>
              </a:defRPr>
            </a:pPr>
            <a:endParaRPr lang="zh-CN"/>
          </a:p>
        </c:txPr>
        <c:crossAx val="48650112"/>
        <c:crosses val="autoZero"/>
        <c:crossBetween val="between"/>
        <c:majorUnit val="5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指标</c:v>
          </c:tx>
          <c:spPr>
            <a:solidFill>
              <a:srgbClr val="009EDB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587CA0"/>
              </a:solidFill>
            </c:spPr>
            <c:extLst>
              <c:ext xmlns:c16="http://schemas.microsoft.com/office/drawing/2014/chart" uri="{C3380CC4-5D6E-409C-BE32-E72D297353CC}">
                <c16:uniqueId val="{00000001-A6D2-4DDD-9908-E8447D47EA7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6D2-4DDD-9908-E8447D47EA7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425" b="1">
                    <a:solidFill>
                      <a:srgbClr val="061F32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改善前</c:v>
              </c:pt>
              <c:pt idx="1">
                <c:v>改善后</c:v>
              </c:pt>
            </c:strLit>
          </c:cat>
          <c:val>
            <c:numLit>
              <c:formatCode>0"%"</c:formatCode>
              <c:ptCount val="2"/>
              <c:pt idx="0">
                <c:v>40</c:v>
              </c:pt>
              <c:pt idx="1">
                <c:v>85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A6D2-4DDD-9908-E8447D47EA7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536477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D6E2EB"/>
              </a:solidFill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36477"/>
                </a:solidFill>
              </a:defRPr>
            </a:pPr>
            <a:endParaRPr lang="zh-CN"/>
          </a:p>
        </c:txPr>
        <c:crossAx val="48650112"/>
        <c:crosses val="autoZero"/>
        <c:crossBetween val="between"/>
        <c:majorUnit val="50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指标</c:v>
          </c:tx>
          <c:spPr>
            <a:solidFill>
              <a:srgbClr val="009EDB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587CA0"/>
              </a:solidFill>
            </c:spPr>
            <c:extLst>
              <c:ext xmlns:c16="http://schemas.microsoft.com/office/drawing/2014/chart" uri="{C3380CC4-5D6E-409C-BE32-E72D297353CC}">
                <c16:uniqueId val="{00000001-8ED1-47E3-AA83-14296725AAA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ED1-47E3-AA83-14296725AAA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425" b="1">
                    <a:solidFill>
                      <a:srgbClr val="061F32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改善前</c:v>
              </c:pt>
              <c:pt idx="1">
                <c:v>改善后</c:v>
              </c:pt>
            </c:strLit>
          </c:cat>
          <c:val>
            <c:numLit>
              <c:formatCode>0"%"</c:formatCode>
              <c:ptCount val="2"/>
              <c:pt idx="0">
                <c:v>70</c:v>
              </c:pt>
              <c:pt idx="1">
                <c:v>90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8ED1-47E3-AA83-14296725AAA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536477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D6E2EB"/>
              </a:solidFill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36477"/>
                </a:solidFill>
              </a:defRPr>
            </a:pPr>
            <a:endParaRPr lang="zh-CN"/>
          </a:p>
        </c:txPr>
        <c:crossAx val="48650112"/>
        <c:crosses val="autoZero"/>
        <c:crossBetween val="between"/>
        <c:majorUnit val="50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指标</c:v>
          </c:tx>
          <c:spPr>
            <a:solidFill>
              <a:srgbClr val="009EDB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587CA0"/>
              </a:solidFill>
            </c:spPr>
            <c:extLst>
              <c:ext xmlns:c16="http://schemas.microsoft.com/office/drawing/2014/chart" uri="{C3380CC4-5D6E-409C-BE32-E72D297353CC}">
                <c16:uniqueId val="{00000001-5282-4467-A6FE-3AC5285D6DE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282-4467-A6FE-3AC5285D6DE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425" b="1">
                    <a:solidFill>
                      <a:srgbClr val="061F32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均值</c:v>
              </c:pt>
              <c:pt idx="1">
                <c:v>最优</c:v>
              </c:pt>
            </c:strLit>
          </c:cat>
          <c:val>
            <c:numLit>
              <c:formatCode>0.0</c:formatCode>
              <c:ptCount val="2"/>
              <c:pt idx="0">
                <c:v>93.3</c:v>
              </c:pt>
              <c:pt idx="1">
                <c:v>100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5282-4467-A6FE-3AC5285D6DE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536477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10"/>
          <c:min val="0"/>
        </c:scaling>
        <c:delete val="0"/>
        <c:axPos val="l"/>
        <c:majorGridlines>
          <c:spPr>
            <a:ln w="9525">
              <a:solidFill>
                <a:srgbClr val="D6E2EB"/>
              </a:solidFill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36477"/>
                </a:solidFill>
              </a:defRPr>
            </a:pPr>
            <a:endParaRPr lang="zh-CN"/>
          </a:p>
        </c:txPr>
        <c:crossAx val="48650112"/>
        <c:crosses val="autoZero"/>
        <c:crossBetween val="between"/>
        <c:majorUnit val="50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指标</c:v>
          </c:tx>
          <c:spPr>
            <a:solidFill>
              <a:srgbClr val="009EDB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587CA0"/>
              </a:solidFill>
            </c:spPr>
            <c:extLst>
              <c:ext xmlns:c16="http://schemas.microsoft.com/office/drawing/2014/chart" uri="{C3380CC4-5D6E-409C-BE32-E72D297353CC}">
                <c16:uniqueId val="{00000001-EF41-4923-9240-7CD682A94CE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F41-4923-9240-7CD682A94CE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425" b="1">
                    <a:solidFill>
                      <a:srgbClr val="061F32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改进前</c:v>
              </c:pt>
              <c:pt idx="1">
                <c:v>改进后</c:v>
              </c:pt>
            </c:strLit>
          </c:cat>
          <c:val>
            <c:numLit>
              <c:formatCode>0"%"</c:formatCode>
              <c:ptCount val="2"/>
              <c:pt idx="0">
                <c:v>40</c:v>
              </c:pt>
              <c:pt idx="1">
                <c:v>85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EF41-4923-9240-7CD682A94CE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536477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D6E2EB"/>
              </a:solidFill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36477"/>
                </a:solidFill>
              </a:defRPr>
            </a:pPr>
            <a:endParaRPr lang="zh-CN"/>
          </a:p>
        </c:txPr>
        <c:crossAx val="48650112"/>
        <c:crosses val="autoZero"/>
        <c:crossBetween val="between"/>
        <c:majorUnit val="50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更新后：选题7份问卷、中期12份深访、结题新增提供的5条体验反馈，三个计数的记录类型不同，不累加独立用户。该文档未提供参与人数、完成时间、成功率、满意度评分及真实硬件结果，因此不再使用“结题测评0”，也不编造结题人数或改善百分比。诊断有效率40→85、交付率70→90为已有改善，非这5条反馈的量化结果。贡献均值(100+100+80)/3=93.3，最优100。</a:t>
            </a:r>
          </a:p>
          <a:p>
            <a:r>
              <a:t>[Sources]</a:t>
            </a:r>
          </a:p>
          <a:p>
            <a:r>
              <a:t>用户提供：D:/apps/QQ/下载文件/用户测评与修改记录.md（2026-08-08、08-23、08-24、08-25，共5条记录）。</a:t>
            </a:r>
          </a:p>
          <a:p>
            <a:r>
              <a:t>既有数值与界面证据：咕电子队_TUNER_结题汇报PPT_V2.0_评审优化版.pptx及其来源。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项依据用户提供的5条记录整理。8/25含两个不同主题，所以5条记录对应4个日期，不是5人、5场测试或5份独立问卷。体验改善是记录中的定性描述，未换算为百分比。文档称“全自动且安全”，本页保留工具闭环、护栏、回退的功能事实，不将其扩展为安全保证或真实硬件验证已完成。</a:t>
            </a:r>
          </a:p>
          <a:p>
            <a:r>
              <a:t>[Sources]</a:t>
            </a:r>
          </a:p>
          <a:p>
            <a:r>
              <a:t>用户提供：D:/apps/QQ/下载文件/用户测评与修改记录.md（2026-08-08、08-23、08-24、08-25，共5条记录）。</a:t>
            </a:r>
          </a:p>
          <a:p>
            <a:r>
              <a:t>既有数值与界面证据：咕电子队_TUNER_结题汇报PPT_V2.0_评审优化版.pptx及其来源。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已补充5条定性测评反馈，原“结题新增测评0”不再适用。真实测评的缺口聚焦独立参与人数、任务成功率、耗时对比与真实硬件闭环，而不是否认已经发生的用户反馈。</a:t>
            </a:r>
          </a:p>
          <a:p>
            <a:r>
              <a:t>[Sources]</a:t>
            </a:r>
          </a:p>
          <a:p>
            <a:r>
              <a:t>用户提供：D:/apps/QQ/下载文件/用户测评与修改记录.md（2026-08-08、08-23、08-24、08-25，共5条记录）。</a:t>
            </a:r>
          </a:p>
          <a:p>
            <a:r>
              <a:t>既有数值与界面证据：咕电子队_TUNER_结题汇报PPT_V2.0_评审优化版.pptx及其来源。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新增用户反馈分别支撑提示词规范化、前端改版、模块拆分、自动调参和安装交付的体验价值。用户反馈只说明定性改善，原诊断有效率40→85继续归属既有测量。</a:t>
            </a:r>
          </a:p>
          <a:p>
            <a:r>
              <a:t>[Sources]</a:t>
            </a:r>
          </a:p>
          <a:p>
            <a:r>
              <a:t>用户提供：D:/apps/QQ/下载文件/用户测评与修改记录.md（2026-08-08、08-23、08-24、08-25，共5条记录）。</a:t>
            </a:r>
          </a:p>
          <a:p>
            <a:r>
              <a:t>既有数值与界面证据：咕电子队_TUNER_结题汇报PPT_V2.0_评审优化版.pptx及其来源。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新增5条反馈是体验记录，未给出独立人数、额外成本或工时。因此182h、350元、350/12≈29.2元/深访、12/350*100≈3.4份/百元均保留原口径，不用17作为深访分母，也不新增收入。</a:t>
            </a:r>
          </a:p>
          <a:p>
            <a:r>
              <a:t>[Sources]</a:t>
            </a:r>
          </a:p>
          <a:p>
            <a:r>
              <a:t>用户提供：D:/apps/QQ/下载文件/用户测评与修改记录.md（2026-08-08、08-23、08-24、08-25，共5条记录）。</a:t>
            </a:r>
          </a:p>
          <a:p>
            <a:r>
              <a:t>既有数值与界面证据：咕电子队_TUNER_结题汇报PPT_V2.0_评审优化版.pptx及其来源。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复用原PPT附录的真实Git截图，只对展示区域裁切。MIT与安装包为实际记录；公开交付不等于已有社区用户，也不代表已产生收入。</a:t>
            </a:r>
          </a:p>
          <a:p>
            <a:r>
              <a:t>[Sources]</a:t>
            </a:r>
          </a:p>
          <a:p>
            <a:r>
              <a:t>用户提供：咕电子队_TUNER_结题汇报PPT_V1.0.pptx；项目计划.md；结题答辩PPT大纲与计划.md；发布包与开发者文档。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新材料补齐了定性反馈层，后续规划应转向量化效果与真实硬件验证，不再表述为完全没有测评。未改变原短中长期技术路线。</a:t>
            </a:r>
          </a:p>
          <a:p>
            <a:r>
              <a:t>[Sources]</a:t>
            </a:r>
          </a:p>
          <a:p>
            <a:r>
              <a:t>用户提供：D:/apps/QQ/下载文件/用户测评与修改记录.md（2026-08-08、08-23、08-24、08-25，共5条记录）。</a:t>
            </a:r>
          </a:p>
          <a:p>
            <a:r>
              <a:t>既有数值与界面证据：咕电子队_TUNER_结题汇报PPT_V2.0_评审优化版.pptx及其来源。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针对“结题有无新增测评”的回答更新：有5条定性反馈记录，不声称新增5人。硬件链路与付费话术保留原有边界。</a:t>
            </a:r>
          </a:p>
          <a:p>
            <a:r>
              <a:t>[Sources]</a:t>
            </a:r>
          </a:p>
          <a:p>
            <a:r>
              <a:t>用户提供：D:/apps/QQ/下载文件/用户测评与修改记录.md（2026-08-08、08-23、08-24、08-25，共5条记录）。</a:t>
            </a:r>
          </a:p>
          <a:p>
            <a:r>
              <a:t>既有数值与界面证据：咕电子队_TUNER_结题汇报PPT_V2.0_评审优化版.pptx及其来源。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新增过程证据：用户测评与修改记录.md，4个日期、5条问题-修改-改善记录。与Git提交、问题反馈记录交叉对应，不将整理文档伪装成聊天截图。</a:t>
            </a:r>
          </a:p>
          <a:p>
            <a:r>
              <a:t>[Sources]</a:t>
            </a:r>
          </a:p>
          <a:p>
            <a:r>
              <a:t>用户提供：D:/apps/QQ/下载文件/用户测评与修改记录.md（2026-08-08、08-23、08-24、08-25，共5条记录）。</a:t>
            </a:r>
          </a:p>
          <a:p>
            <a:r>
              <a:t>既有数值与界面证据：咕电子队_TUNER_结题汇报PPT_V2.0_评审优化版.pptx及其来源。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3.svg"/><Relationship Id="rId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D85422C-380B-47DE-B2D0-1D4962797C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FA66349-CC59-4744-8525-520998599FAC}"/>
              </a:ext>
            </a:extLst>
          </p:cNvPr>
          <p:cNvSpPr>
            <a:spLocks noGrp="1"/>
          </p:cNvSpPr>
          <p:nvPr/>
        </p:nvSpPr>
        <p:spPr>
          <a:xfrm>
            <a:off x="914400" y="1428750"/>
            <a:ext cx="103632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650" b="1" spc="225">
                <a:solidFill>
                  <a:srgbClr val="08A6F6"/>
                </a:solidFill>
                <a:latin typeface="Arial"/>
                <a:ea typeface="Arial"/>
                <a:cs typeface="Arial"/>
              </a:rPr>
              <a:t>创客训练营 · 结题答辩</a:t>
            </a:r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5B26786-2B6D-4B98-BB0C-F5510F686156}"/>
              </a:ext>
            </a:extLst>
          </p:cNvPr>
          <p:cNvSpPr>
            <a:spLocks noGrp="1"/>
          </p:cNvSpPr>
          <p:nvPr/>
        </p:nvSpPr>
        <p:spPr>
          <a:xfrm>
            <a:off x="914400" y="1933575"/>
            <a:ext cx="10363200" cy="7905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4999"/>
              </a:lnSpc>
              <a:buNone/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串口调试助手 </a:t>
            </a:r>
            <a:r>
              <a:rPr sz="3150">
                <a:solidFill>
                  <a:srgbClr val="99BDED"/>
                </a:solidFill>
                <a:latin typeface="Arial"/>
                <a:ea typeface="Arial"/>
                <a:cs typeface="Arial"/>
              </a:rPr>
              <a:t>TUNER</a:t>
            </a:r>
            <a:endParaRPr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4A067FF-0A2E-44E6-9A36-76B54D75F5B8}"/>
              </a:ext>
            </a:extLst>
          </p:cNvPr>
          <p:cNvSpPr>
            <a:spLocks noGrp="1"/>
          </p:cNvSpPr>
          <p:nvPr/>
        </p:nvSpPr>
        <p:spPr>
          <a:xfrm>
            <a:off x="914400" y="2895600"/>
            <a:ext cx="103632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250">
                <a:solidFill>
                  <a:srgbClr val="C9D6E2"/>
                </a:solidFill>
                <a:latin typeface="Arial"/>
                <a:ea typeface="Arial"/>
                <a:cs typeface="Arial"/>
              </a:rPr>
              <a:t>AI 驱动的竞赛调参加速器</a:t>
            </a:r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B1C1F66-378C-48E0-9F1F-2AD46DC804B3}"/>
              </a:ext>
            </a:extLst>
          </p:cNvPr>
          <p:cNvSpPr>
            <a:spLocks noGrp="1"/>
          </p:cNvSpPr>
          <p:nvPr/>
        </p:nvSpPr>
        <p:spPr>
          <a:xfrm>
            <a:off x="914400" y="3600450"/>
            <a:ext cx="1238250" cy="38100"/>
          </a:xfrm>
          <a:prstGeom prst="rect">
            <a:avLst/>
          </a:prstGeom>
          <a:solidFill>
            <a:srgbClr val="08A6F6"/>
          </a:solidFill>
        </p:spPr>
        <p:txBody>
          <a:bodyPr/>
          <a:lstStyle/>
          <a:p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4BA0E08-A97D-4FB1-86D3-E80625837FE6}"/>
              </a:ext>
            </a:extLst>
          </p:cNvPr>
          <p:cNvSpPr>
            <a:spLocks noGrp="1"/>
          </p:cNvSpPr>
          <p:nvPr/>
        </p:nvSpPr>
        <p:spPr>
          <a:xfrm>
            <a:off x="914400" y="4000500"/>
            <a:ext cx="103632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950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“把最耗时的试错环节，用 AI 压掉”</a:t>
            </a: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B610603-4C2E-4A40-BA3A-3206D44EC710}"/>
              </a:ext>
            </a:extLst>
          </p:cNvPr>
          <p:cNvSpPr>
            <a:spLocks noGrp="1"/>
          </p:cNvSpPr>
          <p:nvPr/>
        </p:nvSpPr>
        <p:spPr>
          <a:xfrm>
            <a:off x="914400" y="4914900"/>
            <a:ext cx="2019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>
                <a:solidFill>
                  <a:srgbClr val="C9D6E2"/>
                </a:solidFill>
                <a:latin typeface="Arial"/>
                <a:ea typeface="Arial"/>
                <a:cs typeface="Arial"/>
              </a:rPr>
              <a:t>汇报团队：咕电子队</a:t>
            </a: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E17AB0F-ED81-4168-ADEB-C74EAB6AFECB}"/>
              </a:ext>
            </a:extLst>
          </p:cNvPr>
          <p:cNvSpPr>
            <a:spLocks noGrp="1"/>
          </p:cNvSpPr>
          <p:nvPr/>
        </p:nvSpPr>
        <p:spPr>
          <a:xfrm>
            <a:off x="914400" y="5219700"/>
            <a:ext cx="20193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>
                <a:solidFill>
                  <a:srgbClr val="808080"/>
                </a:solidFill>
                <a:latin typeface="Arial"/>
                <a:ea typeface="Arial"/>
                <a:cs typeface="Arial"/>
              </a:rPr>
              <a:t>刘双瑞 · 胡雨杨 · 吴程龙秀</a:t>
            </a:r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A8FB177-E6CA-458F-874C-E8BC74DA87F7}"/>
              </a:ext>
            </a:extLst>
          </p:cNvPr>
          <p:cNvSpPr>
            <a:spLocks noGrp="1"/>
          </p:cNvSpPr>
          <p:nvPr/>
        </p:nvSpPr>
        <p:spPr>
          <a:xfrm>
            <a:off x="9801225" y="5219700"/>
            <a:ext cx="14763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>
                <a:solidFill>
                  <a:srgbClr val="808080"/>
                </a:solidFill>
                <a:latin typeface="Arial"/>
                <a:ea typeface="Arial"/>
                <a:cs typeface="Arial"/>
              </a:rPr>
              <a:t>2026 年 8 月 · V2.1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0576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矩形 213">
            <a:extLst>
              <a:ext uri="{FF2B5EF4-FFF2-40B4-BE49-F238E27FC236}">
                <a16:creationId xmlns:a16="http://schemas.microsoft.com/office/drawing/2014/main" id="{742F604A-41B2-43A3-A49D-574DD9D003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15" name="文本框 214">
            <a:extLst>
              <a:ext uri="{FF2B5EF4-FFF2-40B4-BE49-F238E27FC236}">
                <a16:creationId xmlns:a16="http://schemas.microsoft.com/office/drawing/2014/main" id="{B4C9114E-B8C7-4353-B14B-B09C8324952B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1104900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汇报结构 · 九大能力模块全景</a:t>
            </a:r>
            <a:endParaRPr/>
          </a:p>
        </p:txBody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50E8BB6A-5C53-459B-A92E-0D7752A1BFFA}"/>
              </a:ext>
            </a:extLst>
          </p:cNvPr>
          <p:cNvSpPr>
            <a:spLocks noGrp="1"/>
          </p:cNvSpPr>
          <p:nvPr/>
        </p:nvSpPr>
        <p:spPr>
          <a:xfrm>
            <a:off x="571500" y="96202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217" name="文本框 216">
            <a:extLst>
              <a:ext uri="{FF2B5EF4-FFF2-40B4-BE49-F238E27FC236}">
                <a16:creationId xmlns:a16="http://schemas.microsoft.com/office/drawing/2014/main" id="{39D20BE5-8967-4D2A-8670-67A38DF82CE3}"/>
              </a:ext>
            </a:extLst>
          </p:cNvPr>
          <p:cNvSpPr>
            <a:spLocks noGrp="1"/>
          </p:cNvSpPr>
          <p:nvPr/>
        </p:nvSpPr>
        <p:spPr>
          <a:xfrm>
            <a:off x="571500" y="1257300"/>
            <a:ext cx="5143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550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01</a:t>
            </a:r>
            <a:endParaRPr/>
          </a:p>
        </p:txBody>
      </p:sp>
      <p:sp>
        <p:nvSpPr>
          <p:cNvPr id="218" name="任意多边形: 形状 217">
            <a:extLst>
              <a:ext uri="{FF2B5EF4-FFF2-40B4-BE49-F238E27FC236}">
                <a16:creationId xmlns:a16="http://schemas.microsoft.com/office/drawing/2014/main" id="{DC146B30-8216-4D3A-92F4-8F501666FB8D}"/>
              </a:ext>
            </a:extLst>
          </p:cNvPr>
          <p:cNvSpPr>
            <a:spLocks noGrp="1"/>
          </p:cNvSpPr>
          <p:nvPr/>
        </p:nvSpPr>
        <p:spPr>
          <a:xfrm>
            <a:off x="1257300" y="1200150"/>
            <a:ext cx="4629150" cy="495300"/>
          </a:xfrm>
          <a:custGeom>
            <a:avLst/>
            <a:gdLst/>
            <a:ahLst/>
            <a:cxnLst/>
            <a:rect l="0" t="0" r="0" b="0"/>
            <a:pathLst>
              <a:path w="486" h="52">
                <a:moveTo>
                  <a:pt x="0" y="0"/>
                </a:moveTo>
                <a:lnTo>
                  <a:pt x="2" y="0"/>
                </a:lnTo>
                <a:lnTo>
                  <a:pt x="2" y="52"/>
                </a:lnTo>
                <a:lnTo>
                  <a:pt x="0" y="52"/>
                </a:lnTo>
                <a:close/>
              </a:path>
            </a:pathLst>
          </a:custGeom>
          <a:solidFill>
            <a:srgbClr val="E7E6E6"/>
          </a:solidFill>
        </p:spPr>
        <p:txBody>
          <a:bodyPr/>
          <a:lstStyle/>
          <a:p>
            <a:endParaRPr/>
          </a:p>
        </p:txBody>
      </p:sp>
      <p:sp>
        <p:nvSpPr>
          <p:cNvPr id="219" name="文本框 218">
            <a:extLst>
              <a:ext uri="{FF2B5EF4-FFF2-40B4-BE49-F238E27FC236}">
                <a16:creationId xmlns:a16="http://schemas.microsoft.com/office/drawing/2014/main" id="{B3AF6BB7-C5A9-4F5D-99A8-C67B1B74966C}"/>
              </a:ext>
            </a:extLst>
          </p:cNvPr>
          <p:cNvSpPr>
            <a:spLocks noGrp="1"/>
          </p:cNvSpPr>
          <p:nvPr/>
        </p:nvSpPr>
        <p:spPr>
          <a:xfrm>
            <a:off x="1428750" y="1200150"/>
            <a:ext cx="44386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725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价值验证全景图</a:t>
            </a:r>
            <a:endParaRPr/>
          </a:p>
        </p:txBody>
      </p:sp>
      <p:sp>
        <p:nvSpPr>
          <p:cNvPr id="220" name="文本框 219">
            <a:extLst>
              <a:ext uri="{FF2B5EF4-FFF2-40B4-BE49-F238E27FC236}">
                <a16:creationId xmlns:a16="http://schemas.microsoft.com/office/drawing/2014/main" id="{79A8DAAF-3FD5-41E5-8086-5EC61D439D36}"/>
              </a:ext>
            </a:extLst>
          </p:cNvPr>
          <p:cNvSpPr>
            <a:spLocks noGrp="1"/>
          </p:cNvSpPr>
          <p:nvPr/>
        </p:nvSpPr>
        <p:spPr>
          <a:xfrm>
            <a:off x="1428750" y="1495425"/>
            <a:ext cx="44386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75">
                <a:solidFill>
                  <a:srgbClr val="808080"/>
                </a:solidFill>
                <a:latin typeface="Arial"/>
                <a:ea typeface="Arial"/>
                <a:cs typeface="Arial"/>
              </a:rPr>
              <a:t>三阶段动态仪表盘（选题→中期→结题）</a:t>
            </a:r>
            <a:endParaRPr/>
          </a:p>
        </p:txBody>
      </p:sp>
      <p:sp>
        <p:nvSpPr>
          <p:cNvPr id="221" name="文本框 220">
            <a:extLst>
              <a:ext uri="{FF2B5EF4-FFF2-40B4-BE49-F238E27FC236}">
                <a16:creationId xmlns:a16="http://schemas.microsoft.com/office/drawing/2014/main" id="{E2B38FEE-73B4-44E1-AE3B-553FE7683299}"/>
              </a:ext>
            </a:extLst>
          </p:cNvPr>
          <p:cNvSpPr>
            <a:spLocks noGrp="1"/>
          </p:cNvSpPr>
          <p:nvPr/>
        </p:nvSpPr>
        <p:spPr>
          <a:xfrm>
            <a:off x="571500" y="1943100"/>
            <a:ext cx="5143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550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02</a:t>
            </a:r>
            <a:endParaRPr/>
          </a:p>
        </p:txBody>
      </p:sp>
      <p:sp>
        <p:nvSpPr>
          <p:cNvPr id="222" name="任意多边形: 形状 221">
            <a:extLst>
              <a:ext uri="{FF2B5EF4-FFF2-40B4-BE49-F238E27FC236}">
                <a16:creationId xmlns:a16="http://schemas.microsoft.com/office/drawing/2014/main" id="{1C956C7D-0231-4A86-898E-C923B0DA3F7A}"/>
              </a:ext>
            </a:extLst>
          </p:cNvPr>
          <p:cNvSpPr>
            <a:spLocks noGrp="1"/>
          </p:cNvSpPr>
          <p:nvPr/>
        </p:nvSpPr>
        <p:spPr>
          <a:xfrm>
            <a:off x="1257300" y="1885950"/>
            <a:ext cx="4629150" cy="495300"/>
          </a:xfrm>
          <a:custGeom>
            <a:avLst/>
            <a:gdLst/>
            <a:ahLst/>
            <a:cxnLst/>
            <a:rect l="0" t="0" r="0" b="0"/>
            <a:pathLst>
              <a:path w="486" h="52">
                <a:moveTo>
                  <a:pt x="0" y="0"/>
                </a:moveTo>
                <a:lnTo>
                  <a:pt x="2" y="0"/>
                </a:lnTo>
                <a:lnTo>
                  <a:pt x="2" y="52"/>
                </a:lnTo>
                <a:lnTo>
                  <a:pt x="0" y="52"/>
                </a:lnTo>
                <a:close/>
              </a:path>
            </a:pathLst>
          </a:custGeom>
          <a:solidFill>
            <a:srgbClr val="E7E6E6"/>
          </a:solidFill>
        </p:spPr>
        <p:txBody>
          <a:bodyPr/>
          <a:lstStyle/>
          <a:p>
            <a:endParaRPr/>
          </a:p>
        </p:txBody>
      </p:sp>
      <p:sp>
        <p:nvSpPr>
          <p:cNvPr id="223" name="文本框 222">
            <a:extLst>
              <a:ext uri="{FF2B5EF4-FFF2-40B4-BE49-F238E27FC236}">
                <a16:creationId xmlns:a16="http://schemas.microsoft.com/office/drawing/2014/main" id="{D0108873-AC80-4CC6-837F-ED11A98EE102}"/>
              </a:ext>
            </a:extLst>
          </p:cNvPr>
          <p:cNvSpPr>
            <a:spLocks noGrp="1"/>
          </p:cNvSpPr>
          <p:nvPr/>
        </p:nvSpPr>
        <p:spPr>
          <a:xfrm>
            <a:off x="1428750" y="1885950"/>
            <a:ext cx="44386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725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主动性 · 破局行动</a:t>
            </a:r>
            <a:endParaRPr/>
          </a:p>
        </p:txBody>
      </p:sp>
      <p:sp>
        <p:nvSpPr>
          <p:cNvPr id="224" name="文本框 223">
            <a:extLst>
              <a:ext uri="{FF2B5EF4-FFF2-40B4-BE49-F238E27FC236}">
                <a16:creationId xmlns:a16="http://schemas.microsoft.com/office/drawing/2014/main" id="{9BF91F5E-AA1F-422F-909B-85954E08045C}"/>
              </a:ext>
            </a:extLst>
          </p:cNvPr>
          <p:cNvSpPr>
            <a:spLocks noGrp="1"/>
          </p:cNvSpPr>
          <p:nvPr/>
        </p:nvSpPr>
        <p:spPr>
          <a:xfrm>
            <a:off x="1428750" y="2181225"/>
            <a:ext cx="44386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75">
                <a:solidFill>
                  <a:srgbClr val="808080"/>
                </a:solidFill>
                <a:latin typeface="Arial"/>
                <a:ea typeface="Arial"/>
                <a:cs typeface="Arial"/>
              </a:rPr>
              <a:t>“智能体化”攻坚与确定性交付</a:t>
            </a:r>
            <a:endParaRPr/>
          </a:p>
        </p:txBody>
      </p:sp>
      <p:sp>
        <p:nvSpPr>
          <p:cNvPr id="225" name="文本框 224">
            <a:extLst>
              <a:ext uri="{FF2B5EF4-FFF2-40B4-BE49-F238E27FC236}">
                <a16:creationId xmlns:a16="http://schemas.microsoft.com/office/drawing/2014/main" id="{93506895-9A4B-49CE-9DA5-8D4F541D1C22}"/>
              </a:ext>
            </a:extLst>
          </p:cNvPr>
          <p:cNvSpPr>
            <a:spLocks noGrp="1"/>
          </p:cNvSpPr>
          <p:nvPr/>
        </p:nvSpPr>
        <p:spPr>
          <a:xfrm>
            <a:off x="571500" y="2628900"/>
            <a:ext cx="5143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550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03</a:t>
            </a:r>
            <a:endParaRPr/>
          </a:p>
        </p:txBody>
      </p:sp>
      <p:sp>
        <p:nvSpPr>
          <p:cNvPr id="226" name="任意多边形: 形状 225">
            <a:extLst>
              <a:ext uri="{FF2B5EF4-FFF2-40B4-BE49-F238E27FC236}">
                <a16:creationId xmlns:a16="http://schemas.microsoft.com/office/drawing/2014/main" id="{6A188E68-2427-4067-9FAE-2A0627E01FBF}"/>
              </a:ext>
            </a:extLst>
          </p:cNvPr>
          <p:cNvSpPr>
            <a:spLocks noGrp="1"/>
          </p:cNvSpPr>
          <p:nvPr/>
        </p:nvSpPr>
        <p:spPr>
          <a:xfrm>
            <a:off x="1257300" y="2571750"/>
            <a:ext cx="4629150" cy="495300"/>
          </a:xfrm>
          <a:custGeom>
            <a:avLst/>
            <a:gdLst/>
            <a:ahLst/>
            <a:cxnLst/>
            <a:rect l="0" t="0" r="0" b="0"/>
            <a:pathLst>
              <a:path w="486" h="52">
                <a:moveTo>
                  <a:pt x="0" y="0"/>
                </a:moveTo>
                <a:lnTo>
                  <a:pt x="2" y="0"/>
                </a:lnTo>
                <a:lnTo>
                  <a:pt x="2" y="52"/>
                </a:lnTo>
                <a:lnTo>
                  <a:pt x="0" y="52"/>
                </a:lnTo>
                <a:close/>
              </a:path>
            </a:pathLst>
          </a:custGeom>
          <a:solidFill>
            <a:srgbClr val="E7E6E6"/>
          </a:solidFill>
        </p:spPr>
        <p:txBody>
          <a:bodyPr/>
          <a:lstStyle/>
          <a:p>
            <a:endParaRPr/>
          </a:p>
        </p:txBody>
      </p:sp>
      <p:sp>
        <p:nvSpPr>
          <p:cNvPr id="227" name="文本框 226">
            <a:extLst>
              <a:ext uri="{FF2B5EF4-FFF2-40B4-BE49-F238E27FC236}">
                <a16:creationId xmlns:a16="http://schemas.microsoft.com/office/drawing/2014/main" id="{CDF4868B-C32F-47C6-AFFD-EE94EAF4ADA1}"/>
              </a:ext>
            </a:extLst>
          </p:cNvPr>
          <p:cNvSpPr>
            <a:spLocks noGrp="1"/>
          </p:cNvSpPr>
          <p:nvPr/>
        </p:nvSpPr>
        <p:spPr>
          <a:xfrm>
            <a:off x="1428750" y="2571750"/>
            <a:ext cx="44386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725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应对不确定性</a:t>
            </a:r>
            <a:endParaRPr/>
          </a:p>
        </p:txBody>
      </p:sp>
      <p:sp>
        <p:nvSpPr>
          <p:cNvPr id="228" name="文本框 227">
            <a:extLst>
              <a:ext uri="{FF2B5EF4-FFF2-40B4-BE49-F238E27FC236}">
                <a16:creationId xmlns:a16="http://schemas.microsoft.com/office/drawing/2014/main" id="{463BC9B0-D5BE-448F-9651-EB98E2EB0C96}"/>
              </a:ext>
            </a:extLst>
          </p:cNvPr>
          <p:cNvSpPr>
            <a:spLocks noGrp="1"/>
          </p:cNvSpPr>
          <p:nvPr/>
        </p:nvSpPr>
        <p:spPr>
          <a:xfrm>
            <a:off x="1428750" y="2867025"/>
            <a:ext cx="44386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75">
                <a:solidFill>
                  <a:srgbClr val="808080"/>
                </a:solidFill>
                <a:latin typeface="Arial"/>
                <a:ea typeface="Arial"/>
                <a:cs typeface="Arial"/>
              </a:rPr>
              <a:t>风险熔断机制与降级路径</a:t>
            </a:r>
            <a:endParaRPr/>
          </a:p>
        </p:txBody>
      </p:sp>
      <p:sp>
        <p:nvSpPr>
          <p:cNvPr id="229" name="文本框 228">
            <a:extLst>
              <a:ext uri="{FF2B5EF4-FFF2-40B4-BE49-F238E27FC236}">
                <a16:creationId xmlns:a16="http://schemas.microsoft.com/office/drawing/2014/main" id="{1CD85993-B532-4B20-AD9B-CA7ED1D31D4A}"/>
              </a:ext>
            </a:extLst>
          </p:cNvPr>
          <p:cNvSpPr>
            <a:spLocks noGrp="1"/>
          </p:cNvSpPr>
          <p:nvPr/>
        </p:nvSpPr>
        <p:spPr>
          <a:xfrm>
            <a:off x="571500" y="3314700"/>
            <a:ext cx="5143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550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04</a:t>
            </a:r>
            <a:endParaRPr/>
          </a:p>
        </p:txBody>
      </p:sp>
      <p:sp>
        <p:nvSpPr>
          <p:cNvPr id="230" name="任意多边形: 形状 229">
            <a:extLst>
              <a:ext uri="{FF2B5EF4-FFF2-40B4-BE49-F238E27FC236}">
                <a16:creationId xmlns:a16="http://schemas.microsoft.com/office/drawing/2014/main" id="{EE7FA221-970C-42AF-BF1C-060660D8EF61}"/>
              </a:ext>
            </a:extLst>
          </p:cNvPr>
          <p:cNvSpPr>
            <a:spLocks noGrp="1"/>
          </p:cNvSpPr>
          <p:nvPr/>
        </p:nvSpPr>
        <p:spPr>
          <a:xfrm>
            <a:off x="1257300" y="3257550"/>
            <a:ext cx="4629150" cy="495300"/>
          </a:xfrm>
          <a:custGeom>
            <a:avLst/>
            <a:gdLst/>
            <a:ahLst/>
            <a:cxnLst/>
            <a:rect l="0" t="0" r="0" b="0"/>
            <a:pathLst>
              <a:path w="486" h="52">
                <a:moveTo>
                  <a:pt x="0" y="0"/>
                </a:moveTo>
                <a:lnTo>
                  <a:pt x="2" y="0"/>
                </a:lnTo>
                <a:lnTo>
                  <a:pt x="2" y="52"/>
                </a:lnTo>
                <a:lnTo>
                  <a:pt x="0" y="52"/>
                </a:lnTo>
                <a:close/>
              </a:path>
            </a:pathLst>
          </a:custGeom>
          <a:solidFill>
            <a:srgbClr val="E7E6E6"/>
          </a:solidFill>
        </p:spPr>
        <p:txBody>
          <a:bodyPr/>
          <a:lstStyle/>
          <a:p>
            <a:endParaRPr/>
          </a:p>
        </p:txBody>
      </p:sp>
      <p:sp>
        <p:nvSpPr>
          <p:cNvPr id="231" name="文本框 230">
            <a:extLst>
              <a:ext uri="{FF2B5EF4-FFF2-40B4-BE49-F238E27FC236}">
                <a16:creationId xmlns:a16="http://schemas.microsoft.com/office/drawing/2014/main" id="{AA4C88C9-CE3F-43F1-B479-68F0863CA85B}"/>
              </a:ext>
            </a:extLst>
          </p:cNvPr>
          <p:cNvSpPr>
            <a:spLocks noGrp="1"/>
          </p:cNvSpPr>
          <p:nvPr/>
        </p:nvSpPr>
        <p:spPr>
          <a:xfrm>
            <a:off x="1428750" y="3257550"/>
            <a:ext cx="44386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725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体验式学习</a:t>
            </a:r>
            <a:endParaRPr/>
          </a:p>
        </p:txBody>
      </p:sp>
      <p:sp>
        <p:nvSpPr>
          <p:cNvPr id="232" name="文本框 231">
            <a:extLst>
              <a:ext uri="{FF2B5EF4-FFF2-40B4-BE49-F238E27FC236}">
                <a16:creationId xmlns:a16="http://schemas.microsoft.com/office/drawing/2014/main" id="{02694AB0-860F-4BFD-A96F-C28AA994269B}"/>
              </a:ext>
            </a:extLst>
          </p:cNvPr>
          <p:cNvSpPr>
            <a:spLocks noGrp="1"/>
          </p:cNvSpPr>
          <p:nvPr/>
        </p:nvSpPr>
        <p:spPr>
          <a:xfrm>
            <a:off x="1428750" y="3552825"/>
            <a:ext cx="44386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75">
                <a:solidFill>
                  <a:srgbClr val="808080"/>
                </a:solidFill>
                <a:latin typeface="Arial"/>
                <a:ea typeface="Arial"/>
                <a:cs typeface="Arial"/>
              </a:rPr>
              <a:t>认知迭代图谱与两次失败</a:t>
            </a:r>
            <a:endParaRPr/>
          </a:p>
        </p:txBody>
      </p:sp>
      <p:sp>
        <p:nvSpPr>
          <p:cNvPr id="233" name="文本框 232">
            <a:extLst>
              <a:ext uri="{FF2B5EF4-FFF2-40B4-BE49-F238E27FC236}">
                <a16:creationId xmlns:a16="http://schemas.microsoft.com/office/drawing/2014/main" id="{815053E6-6A9F-4645-8F72-52E860C173B7}"/>
              </a:ext>
            </a:extLst>
          </p:cNvPr>
          <p:cNvSpPr>
            <a:spLocks noGrp="1"/>
          </p:cNvSpPr>
          <p:nvPr/>
        </p:nvSpPr>
        <p:spPr>
          <a:xfrm>
            <a:off x="571500" y="4000500"/>
            <a:ext cx="5143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550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05</a:t>
            </a:r>
            <a:endParaRPr/>
          </a:p>
        </p:txBody>
      </p:sp>
      <p:sp>
        <p:nvSpPr>
          <p:cNvPr id="234" name="任意多边形: 形状 233">
            <a:extLst>
              <a:ext uri="{FF2B5EF4-FFF2-40B4-BE49-F238E27FC236}">
                <a16:creationId xmlns:a16="http://schemas.microsoft.com/office/drawing/2014/main" id="{BE60CAAE-C684-4A21-B267-6B5AB647F29E}"/>
              </a:ext>
            </a:extLst>
          </p:cNvPr>
          <p:cNvSpPr>
            <a:spLocks noGrp="1"/>
          </p:cNvSpPr>
          <p:nvPr/>
        </p:nvSpPr>
        <p:spPr>
          <a:xfrm>
            <a:off x="1257300" y="3943350"/>
            <a:ext cx="4629150" cy="495300"/>
          </a:xfrm>
          <a:custGeom>
            <a:avLst/>
            <a:gdLst/>
            <a:ahLst/>
            <a:cxnLst/>
            <a:rect l="0" t="0" r="0" b="0"/>
            <a:pathLst>
              <a:path w="486" h="52">
                <a:moveTo>
                  <a:pt x="0" y="0"/>
                </a:moveTo>
                <a:lnTo>
                  <a:pt x="2" y="0"/>
                </a:lnTo>
                <a:lnTo>
                  <a:pt x="2" y="52"/>
                </a:lnTo>
                <a:lnTo>
                  <a:pt x="0" y="52"/>
                </a:lnTo>
                <a:close/>
              </a:path>
            </a:pathLst>
          </a:custGeom>
          <a:solidFill>
            <a:srgbClr val="E7E6E6"/>
          </a:solidFill>
        </p:spPr>
        <p:txBody>
          <a:bodyPr/>
          <a:lstStyle/>
          <a:p>
            <a:endParaRPr/>
          </a:p>
        </p:txBody>
      </p:sp>
      <p:sp>
        <p:nvSpPr>
          <p:cNvPr id="235" name="文本框 234">
            <a:extLst>
              <a:ext uri="{FF2B5EF4-FFF2-40B4-BE49-F238E27FC236}">
                <a16:creationId xmlns:a16="http://schemas.microsoft.com/office/drawing/2014/main" id="{B597F4FA-0BDB-4C98-844F-F2B78A2C00D5}"/>
              </a:ext>
            </a:extLst>
          </p:cNvPr>
          <p:cNvSpPr>
            <a:spLocks noGrp="1"/>
          </p:cNvSpPr>
          <p:nvPr/>
        </p:nvSpPr>
        <p:spPr>
          <a:xfrm>
            <a:off x="1428750" y="3943350"/>
            <a:ext cx="44386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725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合作能力</a:t>
            </a:r>
            <a:endParaRPr/>
          </a:p>
        </p:txBody>
      </p:sp>
      <p:sp>
        <p:nvSpPr>
          <p:cNvPr id="236" name="文本框 235">
            <a:extLst>
              <a:ext uri="{FF2B5EF4-FFF2-40B4-BE49-F238E27FC236}">
                <a16:creationId xmlns:a16="http://schemas.microsoft.com/office/drawing/2014/main" id="{F11D8FA2-E604-4572-B7DF-AB6A43C722F9}"/>
              </a:ext>
            </a:extLst>
          </p:cNvPr>
          <p:cNvSpPr>
            <a:spLocks noGrp="1"/>
          </p:cNvSpPr>
          <p:nvPr/>
        </p:nvSpPr>
        <p:spPr>
          <a:xfrm>
            <a:off x="1428750" y="4238625"/>
            <a:ext cx="44386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75">
                <a:solidFill>
                  <a:srgbClr val="808080"/>
                </a:solidFill>
                <a:latin typeface="Arial"/>
                <a:ea typeface="Arial"/>
                <a:cs typeface="Arial"/>
              </a:rPr>
              <a:t>RACI-V 分工与敏捷协作看板</a:t>
            </a:r>
            <a:endParaRPr/>
          </a:p>
        </p:txBody>
      </p:sp>
      <p:sp>
        <p:nvSpPr>
          <p:cNvPr id="237" name="文本框 236">
            <a:extLst>
              <a:ext uri="{FF2B5EF4-FFF2-40B4-BE49-F238E27FC236}">
                <a16:creationId xmlns:a16="http://schemas.microsoft.com/office/drawing/2014/main" id="{1D19E405-9FE6-4364-ADF3-D506F198A44C}"/>
              </a:ext>
            </a:extLst>
          </p:cNvPr>
          <p:cNvSpPr>
            <a:spLocks noGrp="1"/>
          </p:cNvSpPr>
          <p:nvPr/>
        </p:nvSpPr>
        <p:spPr>
          <a:xfrm>
            <a:off x="6324600" y="1257300"/>
            <a:ext cx="5143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550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06</a:t>
            </a:r>
            <a:endParaRPr/>
          </a:p>
        </p:txBody>
      </p:sp>
      <p:sp>
        <p:nvSpPr>
          <p:cNvPr id="238" name="任意多边形: 形状 237">
            <a:extLst>
              <a:ext uri="{FF2B5EF4-FFF2-40B4-BE49-F238E27FC236}">
                <a16:creationId xmlns:a16="http://schemas.microsoft.com/office/drawing/2014/main" id="{2CE9B225-9AAE-4128-A4D9-4E3A7FF92774}"/>
              </a:ext>
            </a:extLst>
          </p:cNvPr>
          <p:cNvSpPr>
            <a:spLocks noGrp="1"/>
          </p:cNvSpPr>
          <p:nvPr/>
        </p:nvSpPr>
        <p:spPr>
          <a:xfrm>
            <a:off x="7010400" y="1200150"/>
            <a:ext cx="4629150" cy="495300"/>
          </a:xfrm>
          <a:custGeom>
            <a:avLst/>
            <a:gdLst/>
            <a:ahLst/>
            <a:cxnLst/>
            <a:rect l="0" t="0" r="0" b="0"/>
            <a:pathLst>
              <a:path w="486" h="52">
                <a:moveTo>
                  <a:pt x="0" y="0"/>
                </a:moveTo>
                <a:lnTo>
                  <a:pt x="2" y="0"/>
                </a:lnTo>
                <a:lnTo>
                  <a:pt x="2" y="52"/>
                </a:lnTo>
                <a:lnTo>
                  <a:pt x="0" y="52"/>
                </a:lnTo>
                <a:close/>
              </a:path>
            </a:pathLst>
          </a:custGeom>
          <a:solidFill>
            <a:srgbClr val="E7E6E6"/>
          </a:solidFill>
        </p:spPr>
        <p:txBody>
          <a:bodyPr/>
          <a:lstStyle/>
          <a:p>
            <a:endParaRPr/>
          </a:p>
        </p:txBody>
      </p:sp>
      <p:sp>
        <p:nvSpPr>
          <p:cNvPr id="239" name="文本框 238">
            <a:extLst>
              <a:ext uri="{FF2B5EF4-FFF2-40B4-BE49-F238E27FC236}">
                <a16:creationId xmlns:a16="http://schemas.microsoft.com/office/drawing/2014/main" id="{E8F599B0-2799-45D1-A75E-08940BC81C33}"/>
              </a:ext>
            </a:extLst>
          </p:cNvPr>
          <p:cNvSpPr>
            <a:spLocks noGrp="1"/>
          </p:cNvSpPr>
          <p:nvPr/>
        </p:nvSpPr>
        <p:spPr>
          <a:xfrm>
            <a:off x="7181850" y="1200150"/>
            <a:ext cx="44386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725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资源杠杆率</a:t>
            </a:r>
            <a:endParaRPr/>
          </a:p>
        </p:txBody>
      </p:sp>
      <p:sp>
        <p:nvSpPr>
          <p:cNvPr id="240" name="文本框 239">
            <a:extLst>
              <a:ext uri="{FF2B5EF4-FFF2-40B4-BE49-F238E27FC236}">
                <a16:creationId xmlns:a16="http://schemas.microsoft.com/office/drawing/2014/main" id="{B99F62E3-4D14-4A93-9631-ADDB31B66A7D}"/>
              </a:ext>
            </a:extLst>
          </p:cNvPr>
          <p:cNvSpPr>
            <a:spLocks noGrp="1"/>
          </p:cNvSpPr>
          <p:nvPr/>
        </p:nvSpPr>
        <p:spPr>
          <a:xfrm>
            <a:off x="7181850" y="1495425"/>
            <a:ext cx="44386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75">
                <a:solidFill>
                  <a:srgbClr val="808080"/>
                </a:solidFill>
                <a:latin typeface="Arial"/>
                <a:ea typeface="Arial"/>
                <a:cs typeface="Arial"/>
              </a:rPr>
              <a:t>¥350 投入撬动 v1.1.0 产出</a:t>
            </a:r>
            <a:endParaRPr/>
          </a:p>
        </p:txBody>
      </p:sp>
      <p:sp>
        <p:nvSpPr>
          <p:cNvPr id="241" name="文本框 240">
            <a:extLst>
              <a:ext uri="{FF2B5EF4-FFF2-40B4-BE49-F238E27FC236}">
                <a16:creationId xmlns:a16="http://schemas.microsoft.com/office/drawing/2014/main" id="{65FB4C2C-C8CB-4A25-87F0-B22AF08AAD63}"/>
              </a:ext>
            </a:extLst>
          </p:cNvPr>
          <p:cNvSpPr>
            <a:spLocks noGrp="1"/>
          </p:cNvSpPr>
          <p:nvPr/>
        </p:nvSpPr>
        <p:spPr>
          <a:xfrm>
            <a:off x="6324600" y="1943100"/>
            <a:ext cx="5143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550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07</a:t>
            </a:r>
            <a:endParaRPr/>
          </a:p>
        </p:txBody>
      </p:sp>
      <p:sp>
        <p:nvSpPr>
          <p:cNvPr id="242" name="任意多边形: 形状 241">
            <a:extLst>
              <a:ext uri="{FF2B5EF4-FFF2-40B4-BE49-F238E27FC236}">
                <a16:creationId xmlns:a16="http://schemas.microsoft.com/office/drawing/2014/main" id="{5D20202D-B95A-4B1B-9F22-EF3E1A2FE897}"/>
              </a:ext>
            </a:extLst>
          </p:cNvPr>
          <p:cNvSpPr>
            <a:spLocks noGrp="1"/>
          </p:cNvSpPr>
          <p:nvPr/>
        </p:nvSpPr>
        <p:spPr>
          <a:xfrm>
            <a:off x="7010400" y="1885950"/>
            <a:ext cx="4629150" cy="495300"/>
          </a:xfrm>
          <a:custGeom>
            <a:avLst/>
            <a:gdLst/>
            <a:ahLst/>
            <a:cxnLst/>
            <a:rect l="0" t="0" r="0" b="0"/>
            <a:pathLst>
              <a:path w="486" h="52">
                <a:moveTo>
                  <a:pt x="0" y="0"/>
                </a:moveTo>
                <a:lnTo>
                  <a:pt x="2" y="0"/>
                </a:lnTo>
                <a:lnTo>
                  <a:pt x="2" y="52"/>
                </a:lnTo>
                <a:lnTo>
                  <a:pt x="0" y="52"/>
                </a:lnTo>
                <a:close/>
              </a:path>
            </a:pathLst>
          </a:custGeom>
          <a:solidFill>
            <a:srgbClr val="E7E6E6"/>
          </a:solidFill>
        </p:spPr>
        <p:txBody>
          <a:bodyPr/>
          <a:lstStyle/>
          <a:p>
            <a:endParaRPr/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E0CA481F-A647-44FC-AA3F-2B3E31570ED8}"/>
              </a:ext>
            </a:extLst>
          </p:cNvPr>
          <p:cNvSpPr>
            <a:spLocks noGrp="1"/>
          </p:cNvSpPr>
          <p:nvPr/>
        </p:nvSpPr>
        <p:spPr>
          <a:xfrm>
            <a:off x="7181850" y="1885950"/>
            <a:ext cx="44386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725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可持续转化</a:t>
            </a:r>
            <a:endParaRPr/>
          </a:p>
        </p:txBody>
      </p:sp>
      <p:sp>
        <p:nvSpPr>
          <p:cNvPr id="244" name="文本框 243">
            <a:extLst>
              <a:ext uri="{FF2B5EF4-FFF2-40B4-BE49-F238E27FC236}">
                <a16:creationId xmlns:a16="http://schemas.microsoft.com/office/drawing/2014/main" id="{CF021DBC-0688-4A47-87CE-C3B508ACA1A2}"/>
              </a:ext>
            </a:extLst>
          </p:cNvPr>
          <p:cNvSpPr>
            <a:spLocks noGrp="1"/>
          </p:cNvSpPr>
          <p:nvPr/>
        </p:nvSpPr>
        <p:spPr>
          <a:xfrm>
            <a:off x="7181850" y="2181225"/>
            <a:ext cx="44386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75">
                <a:solidFill>
                  <a:srgbClr val="808080"/>
                </a:solidFill>
                <a:latin typeface="Arial"/>
                <a:ea typeface="Arial"/>
                <a:cs typeface="Arial"/>
              </a:rPr>
              <a:t>真实硬件闭环 + 开源社区路线</a:t>
            </a:r>
            <a:endParaRPr/>
          </a:p>
        </p:txBody>
      </p:sp>
      <p:sp>
        <p:nvSpPr>
          <p:cNvPr id="245" name="文本框 244">
            <a:extLst>
              <a:ext uri="{FF2B5EF4-FFF2-40B4-BE49-F238E27FC236}">
                <a16:creationId xmlns:a16="http://schemas.microsoft.com/office/drawing/2014/main" id="{88A93926-F432-4F6D-8290-2361CC851BF6}"/>
              </a:ext>
            </a:extLst>
          </p:cNvPr>
          <p:cNvSpPr>
            <a:spLocks noGrp="1"/>
          </p:cNvSpPr>
          <p:nvPr/>
        </p:nvSpPr>
        <p:spPr>
          <a:xfrm>
            <a:off x="6324600" y="2628900"/>
            <a:ext cx="5143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550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08</a:t>
            </a:r>
            <a:endParaRPr/>
          </a:p>
        </p:txBody>
      </p:sp>
      <p:sp>
        <p:nvSpPr>
          <p:cNvPr id="246" name="任意多边形: 形状 245">
            <a:extLst>
              <a:ext uri="{FF2B5EF4-FFF2-40B4-BE49-F238E27FC236}">
                <a16:creationId xmlns:a16="http://schemas.microsoft.com/office/drawing/2014/main" id="{E341711C-F835-4D6A-8FDA-4A4D2EC7F28D}"/>
              </a:ext>
            </a:extLst>
          </p:cNvPr>
          <p:cNvSpPr>
            <a:spLocks noGrp="1"/>
          </p:cNvSpPr>
          <p:nvPr/>
        </p:nvSpPr>
        <p:spPr>
          <a:xfrm>
            <a:off x="7010400" y="2571750"/>
            <a:ext cx="4629150" cy="495300"/>
          </a:xfrm>
          <a:custGeom>
            <a:avLst/>
            <a:gdLst/>
            <a:ahLst/>
            <a:cxnLst/>
            <a:rect l="0" t="0" r="0" b="0"/>
            <a:pathLst>
              <a:path w="486" h="52">
                <a:moveTo>
                  <a:pt x="0" y="0"/>
                </a:moveTo>
                <a:lnTo>
                  <a:pt x="2" y="0"/>
                </a:lnTo>
                <a:lnTo>
                  <a:pt x="2" y="52"/>
                </a:lnTo>
                <a:lnTo>
                  <a:pt x="0" y="52"/>
                </a:lnTo>
                <a:close/>
              </a:path>
            </a:pathLst>
          </a:custGeom>
          <a:solidFill>
            <a:srgbClr val="E7E6E6"/>
          </a:solidFill>
        </p:spPr>
        <p:txBody>
          <a:bodyPr/>
          <a:lstStyle/>
          <a:p>
            <a:endParaRPr/>
          </a:p>
        </p:txBody>
      </p:sp>
      <p:sp>
        <p:nvSpPr>
          <p:cNvPr id="247" name="文本框 246">
            <a:extLst>
              <a:ext uri="{FF2B5EF4-FFF2-40B4-BE49-F238E27FC236}">
                <a16:creationId xmlns:a16="http://schemas.microsoft.com/office/drawing/2014/main" id="{E3A56A64-7294-4C34-AB85-A8CACDA8BFED}"/>
              </a:ext>
            </a:extLst>
          </p:cNvPr>
          <p:cNvSpPr>
            <a:spLocks noGrp="1"/>
          </p:cNvSpPr>
          <p:nvPr/>
        </p:nvSpPr>
        <p:spPr>
          <a:xfrm>
            <a:off x="7181850" y="2571750"/>
            <a:ext cx="44386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725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三阶问答预判</a:t>
            </a:r>
            <a:endParaRPr/>
          </a:p>
        </p:txBody>
      </p:sp>
      <p:sp>
        <p:nvSpPr>
          <p:cNvPr id="248" name="文本框 247">
            <a:extLst>
              <a:ext uri="{FF2B5EF4-FFF2-40B4-BE49-F238E27FC236}">
                <a16:creationId xmlns:a16="http://schemas.microsoft.com/office/drawing/2014/main" id="{1850379B-BD6E-4141-8EC6-3950665C7686}"/>
              </a:ext>
            </a:extLst>
          </p:cNvPr>
          <p:cNvSpPr>
            <a:spLocks noGrp="1"/>
          </p:cNvSpPr>
          <p:nvPr/>
        </p:nvSpPr>
        <p:spPr>
          <a:xfrm>
            <a:off x="7181850" y="2867025"/>
            <a:ext cx="44386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75">
                <a:solidFill>
                  <a:srgbClr val="808080"/>
                </a:solidFill>
                <a:latin typeface="Arial"/>
                <a:ea typeface="Arial"/>
                <a:cs typeface="Arial"/>
              </a:rPr>
              <a:t>直面 3 个真实薄弱环节的话术</a:t>
            </a:r>
            <a:endParaRPr/>
          </a:p>
        </p:txBody>
      </p:sp>
      <p:sp>
        <p:nvSpPr>
          <p:cNvPr id="249" name="文本框 248">
            <a:extLst>
              <a:ext uri="{FF2B5EF4-FFF2-40B4-BE49-F238E27FC236}">
                <a16:creationId xmlns:a16="http://schemas.microsoft.com/office/drawing/2014/main" id="{CE9862B1-B201-49D4-882A-F00DB5DC1773}"/>
              </a:ext>
            </a:extLst>
          </p:cNvPr>
          <p:cNvSpPr>
            <a:spLocks noGrp="1"/>
          </p:cNvSpPr>
          <p:nvPr/>
        </p:nvSpPr>
        <p:spPr>
          <a:xfrm>
            <a:off x="6324600" y="3314700"/>
            <a:ext cx="5143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550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09</a:t>
            </a:r>
            <a:endParaRPr/>
          </a:p>
        </p:txBody>
      </p:sp>
      <p:sp>
        <p:nvSpPr>
          <p:cNvPr id="250" name="任意多边形: 形状 249">
            <a:extLst>
              <a:ext uri="{FF2B5EF4-FFF2-40B4-BE49-F238E27FC236}">
                <a16:creationId xmlns:a16="http://schemas.microsoft.com/office/drawing/2014/main" id="{AC125A86-EA12-4925-8609-EE23D15B8C77}"/>
              </a:ext>
            </a:extLst>
          </p:cNvPr>
          <p:cNvSpPr>
            <a:spLocks noGrp="1"/>
          </p:cNvSpPr>
          <p:nvPr/>
        </p:nvSpPr>
        <p:spPr>
          <a:xfrm>
            <a:off x="7010400" y="3257550"/>
            <a:ext cx="4629150" cy="495300"/>
          </a:xfrm>
          <a:custGeom>
            <a:avLst/>
            <a:gdLst/>
            <a:ahLst/>
            <a:cxnLst/>
            <a:rect l="0" t="0" r="0" b="0"/>
            <a:pathLst>
              <a:path w="486" h="52">
                <a:moveTo>
                  <a:pt x="0" y="0"/>
                </a:moveTo>
                <a:lnTo>
                  <a:pt x="2" y="0"/>
                </a:lnTo>
                <a:lnTo>
                  <a:pt x="2" y="52"/>
                </a:lnTo>
                <a:lnTo>
                  <a:pt x="0" y="52"/>
                </a:lnTo>
                <a:close/>
              </a:path>
            </a:pathLst>
          </a:custGeom>
          <a:solidFill>
            <a:srgbClr val="E7E6E6"/>
          </a:solidFill>
        </p:spPr>
        <p:txBody>
          <a:bodyPr/>
          <a:lstStyle/>
          <a:p>
            <a:endParaRPr/>
          </a:p>
        </p:txBody>
      </p:sp>
      <p:sp>
        <p:nvSpPr>
          <p:cNvPr id="251" name="文本框 250">
            <a:extLst>
              <a:ext uri="{FF2B5EF4-FFF2-40B4-BE49-F238E27FC236}">
                <a16:creationId xmlns:a16="http://schemas.microsoft.com/office/drawing/2014/main" id="{8D390623-0ABC-4533-824F-B15F8D0BAC86}"/>
              </a:ext>
            </a:extLst>
          </p:cNvPr>
          <p:cNvSpPr>
            <a:spLocks noGrp="1"/>
          </p:cNvSpPr>
          <p:nvPr/>
        </p:nvSpPr>
        <p:spPr>
          <a:xfrm>
            <a:off x="7181850" y="3257550"/>
            <a:ext cx="44386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725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核心证据索引</a:t>
            </a:r>
            <a:endParaRPr/>
          </a:p>
        </p:txBody>
      </p:sp>
      <p:sp>
        <p:nvSpPr>
          <p:cNvPr id="252" name="文本框 251">
            <a:extLst>
              <a:ext uri="{FF2B5EF4-FFF2-40B4-BE49-F238E27FC236}">
                <a16:creationId xmlns:a16="http://schemas.microsoft.com/office/drawing/2014/main" id="{6D396B64-87D3-41C2-9C4D-A918D37E762C}"/>
              </a:ext>
            </a:extLst>
          </p:cNvPr>
          <p:cNvSpPr>
            <a:spLocks noGrp="1"/>
          </p:cNvSpPr>
          <p:nvPr/>
        </p:nvSpPr>
        <p:spPr>
          <a:xfrm>
            <a:off x="7181850" y="3552825"/>
            <a:ext cx="44386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75">
                <a:solidFill>
                  <a:srgbClr val="808080"/>
                </a:solidFill>
                <a:latin typeface="Arial"/>
                <a:ea typeface="Arial"/>
                <a:cs typeface="Arial"/>
              </a:rPr>
              <a:t>过程性 / 结果性 / 认知性证据</a:t>
            </a:r>
            <a:endParaRPr/>
          </a:p>
        </p:txBody>
      </p:sp>
      <p:sp>
        <p:nvSpPr>
          <p:cNvPr id="253" name="文本框 252">
            <a:extLst>
              <a:ext uri="{FF2B5EF4-FFF2-40B4-BE49-F238E27FC236}">
                <a16:creationId xmlns:a16="http://schemas.microsoft.com/office/drawing/2014/main" id="{482018E7-AF7F-4C63-80B7-AA82D6FB7BD9}"/>
              </a:ext>
            </a:extLst>
          </p:cNvPr>
          <p:cNvSpPr>
            <a:spLocks noGrp="1"/>
          </p:cNvSpPr>
          <p:nvPr/>
        </p:nvSpPr>
        <p:spPr>
          <a:xfrm>
            <a:off x="571500" y="6353175"/>
            <a:ext cx="10477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  <a:defRPr sz="975">
                <a:solidFill>
                  <a:srgbClr val="728090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728090"/>
                </a:solidFill>
                <a:latin typeface="Arial"/>
                <a:ea typeface="Arial"/>
                <a:cs typeface="Arial"/>
              </a:rPr>
              <a:t>统一主线：真实测评不足、AI上下文失真、硬件联调受阻 → 破局行动 → 风险控制 → 学习协作 → 持续验证。</a:t>
            </a:r>
            <a:endParaRPr/>
          </a:p>
        </p:txBody>
      </p:sp>
      <p:sp>
        <p:nvSpPr>
          <p:cNvPr id="254" name="文本框 253">
            <a:extLst>
              <a:ext uri="{FF2B5EF4-FFF2-40B4-BE49-F238E27FC236}">
                <a16:creationId xmlns:a16="http://schemas.microsoft.com/office/drawing/2014/main" id="{1284F833-AE11-4712-9020-D3E37AC1F10D}"/>
              </a:ext>
            </a:extLst>
          </p:cNvPr>
          <p:cNvSpPr>
            <a:spLocks noGrp="1"/>
          </p:cNvSpPr>
          <p:nvPr/>
        </p:nvSpPr>
        <p:spPr>
          <a:xfrm>
            <a:off x="11210925" y="6353175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02 / 20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8736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矩形 255">
            <a:extLst>
              <a:ext uri="{FF2B5EF4-FFF2-40B4-BE49-F238E27FC236}">
                <a16:creationId xmlns:a16="http://schemas.microsoft.com/office/drawing/2014/main" id="{F8723762-E1B4-4E81-96A0-1026125818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57" name="文本框 256">
            <a:extLst>
              <a:ext uri="{FF2B5EF4-FFF2-40B4-BE49-F238E27FC236}">
                <a16:creationId xmlns:a16="http://schemas.microsoft.com/office/drawing/2014/main" id="{841402F6-8F80-48E8-8665-98E4468C3ACC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1104900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价值验证全景仪表盘：成果、差距与团队效能同屏</a:t>
            </a:r>
            <a:endParaRPr/>
          </a:p>
        </p:txBody>
      </p:sp>
      <p:sp>
        <p:nvSpPr>
          <p:cNvPr id="258" name="矩形 257">
            <a:extLst>
              <a:ext uri="{FF2B5EF4-FFF2-40B4-BE49-F238E27FC236}">
                <a16:creationId xmlns:a16="http://schemas.microsoft.com/office/drawing/2014/main" id="{A8BA0233-5205-44D1-971F-A027004E8128}"/>
              </a:ext>
            </a:extLst>
          </p:cNvPr>
          <p:cNvSpPr>
            <a:spLocks noGrp="1"/>
          </p:cNvSpPr>
          <p:nvPr/>
        </p:nvSpPr>
        <p:spPr>
          <a:xfrm>
            <a:off x="571500" y="96202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272" name="文本框 271">
            <a:extLst>
              <a:ext uri="{FF2B5EF4-FFF2-40B4-BE49-F238E27FC236}">
                <a16:creationId xmlns:a16="http://schemas.microsoft.com/office/drawing/2014/main" id="{0F256C3B-6CAE-491A-8B6E-DC17B5338DB4}"/>
              </a:ext>
            </a:extLst>
          </p:cNvPr>
          <p:cNvSpPr>
            <a:spLocks noGrp="1"/>
          </p:cNvSpPr>
          <p:nvPr/>
        </p:nvSpPr>
        <p:spPr>
          <a:xfrm>
            <a:off x="571500" y="6353175"/>
            <a:ext cx="10477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  <a:defRPr sz="975">
                <a:solidFill>
                  <a:srgbClr val="728090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728090"/>
                </a:solidFill>
                <a:latin typeface="Arial"/>
                <a:ea typeface="Arial"/>
                <a:cs typeface="Arial"/>
              </a:rPr>
              <a:t>来源：用户测评与修改记录.md、既有调研与发布包；5条反馈不等于5位独立用户，定性反馈不替代硬件量化测试。</a:t>
            </a:r>
            <a:endParaRPr/>
          </a:p>
        </p:txBody>
      </p:sp>
      <p:sp>
        <p:nvSpPr>
          <p:cNvPr id="273" name="文本框 272">
            <a:extLst>
              <a:ext uri="{FF2B5EF4-FFF2-40B4-BE49-F238E27FC236}">
                <a16:creationId xmlns:a16="http://schemas.microsoft.com/office/drawing/2014/main" id="{5C619259-3C6D-4C6F-B5BD-56D992394638}"/>
              </a:ext>
            </a:extLst>
          </p:cNvPr>
          <p:cNvSpPr>
            <a:spLocks noGrp="1"/>
          </p:cNvSpPr>
          <p:nvPr/>
        </p:nvSpPr>
        <p:spPr>
          <a:xfrm>
            <a:off x="11210925" y="6353175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03 / 20</a:t>
            </a:r>
            <a:endParaRPr/>
          </a:p>
        </p:txBody>
      </p:sp>
      <p:sp>
        <p:nvSpPr>
          <p:cNvPr id="274" name="矩形 273">
            <a:extLst>
              <a:ext uri="{FF2B5EF4-FFF2-40B4-BE49-F238E27FC236}">
                <a16:creationId xmlns:a16="http://schemas.microsoft.com/office/drawing/2014/main" id="{1C04B85F-372B-4E63-B276-669D4621C497}"/>
              </a:ext>
            </a:extLst>
          </p:cNvPr>
          <p:cNvSpPr>
            <a:spLocks noGrp="1"/>
          </p:cNvSpPr>
          <p:nvPr/>
        </p:nvSpPr>
        <p:spPr>
          <a:xfrm>
            <a:off x="571500" y="1114425"/>
            <a:ext cx="11049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350" b="1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选题：7份问卷 / 1版原型     →     中期：12份深访 / 5版迭代     →     结题：v1.1.0发布 / 5条测评反馈</a:t>
            </a:r>
          </a:p>
        </p:txBody>
      </p:sp>
      <p:sp>
        <p:nvSpPr>
          <p:cNvPr id="275" name="矩形 274">
            <a:extLst>
              <a:ext uri="{FF2B5EF4-FFF2-40B4-BE49-F238E27FC236}">
                <a16:creationId xmlns:a16="http://schemas.microsoft.com/office/drawing/2014/main" id="{AF2E622A-8B91-4DA2-A4A4-05E6DCE34CB8}"/>
              </a:ext>
            </a:extLst>
          </p:cNvPr>
          <p:cNvSpPr>
            <a:spLocks noGrp="1"/>
          </p:cNvSpPr>
          <p:nvPr/>
        </p:nvSpPr>
        <p:spPr>
          <a:xfrm>
            <a:off x="571500" y="1562100"/>
            <a:ext cx="2619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350" b="1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三阶段用户研究记录</a:t>
            </a:r>
          </a:p>
        </p:txBody>
      </p:sp>
      <p:sp>
        <p:nvSpPr>
          <p:cNvPr id="276" name="矩形 275">
            <a:extLst>
              <a:ext uri="{FF2B5EF4-FFF2-40B4-BE49-F238E27FC236}">
                <a16:creationId xmlns:a16="http://schemas.microsoft.com/office/drawing/2014/main" id="{76C9FCC8-C149-47C3-8F23-F35F44FBA9F2}"/>
              </a:ext>
            </a:extLst>
          </p:cNvPr>
          <p:cNvSpPr>
            <a:spLocks noGrp="1"/>
          </p:cNvSpPr>
          <p:nvPr/>
        </p:nvSpPr>
        <p:spPr>
          <a:xfrm>
            <a:off x="3381375" y="1562100"/>
            <a:ext cx="2619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350" b="1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诊断有效率（既有改善）</a:t>
            </a:r>
          </a:p>
        </p:txBody>
      </p:sp>
      <p:sp>
        <p:nvSpPr>
          <p:cNvPr id="277" name="矩形 276">
            <a:extLst>
              <a:ext uri="{FF2B5EF4-FFF2-40B4-BE49-F238E27FC236}">
                <a16:creationId xmlns:a16="http://schemas.microsoft.com/office/drawing/2014/main" id="{CBD3BE6F-57E4-49CD-9102-DF31D9AFF820}"/>
              </a:ext>
            </a:extLst>
          </p:cNvPr>
          <p:cNvSpPr>
            <a:spLocks noGrp="1"/>
          </p:cNvSpPr>
          <p:nvPr/>
        </p:nvSpPr>
        <p:spPr>
          <a:xfrm>
            <a:off x="6191250" y="1562100"/>
            <a:ext cx="2619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350" b="1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按时交付率（既有改善）</a:t>
            </a:r>
          </a:p>
        </p:txBody>
      </p:sp>
      <p:sp>
        <p:nvSpPr>
          <p:cNvPr id="278" name="矩形 277">
            <a:extLst>
              <a:ext uri="{FF2B5EF4-FFF2-40B4-BE49-F238E27FC236}">
                <a16:creationId xmlns:a16="http://schemas.microsoft.com/office/drawing/2014/main" id="{3C302A00-F337-4B99-99AB-B35AEBC6BE5F}"/>
              </a:ext>
            </a:extLst>
          </p:cNvPr>
          <p:cNvSpPr>
            <a:spLocks noGrp="1"/>
          </p:cNvSpPr>
          <p:nvPr/>
        </p:nvSpPr>
        <p:spPr>
          <a:xfrm>
            <a:off x="9001125" y="1562100"/>
            <a:ext cx="2619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350" b="1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团队均值 vs 最优（贡献分）</a:t>
            </a:r>
          </a:p>
        </p:txBody>
      </p:sp>
      <p:graphicFrame>
        <p:nvGraphicFramePr>
          <p:cNvPr id="304" name="Chart"/>
          <p:cNvGraphicFramePr/>
          <p:nvPr/>
        </p:nvGraphicFramePr>
        <p:xfrm>
          <a:off x="571500" y="1885950"/>
          <a:ext cx="261937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05" name="Chart"/>
          <p:cNvGraphicFramePr/>
          <p:nvPr/>
        </p:nvGraphicFramePr>
        <p:xfrm>
          <a:off x="3381375" y="1885950"/>
          <a:ext cx="261937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06" name="Chart"/>
          <p:cNvGraphicFramePr/>
          <p:nvPr/>
        </p:nvGraphicFramePr>
        <p:xfrm>
          <a:off x="6191250" y="1885950"/>
          <a:ext cx="261937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07" name="Chart"/>
          <p:cNvGraphicFramePr/>
          <p:nvPr/>
        </p:nvGraphicFramePr>
        <p:xfrm>
          <a:off x="9001125" y="1885950"/>
          <a:ext cx="261937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83" name="矩形 282">
            <a:extLst>
              <a:ext uri="{FF2B5EF4-FFF2-40B4-BE49-F238E27FC236}">
                <a16:creationId xmlns:a16="http://schemas.microsoft.com/office/drawing/2014/main" id="{775888CA-EFDE-4F8D-B80F-1448085FEF30}"/>
              </a:ext>
            </a:extLst>
          </p:cNvPr>
          <p:cNvSpPr>
            <a:spLocks noGrp="1"/>
          </p:cNvSpPr>
          <p:nvPr/>
        </p:nvSpPr>
        <p:spPr>
          <a:xfrm>
            <a:off x="571500" y="3686175"/>
            <a:ext cx="26193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050" b="0">
                <a:solidFill>
                  <a:srgbClr val="53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477"/>
                </a:solidFill>
                <a:latin typeface="Arial"/>
                <a:ea typeface="Arial"/>
                <a:cs typeface="Arial"/>
              </a:rPr>
              <a:t>记录类型不同，不累加为用户人数</a:t>
            </a:r>
          </a:p>
        </p:txBody>
      </p:sp>
      <p:sp>
        <p:nvSpPr>
          <p:cNvPr id="284" name="矩形 283">
            <a:extLst>
              <a:ext uri="{FF2B5EF4-FFF2-40B4-BE49-F238E27FC236}">
                <a16:creationId xmlns:a16="http://schemas.microsoft.com/office/drawing/2014/main" id="{F6A45D24-1234-4D57-A421-0B2AC0BE2216}"/>
              </a:ext>
            </a:extLst>
          </p:cNvPr>
          <p:cNvSpPr>
            <a:spLocks noGrp="1"/>
          </p:cNvSpPr>
          <p:nvPr/>
        </p:nvSpPr>
        <p:spPr>
          <a:xfrm>
            <a:off x="3381375" y="3686175"/>
            <a:ext cx="26193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050" b="0">
                <a:solidFill>
                  <a:srgbClr val="53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477"/>
                </a:solidFill>
                <a:latin typeface="Arial"/>
                <a:ea typeface="Arial"/>
                <a:cs typeface="Arial"/>
              </a:rPr>
              <a:t>+45个百分点；不作新增结题实测</a:t>
            </a:r>
          </a:p>
        </p:txBody>
      </p:sp>
      <p:sp>
        <p:nvSpPr>
          <p:cNvPr id="285" name="矩形 284">
            <a:extLst>
              <a:ext uri="{FF2B5EF4-FFF2-40B4-BE49-F238E27FC236}">
                <a16:creationId xmlns:a16="http://schemas.microsoft.com/office/drawing/2014/main" id="{1C0311F8-3337-4E7F-A552-CFEC2A052EB3}"/>
              </a:ext>
            </a:extLst>
          </p:cNvPr>
          <p:cNvSpPr>
            <a:spLocks noGrp="1"/>
          </p:cNvSpPr>
          <p:nvPr/>
        </p:nvSpPr>
        <p:spPr>
          <a:xfrm>
            <a:off x="6191250" y="3686175"/>
            <a:ext cx="26193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050" b="0">
                <a:solidFill>
                  <a:srgbClr val="53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477"/>
                </a:solidFill>
                <a:latin typeface="Arial"/>
                <a:ea typeface="Arial"/>
                <a:cs typeface="Arial"/>
              </a:rPr>
              <a:t>+20个百分点；不作新增结题实测</a:t>
            </a:r>
          </a:p>
        </p:txBody>
      </p:sp>
      <p:sp>
        <p:nvSpPr>
          <p:cNvPr id="286" name="矩形 285">
            <a:extLst>
              <a:ext uri="{FF2B5EF4-FFF2-40B4-BE49-F238E27FC236}">
                <a16:creationId xmlns:a16="http://schemas.microsoft.com/office/drawing/2014/main" id="{D03E8DD5-9834-49F5-9F62-59D6EF80E594}"/>
              </a:ext>
            </a:extLst>
          </p:cNvPr>
          <p:cNvSpPr>
            <a:spLocks noGrp="1"/>
          </p:cNvSpPr>
          <p:nvPr/>
        </p:nvSpPr>
        <p:spPr>
          <a:xfrm>
            <a:off x="9001125" y="3686175"/>
            <a:ext cx="26193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050" b="0">
                <a:solidFill>
                  <a:srgbClr val="53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477"/>
                </a:solidFill>
                <a:latin typeface="Arial"/>
                <a:ea typeface="Arial"/>
                <a:cs typeface="Arial"/>
              </a:rPr>
              <a:t>(100+100+80)÷3＝93.3</a:t>
            </a:r>
          </a:p>
        </p:txBody>
      </p:sp>
      <p:graphicFrame>
        <p:nvGraphicFramePr>
          <p:cNvPr id="312" name="表格 311"/>
          <p:cNvGraphicFramePr/>
          <p:nvPr/>
        </p:nvGraphicFramePr>
        <p:xfrm>
          <a:off x="571500" y="4133850"/>
          <a:ext cx="11049000" cy="1438275"/>
        </p:xfrm>
        <a:graphic>
          <a:graphicData uri="http://schemas.openxmlformats.org/drawingml/2006/table">
            <a:tbl>
              <a:tblPr/>
              <a:tblGrid>
                <a:gridCol w="3676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5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9138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中期 vs 结题</a:t>
                      </a:r>
                    </a:p>
                  </a:txBody>
                  <a:tcPr marL="85725" marR="85725" marT="57150" marB="57150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计划 vs 实际</a:t>
                      </a:r>
                    </a:p>
                  </a:txBody>
                  <a:tcPr marL="85725" marR="85725" marT="57150" marB="57150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用户验证结题状态</a:t>
                      </a:r>
                    </a:p>
                  </a:txBody>
                  <a:tcPr marL="85725" marR="85725" marT="57150" marB="57150" anchor="ctr">
                    <a:solidFill>
                      <a:srgbClr val="061F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9138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5版迭代 → v1.1.0安装交付</a:t>
                      </a:r>
                    </a:p>
                    <a:p>
                      <a:r>
                        <a:rPr sz="127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12份深访 → 补充5条体验反馈</a:t>
                      </a:r>
                    </a:p>
                    <a:p>
                      <a:r>
                        <a:rPr sz="127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反馈覆盖AI、界面、稳定性与交付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计划：M1～M4四阶段完成</a:t>
                      </a:r>
                    </a:p>
                    <a:p>
                      <a:r>
                        <a:rPr sz="127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实际：M1～M3完成，M4部分完成</a:t>
                      </a:r>
                    </a:p>
                    <a:p>
                      <a:r>
                        <a:rPr sz="127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差距：实物参数写回尚未闭环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5条反馈均有修改与体验改善记录</a:t>
                      </a:r>
                    </a:p>
                    <a:p>
                      <a:r>
                        <a:rPr sz="127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算法自测：12项；硬件闭环未完成</a:t>
                      </a:r>
                    </a:p>
                    <a:p>
                      <a:r>
                        <a:rPr sz="127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后续：量化复测与真实硬件验证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88" name="矩形 287">
            <a:extLst>
              <a:ext uri="{FF2B5EF4-FFF2-40B4-BE49-F238E27FC236}">
                <a16:creationId xmlns:a16="http://schemas.microsoft.com/office/drawing/2014/main" id="{C8425187-5556-4ED6-8642-95BAFB630F97}"/>
              </a:ext>
            </a:extLst>
          </p:cNvPr>
          <p:cNvSpPr>
            <a:spLocks noGrp="1"/>
          </p:cNvSpPr>
          <p:nvPr/>
        </p:nvSpPr>
        <p:spPr>
          <a:xfrm>
            <a:off x="571500" y="5762625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275" b="1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交付成果：18个测试文件 · 51份波形资产 · 6份文档 · 31次提交     ｜     8/12付费意愿不等于实际付费</a:t>
            </a:r>
          </a:p>
        </p:txBody>
      </p:sp>
    </p:spTree>
    <p:extLst>
      <p:ext uri="{BB962C8B-B14F-4D97-AF65-F5344CB8AC3E}">
        <p14:creationId xmlns:p14="http://schemas.microsoft.com/office/powerpoint/2010/main" val="744494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矩形 274">
            <a:extLst>
              <a:ext uri="{FF2B5EF4-FFF2-40B4-BE49-F238E27FC236}">
                <a16:creationId xmlns:a16="http://schemas.microsoft.com/office/drawing/2014/main" id="{AD433D5C-551D-4F9A-8325-B04D5FD031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76" name="文本框 275">
            <a:extLst>
              <a:ext uri="{FF2B5EF4-FFF2-40B4-BE49-F238E27FC236}">
                <a16:creationId xmlns:a16="http://schemas.microsoft.com/office/drawing/2014/main" id="{201797F5-6C6A-4910-8BC6-90800556C30A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1104900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每项指标都可溯源：12 项自测全绿 + 51 张波形 + 可运行安装包</a:t>
            </a:r>
            <a:endParaRPr/>
          </a:p>
        </p:txBody>
      </p:sp>
      <p:sp>
        <p:nvSpPr>
          <p:cNvPr id="277" name="矩形 276">
            <a:extLst>
              <a:ext uri="{FF2B5EF4-FFF2-40B4-BE49-F238E27FC236}">
                <a16:creationId xmlns:a16="http://schemas.microsoft.com/office/drawing/2014/main" id="{96AC7528-1AD9-42A4-871F-4BA00CAEE094}"/>
              </a:ext>
            </a:extLst>
          </p:cNvPr>
          <p:cNvSpPr>
            <a:spLocks noGrp="1"/>
          </p:cNvSpPr>
          <p:nvPr/>
        </p:nvSpPr>
        <p:spPr>
          <a:xfrm>
            <a:off x="571500" y="96202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278" name="矩形: 圆角 277">
            <a:extLst>
              <a:ext uri="{FF2B5EF4-FFF2-40B4-BE49-F238E27FC236}">
                <a16:creationId xmlns:a16="http://schemas.microsoft.com/office/drawing/2014/main" id="{0B58B1F1-3A8E-4AC1-AAE7-E2C92B539CBE}"/>
              </a:ext>
            </a:extLst>
          </p:cNvPr>
          <p:cNvSpPr>
            <a:spLocks noGrp="1"/>
          </p:cNvSpPr>
          <p:nvPr/>
        </p:nvSpPr>
        <p:spPr>
          <a:xfrm>
            <a:off x="571500" y="1181100"/>
            <a:ext cx="4638675" cy="5038725"/>
          </a:xfrm>
          <a:prstGeom prst="roundRect">
            <a:avLst>
              <a:gd name="adj" fmla="val 2053"/>
            </a:avLst>
          </a:prstGeom>
        </p:spPr>
        <p:txBody>
          <a:bodyPr/>
          <a:lstStyle/>
          <a:p>
            <a:endParaRPr/>
          </a:p>
        </p:txBody>
      </p:sp>
      <p:pic>
        <p:nvPicPr>
          <p:cNvPr id="302" name="图片 278"/>
          <p:cNvPicPr>
            <a:picLocks noChangeAspect="1"/>
          </p:cNvPicPr>
          <p:nvPr/>
        </p:nvPicPr>
        <p:blipFill>
          <a:blip r:embed="rId3"/>
          <a:srcRect l="22207" r="22207"/>
          <a:stretch>
            <a:fillRect/>
          </a:stretch>
        </p:blipFill>
        <p:spPr>
          <a:xfrm>
            <a:off x="571500" y="1181100"/>
            <a:ext cx="4638675" cy="5038725"/>
          </a:xfrm>
        </p:spPr>
      </p:pic>
      <p:sp>
        <p:nvSpPr>
          <p:cNvPr id="280" name="矩形: 圆角 279">
            <a:extLst>
              <a:ext uri="{FF2B5EF4-FFF2-40B4-BE49-F238E27FC236}">
                <a16:creationId xmlns:a16="http://schemas.microsoft.com/office/drawing/2014/main" id="{B7BAFC1F-11B2-4A7E-9C00-2AFB423A91FE}"/>
              </a:ext>
            </a:extLst>
          </p:cNvPr>
          <p:cNvSpPr>
            <a:spLocks noGrp="1"/>
          </p:cNvSpPr>
          <p:nvPr/>
        </p:nvSpPr>
        <p:spPr>
          <a:xfrm>
            <a:off x="5553075" y="1181100"/>
            <a:ext cx="6067425" cy="819150"/>
          </a:xfrm>
          <a:prstGeom prst="roundRect">
            <a:avLst>
              <a:gd name="adj" fmla="val 9302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pic>
        <p:nvPicPr>
          <p:cNvPr id="304" name="图形 28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43575" y="1352550"/>
            <a:ext cx="323850" cy="323850"/>
          </a:xfrm>
          <a:prstGeom prst="rect">
            <a:avLst/>
          </a:prstGeom>
        </p:spPr>
      </p:pic>
      <p:sp>
        <p:nvSpPr>
          <p:cNvPr id="282" name="文本框 281">
            <a:extLst>
              <a:ext uri="{FF2B5EF4-FFF2-40B4-BE49-F238E27FC236}">
                <a16:creationId xmlns:a16="http://schemas.microsoft.com/office/drawing/2014/main" id="{910455AB-4EF7-49D6-980F-83DBF5CFBA96}"/>
              </a:ext>
            </a:extLst>
          </p:cNvPr>
          <p:cNvSpPr>
            <a:spLocks noGrp="1"/>
          </p:cNvSpPr>
          <p:nvPr/>
        </p:nvSpPr>
        <p:spPr>
          <a:xfrm>
            <a:off x="6219825" y="1352550"/>
            <a:ext cx="431482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75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12 项算法自测全绿</a:t>
            </a:r>
            <a:endParaRPr/>
          </a:p>
        </p:txBody>
      </p:sp>
      <p:sp>
        <p:nvSpPr>
          <p:cNvPr id="283" name="文本框 282">
            <a:extLst>
              <a:ext uri="{FF2B5EF4-FFF2-40B4-BE49-F238E27FC236}">
                <a16:creationId xmlns:a16="http://schemas.microsoft.com/office/drawing/2014/main" id="{FB5CCFBD-B00C-4D61-9146-3876D3556152}"/>
              </a:ext>
            </a:extLst>
          </p:cNvPr>
          <p:cNvSpPr>
            <a:spLocks noGrp="1"/>
          </p:cNvSpPr>
          <p:nvPr/>
        </p:nvSpPr>
        <p:spPr>
          <a:xfrm>
            <a:off x="6219825" y="1638300"/>
            <a:ext cx="43148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>
                <a:solidFill>
                  <a:srgbClr val="44546A"/>
                </a:solidFill>
                <a:latin typeface="Arial"/>
                <a:ea typeface="Arial"/>
                <a:cs typeface="Arial"/>
              </a:rPr>
              <a:t>npm run test:analysis 覆盖诊断/安全回退/压缩；测试日志可复现</a:t>
            </a:r>
            <a:endParaRPr/>
          </a:p>
        </p:txBody>
      </p:sp>
      <p:sp>
        <p:nvSpPr>
          <p:cNvPr id="284" name="矩形: 圆角 283">
            <a:extLst>
              <a:ext uri="{FF2B5EF4-FFF2-40B4-BE49-F238E27FC236}">
                <a16:creationId xmlns:a16="http://schemas.microsoft.com/office/drawing/2014/main" id="{13CC5C64-4148-4A8A-B2CC-8B7C53ECD035}"/>
              </a:ext>
            </a:extLst>
          </p:cNvPr>
          <p:cNvSpPr>
            <a:spLocks noGrp="1"/>
          </p:cNvSpPr>
          <p:nvPr/>
        </p:nvSpPr>
        <p:spPr>
          <a:xfrm>
            <a:off x="5553075" y="3295650"/>
            <a:ext cx="6067425" cy="819150"/>
          </a:xfrm>
          <a:prstGeom prst="roundRect">
            <a:avLst>
              <a:gd name="adj" fmla="val 9302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pic>
        <p:nvPicPr>
          <p:cNvPr id="308" name="图形 28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43575" y="3467100"/>
            <a:ext cx="323850" cy="323850"/>
          </a:xfrm>
          <a:prstGeom prst="rect">
            <a:avLst/>
          </a:prstGeom>
        </p:spPr>
      </p:pic>
      <p:sp>
        <p:nvSpPr>
          <p:cNvPr id="286" name="文本框 285">
            <a:extLst>
              <a:ext uri="{FF2B5EF4-FFF2-40B4-BE49-F238E27FC236}">
                <a16:creationId xmlns:a16="http://schemas.microsoft.com/office/drawing/2014/main" id="{7FF5C304-9775-4636-A898-9BA9E7E8C379}"/>
              </a:ext>
            </a:extLst>
          </p:cNvPr>
          <p:cNvSpPr>
            <a:spLocks noGrp="1"/>
          </p:cNvSpPr>
          <p:nvPr/>
        </p:nvSpPr>
        <p:spPr>
          <a:xfrm>
            <a:off x="6219825" y="3467100"/>
            <a:ext cx="412432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75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v1.1.0 安装包可运行</a:t>
            </a:r>
            <a:endParaRPr/>
          </a:p>
        </p:txBody>
      </p:sp>
      <p:sp>
        <p:nvSpPr>
          <p:cNvPr id="287" name="文本框 286">
            <a:extLst>
              <a:ext uri="{FF2B5EF4-FFF2-40B4-BE49-F238E27FC236}">
                <a16:creationId xmlns:a16="http://schemas.microsoft.com/office/drawing/2014/main" id="{74391C32-BC29-4FD0-8DA0-1DE5B0CDB7EE}"/>
              </a:ext>
            </a:extLst>
          </p:cNvPr>
          <p:cNvSpPr>
            <a:spLocks noGrp="1"/>
          </p:cNvSpPr>
          <p:nvPr/>
        </p:nvSpPr>
        <p:spPr>
          <a:xfrm>
            <a:off x="6219825" y="3752850"/>
            <a:ext cx="41243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>
                <a:solidFill>
                  <a:srgbClr val="44546A"/>
                </a:solidFill>
                <a:latin typeface="Arial"/>
                <a:ea typeface="Arial"/>
                <a:cs typeface="Arial"/>
              </a:rPr>
              <a:t>NSIS 发布包 + 使用说明书 + 嵌入式端准备指南 + 开发者文档</a:t>
            </a:r>
            <a:endParaRPr/>
          </a:p>
        </p:txBody>
      </p:sp>
      <p:sp>
        <p:nvSpPr>
          <p:cNvPr id="288" name="矩形: 圆角 287">
            <a:extLst>
              <a:ext uri="{FF2B5EF4-FFF2-40B4-BE49-F238E27FC236}">
                <a16:creationId xmlns:a16="http://schemas.microsoft.com/office/drawing/2014/main" id="{536FBF60-1B02-4E26-AA4D-ABB2BE5225EC}"/>
              </a:ext>
            </a:extLst>
          </p:cNvPr>
          <p:cNvSpPr>
            <a:spLocks noGrp="1"/>
          </p:cNvSpPr>
          <p:nvPr/>
        </p:nvSpPr>
        <p:spPr>
          <a:xfrm>
            <a:off x="5553075" y="5400675"/>
            <a:ext cx="6067425" cy="819150"/>
          </a:xfrm>
          <a:prstGeom prst="roundRect">
            <a:avLst>
              <a:gd name="adj" fmla="val 9302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pic>
        <p:nvPicPr>
          <p:cNvPr id="312" name="图形 28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43575" y="5572125"/>
            <a:ext cx="323850" cy="323850"/>
          </a:xfrm>
          <a:prstGeom prst="rect">
            <a:avLst/>
          </a:prstGeom>
        </p:spPr>
      </p:pic>
      <p:sp>
        <p:nvSpPr>
          <p:cNvPr id="290" name="文本框 289">
            <a:extLst>
              <a:ext uri="{FF2B5EF4-FFF2-40B4-BE49-F238E27FC236}">
                <a16:creationId xmlns:a16="http://schemas.microsoft.com/office/drawing/2014/main" id="{D340B8BF-3945-47E3-B8E3-6B1ACA92D34A}"/>
              </a:ext>
            </a:extLst>
          </p:cNvPr>
          <p:cNvSpPr>
            <a:spLocks noGrp="1"/>
          </p:cNvSpPr>
          <p:nvPr/>
        </p:nvSpPr>
        <p:spPr>
          <a:xfrm>
            <a:off x="6219825" y="5572125"/>
            <a:ext cx="36576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75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6 张官方界面截图</a:t>
            </a:r>
            <a:endParaRPr/>
          </a:p>
        </p:txBody>
      </p:sp>
      <p:sp>
        <p:nvSpPr>
          <p:cNvPr id="291" name="文本框 290">
            <a:extLst>
              <a:ext uri="{FF2B5EF4-FFF2-40B4-BE49-F238E27FC236}">
                <a16:creationId xmlns:a16="http://schemas.microsoft.com/office/drawing/2014/main" id="{5F9F59F4-B640-4AF5-9522-818745808D91}"/>
              </a:ext>
            </a:extLst>
          </p:cNvPr>
          <p:cNvSpPr>
            <a:spLocks noGrp="1"/>
          </p:cNvSpPr>
          <p:nvPr/>
        </p:nvSpPr>
        <p:spPr>
          <a:xfrm>
            <a:off x="6219825" y="5857875"/>
            <a:ext cx="36576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>
                <a:solidFill>
                  <a:srgbClr val="44546A"/>
                </a:solidFill>
                <a:latin typeface="Arial"/>
                <a:ea typeface="Arial"/>
                <a:cs typeface="Arial"/>
              </a:rPr>
              <a:t>发布包/images 目录6张实测截图；用户反馈见P5，界面附录见P20</a:t>
            </a:r>
            <a:endParaRPr/>
          </a:p>
        </p:txBody>
      </p:sp>
      <p:sp>
        <p:nvSpPr>
          <p:cNvPr id="292" name="文本框 291">
            <a:extLst>
              <a:ext uri="{FF2B5EF4-FFF2-40B4-BE49-F238E27FC236}">
                <a16:creationId xmlns:a16="http://schemas.microsoft.com/office/drawing/2014/main" id="{CB63E85F-D5EC-4340-9D12-30A9F5816CF0}"/>
              </a:ext>
            </a:extLst>
          </p:cNvPr>
          <p:cNvSpPr>
            <a:spLocks noGrp="1"/>
          </p:cNvSpPr>
          <p:nvPr/>
        </p:nvSpPr>
        <p:spPr>
          <a:xfrm>
            <a:off x="571500" y="6353175"/>
            <a:ext cx="51625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Source：tests/ · package.json v1.1.0 · 发布包.zip · assets/ui_02_control_waveform.png</a:t>
            </a:r>
            <a:endParaRPr/>
          </a:p>
        </p:txBody>
      </p:sp>
      <p:sp>
        <p:nvSpPr>
          <p:cNvPr id="293" name="文本框 292">
            <a:extLst>
              <a:ext uri="{FF2B5EF4-FFF2-40B4-BE49-F238E27FC236}">
                <a16:creationId xmlns:a16="http://schemas.microsoft.com/office/drawing/2014/main" id="{1D3827D3-1FF1-48D5-B2D8-7F710EEA582A}"/>
              </a:ext>
            </a:extLst>
          </p:cNvPr>
          <p:cNvSpPr>
            <a:spLocks noGrp="1"/>
          </p:cNvSpPr>
          <p:nvPr/>
        </p:nvSpPr>
        <p:spPr>
          <a:xfrm>
            <a:off x="11210925" y="6353175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04 / 20</a:t>
            </a:r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3065024-B463-5D2D-3AA8-F17B882596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66" y="1181100"/>
            <a:ext cx="4639322" cy="503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45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3800F17B-D6BC-463F-BB1C-5ECC727077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E82525F-0B20-4EAF-B7AF-F9FF7CB1852A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1104900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用户测评推动迭代：5条反馈形成“问题—修改—改善”闭环</a:t>
            </a:r>
            <a:endParaRPr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17853157-869D-416C-9C56-6BA61E2B4B06}"/>
              </a:ext>
            </a:extLst>
          </p:cNvPr>
          <p:cNvSpPr>
            <a:spLocks noGrp="1"/>
          </p:cNvSpPr>
          <p:nvPr/>
        </p:nvSpPr>
        <p:spPr>
          <a:xfrm>
            <a:off x="571500" y="96202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997F4D1A-40AB-4E05-86CC-9FE77CD1A8DC}"/>
              </a:ext>
            </a:extLst>
          </p:cNvPr>
          <p:cNvSpPr>
            <a:spLocks noGrp="1"/>
          </p:cNvSpPr>
          <p:nvPr/>
        </p:nvSpPr>
        <p:spPr>
          <a:xfrm>
            <a:off x="571500" y="6353175"/>
            <a:ext cx="10477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  <a:defRPr sz="975">
                <a:solidFill>
                  <a:srgbClr val="728090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728090"/>
                </a:solidFill>
                <a:latin typeface="Arial"/>
                <a:ea typeface="Arial"/>
                <a:cs typeface="Arial"/>
              </a:rPr>
              <a:t>来源：用户测评与修改记录.md；本页呈现定性体验反馈。自动调参反馈不等于已完成真实硬件闭环验证。</a:t>
            </a:r>
            <a:endParaRPr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911D0AD2-4185-46CD-97CB-4C0B775145E7}"/>
              </a:ext>
            </a:extLst>
          </p:cNvPr>
          <p:cNvSpPr>
            <a:spLocks noGrp="1"/>
          </p:cNvSpPr>
          <p:nvPr/>
        </p:nvSpPr>
        <p:spPr>
          <a:xfrm>
            <a:off x="11210925" y="6353175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05 / 20</a:t>
            </a:r>
            <a:endParaRPr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0F595EDF-06CB-43EF-80FF-778552EC44AE}"/>
              </a:ext>
            </a:extLst>
          </p:cNvPr>
          <p:cNvSpPr>
            <a:spLocks noGrp="1"/>
          </p:cNvSpPr>
          <p:nvPr/>
        </p:nvSpPr>
        <p:spPr>
          <a:xfrm>
            <a:off x="571500" y="1133475"/>
            <a:ext cx="11049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500" b="1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8/8—8/25：从AI回答、界面上手到自动调参和安装交付，逐项回应体验问题。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017ADD30-E09E-48F4-A1B9-DF386F1C1FDF}"/>
              </a:ext>
            </a:extLst>
          </p:cNvPr>
          <p:cNvSpPr>
            <a:spLocks noGrp="1"/>
          </p:cNvSpPr>
          <p:nvPr/>
        </p:nvSpPr>
        <p:spPr>
          <a:xfrm>
            <a:off x="571500" y="5476875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2550" b="1">
                <a:solidFill>
                  <a:srgbClr val="009ED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9EDB"/>
                </a:solidFill>
                <a:latin typeface="Arial"/>
                <a:ea typeface="Arial"/>
                <a:cs typeface="Arial"/>
              </a:rPr>
              <a:t>5条反馈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04824833-07CF-483E-9BF6-8F5D0611BD97}"/>
              </a:ext>
            </a:extLst>
          </p:cNvPr>
          <p:cNvSpPr>
            <a:spLocks noGrp="1"/>
          </p:cNvSpPr>
          <p:nvPr/>
        </p:nvSpPr>
        <p:spPr>
          <a:xfrm>
            <a:off x="571500" y="5934075"/>
            <a:ext cx="1905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275" b="0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61F32"/>
                </a:solidFill>
                <a:latin typeface="Arial"/>
                <a:ea typeface="Arial"/>
                <a:cs typeface="Arial"/>
              </a:rPr>
              <a:t>用户体验问题与改善记录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D7FEFDBA-CC50-4AAE-8E5B-92653D58FE79}"/>
              </a:ext>
            </a:extLst>
          </p:cNvPr>
          <p:cNvSpPr>
            <a:spLocks noGrp="1"/>
          </p:cNvSpPr>
          <p:nvPr/>
        </p:nvSpPr>
        <p:spPr>
          <a:xfrm>
            <a:off x="3333750" y="5476875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2550" b="1">
                <a:solidFill>
                  <a:srgbClr val="009ED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9EDB"/>
                </a:solidFill>
                <a:latin typeface="Arial"/>
                <a:ea typeface="Arial"/>
                <a:cs typeface="Arial"/>
              </a:rPr>
              <a:t>4个日期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50E4F6A7-686B-44FF-821B-57645C0A94C3}"/>
              </a:ext>
            </a:extLst>
          </p:cNvPr>
          <p:cNvSpPr>
            <a:spLocks noGrp="1"/>
          </p:cNvSpPr>
          <p:nvPr/>
        </p:nvSpPr>
        <p:spPr>
          <a:xfrm>
            <a:off x="3333750" y="5934075"/>
            <a:ext cx="2667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275" b="0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61F32"/>
                </a:solidFill>
                <a:latin typeface="Arial"/>
                <a:ea typeface="Arial"/>
                <a:cs typeface="Arial"/>
              </a:rPr>
              <a:t>8/8、8/23、8/24、8/25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C3824B5C-B3E9-49FE-81A2-23B4ABB380D2}"/>
              </a:ext>
            </a:extLst>
          </p:cNvPr>
          <p:cNvSpPr>
            <a:spLocks noGrp="1"/>
          </p:cNvSpPr>
          <p:nvPr/>
        </p:nvSpPr>
        <p:spPr>
          <a:xfrm>
            <a:off x="6858000" y="5476875"/>
            <a:ext cx="323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2550" b="1">
                <a:solidFill>
                  <a:srgbClr val="009ED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9EDB"/>
                </a:solidFill>
                <a:latin typeface="Arial"/>
                <a:ea typeface="Arial"/>
                <a:cs typeface="Arial"/>
              </a:rPr>
              <a:t>三段闭环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EAD5F835-1C33-4C16-A5A9-05B8F1208229}"/>
              </a:ext>
            </a:extLst>
          </p:cNvPr>
          <p:cNvSpPr>
            <a:spLocks noGrp="1"/>
          </p:cNvSpPr>
          <p:nvPr/>
        </p:nvSpPr>
        <p:spPr>
          <a:xfrm>
            <a:off x="6858000" y="5934075"/>
            <a:ext cx="428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275" b="0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61F32"/>
                </a:solidFill>
                <a:latin typeface="Arial"/>
                <a:ea typeface="Arial"/>
                <a:cs typeface="Arial"/>
              </a:rPr>
              <a:t>用户问题 → 团队修改 → 体验改善</a:t>
            </a:r>
          </a:p>
        </p:txBody>
      </p:sp>
      <p:graphicFrame>
        <p:nvGraphicFramePr>
          <p:cNvPr id="107" name="表格 106"/>
          <p:cNvGraphicFramePr/>
          <p:nvPr/>
        </p:nvGraphicFramePr>
        <p:xfrm>
          <a:off x="571500" y="1571625"/>
          <a:ext cx="11049000" cy="3695700"/>
        </p:xfrm>
        <a:graphic>
          <a:graphicData uri="http://schemas.openxmlformats.org/drawingml/2006/table">
            <a:tbl>
              <a:tblPr/>
              <a:tblGrid>
                <a:gridCol w="119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59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日期 / 主题</a:t>
                      </a:r>
                    </a:p>
                  </a:txBody>
                  <a:tcPr marL="85725" marR="85725" marT="57150" marB="57150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用户测评提出的问题</a:t>
                      </a:r>
                    </a:p>
                  </a:txBody>
                  <a:tcPr marL="85725" marR="85725" marT="57150" marB="57150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项目组修改解决</a:t>
                      </a:r>
                    </a:p>
                  </a:txBody>
                  <a:tcPr marL="85725" marR="85725" marT="57150" marB="57150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用户体验改善（定性）</a:t>
                      </a:r>
                    </a:p>
                  </a:txBody>
                  <a:tcPr marL="85725" marR="85725" marT="57150" marB="57150" anchor="ctr">
                    <a:solidFill>
                      <a:srgbClr val="061F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8/8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AI回答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回答不规范、条理不清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关键结论被无关内容淹没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调研提示词设计并形成文档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重做PID提示词与输出格式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关键信息更清晰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回答更规范、可控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8/23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界面布局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元素多、功能分散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首次上手需要反复摸索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重构波形、数据与调参区布局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保持波形可见；补充指南与评审文档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操作路径更直观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日常使用更顺手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8/24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调参稳定性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调参偶发异常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担心稳定性，不敢依赖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将PID调参从大界面拆为独立模块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梳理逻辑，便于排查和维护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反馈称行为更稳定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使用安心感提升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8/25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自动调参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AI只给建议，试参仍靠手工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担心乱设参数损坏设备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上线对话式智能体与参数护栏、回退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修复归一化、串级映射等4类问题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减少手工反复试参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可随时插话纠偏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8/25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安装交付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开发版环境配置繁琐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文档分散，不知道如何使用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发布v1.1.0安装包与开源协议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配套使用、嵌入式和开发者文档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双击安装即可体验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使用与对接有据可查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928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矩形 294">
            <a:extLst>
              <a:ext uri="{FF2B5EF4-FFF2-40B4-BE49-F238E27FC236}">
                <a16:creationId xmlns:a16="http://schemas.microsoft.com/office/drawing/2014/main" id="{4265000B-38D5-4622-B02F-49DA43A545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96" name="文本框 295">
            <a:extLst>
              <a:ext uri="{FF2B5EF4-FFF2-40B4-BE49-F238E27FC236}">
                <a16:creationId xmlns:a16="http://schemas.microsoft.com/office/drawing/2014/main" id="{622D43EC-7C8B-4CDF-AD46-AE25AB326EEB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1104900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主动性 A｜识别三大阻碍：原计划为什么走不通</a:t>
            </a:r>
            <a:endParaRPr/>
          </a:p>
        </p:txBody>
      </p:sp>
      <p:sp>
        <p:nvSpPr>
          <p:cNvPr id="297" name="矩形 296">
            <a:extLst>
              <a:ext uri="{FF2B5EF4-FFF2-40B4-BE49-F238E27FC236}">
                <a16:creationId xmlns:a16="http://schemas.microsoft.com/office/drawing/2014/main" id="{AA68767B-722D-4357-9530-89F5A3B208BC}"/>
              </a:ext>
            </a:extLst>
          </p:cNvPr>
          <p:cNvSpPr>
            <a:spLocks noGrp="1"/>
          </p:cNvSpPr>
          <p:nvPr/>
        </p:nvSpPr>
        <p:spPr>
          <a:xfrm>
            <a:off x="571500" y="96202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324" name="文本框 323">
            <a:extLst>
              <a:ext uri="{FF2B5EF4-FFF2-40B4-BE49-F238E27FC236}">
                <a16:creationId xmlns:a16="http://schemas.microsoft.com/office/drawing/2014/main" id="{647141CA-A26E-4169-B2A7-AF7C798B5D6B}"/>
              </a:ext>
            </a:extLst>
          </p:cNvPr>
          <p:cNvSpPr>
            <a:spLocks noGrp="1"/>
          </p:cNvSpPr>
          <p:nvPr/>
        </p:nvSpPr>
        <p:spPr>
          <a:xfrm>
            <a:off x="571500" y="6353175"/>
            <a:ext cx="10477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  <a:defRPr sz="975">
                <a:solidFill>
                  <a:srgbClr val="728090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728090"/>
                </a:solidFill>
                <a:latin typeface="Arial"/>
                <a:ea typeface="Arial"/>
                <a:cs typeface="Arial"/>
              </a:rPr>
              <a:t>原计划：项目计划.md；更新证据：用户测评与修改记录.md、问题反馈.md与当前硬件链路状态。</a:t>
            </a:r>
            <a:endParaRPr/>
          </a:p>
        </p:txBody>
      </p:sp>
      <p:sp>
        <p:nvSpPr>
          <p:cNvPr id="325" name="文本框 324">
            <a:extLst>
              <a:ext uri="{FF2B5EF4-FFF2-40B4-BE49-F238E27FC236}">
                <a16:creationId xmlns:a16="http://schemas.microsoft.com/office/drawing/2014/main" id="{D828D73C-71B8-41DB-A79C-F8C2897DC151}"/>
              </a:ext>
            </a:extLst>
          </p:cNvPr>
          <p:cNvSpPr>
            <a:spLocks noGrp="1"/>
          </p:cNvSpPr>
          <p:nvPr/>
        </p:nvSpPr>
        <p:spPr>
          <a:xfrm>
            <a:off x="11210925" y="6353175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06 / 20</a:t>
            </a:r>
            <a:endParaRPr/>
          </a:p>
        </p:txBody>
      </p:sp>
      <p:sp>
        <p:nvSpPr>
          <p:cNvPr id="326" name="矩形 325">
            <a:extLst>
              <a:ext uri="{FF2B5EF4-FFF2-40B4-BE49-F238E27FC236}">
                <a16:creationId xmlns:a16="http://schemas.microsoft.com/office/drawing/2014/main" id="{76995635-9E99-46D0-A576-D299423C55BA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575" b="1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真正的破局不是叠加功能，而是重新选择证据、验证顺序与交付方式。</a:t>
            </a:r>
          </a:p>
        </p:txBody>
      </p:sp>
      <p:graphicFrame>
        <p:nvGraphicFramePr>
          <p:cNvPr id="337" name="表格 336"/>
          <p:cNvGraphicFramePr/>
          <p:nvPr/>
        </p:nvGraphicFramePr>
        <p:xfrm>
          <a:off x="571500" y="1781175"/>
          <a:ext cx="11049000" cy="3114675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8669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三大原始挑战</a:t>
                      </a:r>
                    </a:p>
                  </a:txBody>
                  <a:tcPr marL="85725" marR="85725" marT="57150" marB="57150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原计划 / 原有方案</a:t>
                      </a:r>
                    </a:p>
                  </a:txBody>
                  <a:tcPr marL="85725" marR="85725" marT="57150" marB="57150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暴露的约束与转向理由</a:t>
                      </a:r>
                    </a:p>
                  </a:txBody>
                  <a:tcPr marL="85725" marR="85725" marT="57150" marB="57150" anchor="ctr">
                    <a:solidFill>
                      <a:srgbClr val="061F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8669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量化测评不足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依靠问卷、访谈与竞赛同学反馈</a:t>
                      </a:r>
                    </a:p>
                    <a:p>
                      <a:r>
                        <a:rPr sz="142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逐步验证需求与付费意愿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已有12份深访＋5条体验反馈</a:t>
                      </a:r>
                    </a:p>
                    <a:p>
                      <a:r>
                        <a:rPr sz="142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人数与量化结果仍未单列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8669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AI上下文失真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以单次波形解释辅助人工调参</a:t>
                      </a:r>
                    </a:p>
                    <a:p>
                      <a:r>
                        <a:rPr sz="142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由用户确认参数并继续试验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只看局部数据难以建立完整上下文</a:t>
                      </a:r>
                    </a:p>
                    <a:p>
                      <a:r>
                        <a:rPr sz="142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一次回答不能替代连续试验与反馈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8669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硬件联调受阻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按阶段推进至真实硬件闭环</a:t>
                      </a:r>
                    </a:p>
                    <a:p>
                      <a:r>
                        <a:rPr sz="142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计划开展实物自动调参验证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采集、SET_POINT已可用</a:t>
                      </a:r>
                    </a:p>
                    <a:p>
                      <a:r>
                        <a:rPr sz="142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PID / 前馈参数写回尚未完整闭环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8" name="矩形 327">
            <a:extLst>
              <a:ext uri="{FF2B5EF4-FFF2-40B4-BE49-F238E27FC236}">
                <a16:creationId xmlns:a16="http://schemas.microsoft.com/office/drawing/2014/main" id="{5CCFBE14-E397-4A75-92B8-62D2EB0FD2A8}"/>
              </a:ext>
            </a:extLst>
          </p:cNvPr>
          <p:cNvSpPr>
            <a:spLocks noGrp="1"/>
          </p:cNvSpPr>
          <p:nvPr/>
        </p:nvSpPr>
        <p:spPr>
          <a:xfrm>
            <a:off x="571500" y="5181600"/>
            <a:ext cx="11049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500" b="1">
                <a:solidFill>
                  <a:srgbClr val="009ED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9EDB"/>
                </a:solidFill>
                <a:latin typeface="Arial"/>
                <a:ea typeface="Arial"/>
                <a:cs typeface="Arial"/>
              </a:rPr>
              <a:t>主动选择的优先级</a:t>
            </a:r>
          </a:p>
        </p:txBody>
      </p:sp>
      <p:sp>
        <p:nvSpPr>
          <p:cNvPr id="329" name="矩形 328">
            <a:extLst>
              <a:ext uri="{FF2B5EF4-FFF2-40B4-BE49-F238E27FC236}">
                <a16:creationId xmlns:a16="http://schemas.microsoft.com/office/drawing/2014/main" id="{AB36AFB6-6522-43B8-A968-C3695FCF7CCF}"/>
              </a:ext>
            </a:extLst>
          </p:cNvPr>
          <p:cNvSpPr>
            <a:spLocks noGrp="1"/>
          </p:cNvSpPr>
          <p:nvPr/>
        </p:nvSpPr>
        <p:spPr>
          <a:xfrm>
            <a:off x="571500" y="5572125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575" b="0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61F32"/>
                </a:solidFill>
                <a:latin typeface="Arial"/>
                <a:ea typeface="Arial"/>
                <a:cs typeface="Arial"/>
              </a:rPr>
              <a:t>以5条反馈推动产品迭代，再用可追溯的量化复测与真实硬件联调，检验体验改善和应用价值。</a:t>
            </a:r>
          </a:p>
        </p:txBody>
      </p:sp>
    </p:spTree>
    <p:extLst>
      <p:ext uri="{BB962C8B-B14F-4D97-AF65-F5344CB8AC3E}">
        <p14:creationId xmlns:p14="http://schemas.microsoft.com/office/powerpoint/2010/main" val="1167514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矩形 326">
            <a:extLst>
              <a:ext uri="{FF2B5EF4-FFF2-40B4-BE49-F238E27FC236}">
                <a16:creationId xmlns:a16="http://schemas.microsoft.com/office/drawing/2014/main" id="{028C408C-08BE-4548-873F-68C260F44D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28" name="文本框 327">
            <a:extLst>
              <a:ext uri="{FF2B5EF4-FFF2-40B4-BE49-F238E27FC236}">
                <a16:creationId xmlns:a16="http://schemas.microsoft.com/office/drawing/2014/main" id="{33A8D62B-ABDD-4BDC-93E1-0FDD5C13CF48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1104900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主动性 B｜改变路径，用可见证据证明破局行动</a:t>
            </a:r>
            <a:endParaRPr/>
          </a:p>
        </p:txBody>
      </p:sp>
      <p:sp>
        <p:nvSpPr>
          <p:cNvPr id="329" name="矩形 328">
            <a:extLst>
              <a:ext uri="{FF2B5EF4-FFF2-40B4-BE49-F238E27FC236}">
                <a16:creationId xmlns:a16="http://schemas.microsoft.com/office/drawing/2014/main" id="{1827D7AD-1995-4995-BBD5-89EECE24C8E1}"/>
              </a:ext>
            </a:extLst>
          </p:cNvPr>
          <p:cNvSpPr>
            <a:spLocks noGrp="1"/>
          </p:cNvSpPr>
          <p:nvPr/>
        </p:nvSpPr>
        <p:spPr>
          <a:xfrm>
            <a:off x="571500" y="96202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343" name="文本框 342">
            <a:extLst>
              <a:ext uri="{FF2B5EF4-FFF2-40B4-BE49-F238E27FC236}">
                <a16:creationId xmlns:a16="http://schemas.microsoft.com/office/drawing/2014/main" id="{E0EFD2D4-AE12-4006-966D-4A2A78F14AFF}"/>
              </a:ext>
            </a:extLst>
          </p:cNvPr>
          <p:cNvSpPr>
            <a:spLocks noGrp="1"/>
          </p:cNvSpPr>
          <p:nvPr/>
        </p:nvSpPr>
        <p:spPr>
          <a:xfrm>
            <a:off x="571500" y="6353175"/>
            <a:ext cx="10477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  <a:defRPr sz="975">
                <a:solidFill>
                  <a:srgbClr val="728090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728090"/>
                </a:solidFill>
                <a:latin typeface="Arial"/>
                <a:ea typeface="Arial"/>
                <a:cs typeface="Arial"/>
              </a:rPr>
              <a:t>证据：Git记录、运行界面与5条用户测评反馈；诊断有效率为既有记录，不作为新增硬件测评结果。</a:t>
            </a:r>
            <a:endParaRPr/>
          </a:p>
        </p:txBody>
      </p:sp>
      <p:sp>
        <p:nvSpPr>
          <p:cNvPr id="344" name="文本框 343">
            <a:extLst>
              <a:ext uri="{FF2B5EF4-FFF2-40B4-BE49-F238E27FC236}">
                <a16:creationId xmlns:a16="http://schemas.microsoft.com/office/drawing/2014/main" id="{D8FEFA56-222D-4862-AAEC-324F2ACFFF7F}"/>
              </a:ext>
            </a:extLst>
          </p:cNvPr>
          <p:cNvSpPr>
            <a:spLocks noGrp="1"/>
          </p:cNvSpPr>
          <p:nvPr/>
        </p:nvSpPr>
        <p:spPr>
          <a:xfrm>
            <a:off x="11210925" y="6353175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07 / 20</a:t>
            </a:r>
            <a:endParaRPr/>
          </a:p>
        </p:txBody>
      </p:sp>
      <p:graphicFrame>
        <p:nvGraphicFramePr>
          <p:cNvPr id="362" name="表格 361"/>
          <p:cNvGraphicFramePr/>
          <p:nvPr/>
        </p:nvGraphicFramePr>
        <p:xfrm>
          <a:off x="571500" y="1152525"/>
          <a:ext cx="11049000" cy="1866900"/>
        </p:xfrm>
        <a:graphic>
          <a:graphicData uri="http://schemas.openxmlformats.org/drawingml/2006/table">
            <a:tbl>
              <a:tblPr/>
              <a:tblGrid>
                <a:gridCol w="523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7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与原计划相比，主动改变了什么</a:t>
                      </a:r>
                    </a:p>
                  </a:txBody>
                  <a:tcPr marL="85725" marR="85725" marT="57150" marB="57150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行动与交付结果</a:t>
                      </a:r>
                    </a:p>
                  </a:txBody>
                  <a:tcPr marL="85725" marR="85725" marT="57150" marB="57150" anchor="ctr">
                    <a:solidFill>
                      <a:srgbClr val="061F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单轮解释 → 有上下文的工具调用闭环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8/7开展 Harness 研究；8/25形成PID Agent与发布文档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先等实物 → 先做低成本仿真验证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沉淀51份波形资产、12项自测；真实参数写回继续补齐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团队内部演示 → 可安装、可复用的开放交付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v1.1.0安装包、MIT许可与文档；反馈记录称安装上手更容易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6" name="矩形 345">
            <a:extLst>
              <a:ext uri="{FF2B5EF4-FFF2-40B4-BE49-F238E27FC236}">
                <a16:creationId xmlns:a16="http://schemas.microsoft.com/office/drawing/2014/main" id="{383BDE7E-B99E-4E21-8009-A999007AE176}"/>
              </a:ext>
            </a:extLst>
          </p:cNvPr>
          <p:cNvSpPr>
            <a:spLocks noGrp="1"/>
          </p:cNvSpPr>
          <p:nvPr/>
        </p:nvSpPr>
        <p:spPr>
          <a:xfrm>
            <a:off x="571500" y="3209925"/>
            <a:ext cx="52387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500" b="1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真实行动证据｜Git提交时间线</a:t>
            </a:r>
          </a:p>
        </p:txBody>
      </p:sp>
      <p:pic>
        <p:nvPicPr>
          <p:cNvPr id="364" name="图片 36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3648989"/>
            <a:ext cx="5286375" cy="2046048"/>
          </a:xfrm>
          <a:prstGeom prst="rect">
            <a:avLst/>
          </a:prstGeom>
        </p:spPr>
      </p:pic>
      <p:sp>
        <p:nvSpPr>
          <p:cNvPr id="348" name="矩形 347">
            <a:extLst>
              <a:ext uri="{FF2B5EF4-FFF2-40B4-BE49-F238E27FC236}">
                <a16:creationId xmlns:a16="http://schemas.microsoft.com/office/drawing/2014/main" id="{911C6A46-1447-46BD-9B95-D4E364706F33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050" b="0">
                <a:solidFill>
                  <a:srgbClr val="53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477"/>
                </a:solidFill>
                <a:latin typeface="Arial"/>
                <a:ea typeface="Arial"/>
                <a:cs typeface="Arial"/>
              </a:rPr>
              <a:t>8/7：研究 → 8/24：解耦 → 8/25：Agent、文档与安装包</a:t>
            </a:r>
          </a:p>
        </p:txBody>
      </p:sp>
      <p:sp>
        <p:nvSpPr>
          <p:cNvPr id="349" name="矩形 348">
            <a:extLst>
              <a:ext uri="{FF2B5EF4-FFF2-40B4-BE49-F238E27FC236}">
                <a16:creationId xmlns:a16="http://schemas.microsoft.com/office/drawing/2014/main" id="{174B245A-B060-41F7-802C-979A5C0F6A4C}"/>
              </a:ext>
            </a:extLst>
          </p:cNvPr>
          <p:cNvSpPr>
            <a:spLocks noGrp="1"/>
          </p:cNvSpPr>
          <p:nvPr/>
        </p:nvSpPr>
        <p:spPr>
          <a:xfrm>
            <a:off x="6238875" y="3209925"/>
            <a:ext cx="538162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500" b="1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行动前后｜诊断有效率与实际运行界面</a:t>
            </a:r>
          </a:p>
        </p:txBody>
      </p:sp>
      <p:graphicFrame>
        <p:nvGraphicFramePr>
          <p:cNvPr id="367" name="Chart"/>
          <p:cNvGraphicFramePr/>
          <p:nvPr/>
        </p:nvGraphicFramePr>
        <p:xfrm>
          <a:off x="6191250" y="3552825"/>
          <a:ext cx="2428875" cy="201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368" name="图片 36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919155" y="3600450"/>
            <a:ext cx="2592816" cy="1895475"/>
          </a:xfrm>
          <a:prstGeom prst="rect">
            <a:avLst/>
          </a:prstGeom>
        </p:spPr>
      </p:pic>
      <p:sp>
        <p:nvSpPr>
          <p:cNvPr id="352" name="矩形 351">
            <a:extLst>
              <a:ext uri="{FF2B5EF4-FFF2-40B4-BE49-F238E27FC236}">
                <a16:creationId xmlns:a16="http://schemas.microsoft.com/office/drawing/2014/main" id="{FBD7142F-5C88-42B7-B119-F9390D6B0AE0}"/>
              </a:ext>
            </a:extLst>
          </p:cNvPr>
          <p:cNvSpPr>
            <a:spLocks noGrp="1"/>
          </p:cNvSpPr>
          <p:nvPr/>
        </p:nvSpPr>
        <p:spPr>
          <a:xfrm>
            <a:off x="6238875" y="5753100"/>
            <a:ext cx="5381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050" b="0">
                <a:solidFill>
                  <a:srgbClr val="53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477"/>
                </a:solidFill>
                <a:latin typeface="Arial"/>
                <a:ea typeface="Arial"/>
                <a:cs typeface="Arial"/>
              </a:rPr>
              <a:t>有效率改善＋45个百分点；右侧为真实PID仿真界面</a:t>
            </a:r>
          </a:p>
        </p:txBody>
      </p:sp>
    </p:spTree>
    <p:extLst>
      <p:ext uri="{BB962C8B-B14F-4D97-AF65-F5344CB8AC3E}">
        <p14:creationId xmlns:p14="http://schemas.microsoft.com/office/powerpoint/2010/main" val="2097916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矩形 345">
            <a:extLst>
              <a:ext uri="{FF2B5EF4-FFF2-40B4-BE49-F238E27FC236}">
                <a16:creationId xmlns:a16="http://schemas.microsoft.com/office/drawing/2014/main" id="{989F02E8-8F15-4E18-96C8-BAF08C1D39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47" name="文本框 346">
            <a:extLst>
              <a:ext uri="{FF2B5EF4-FFF2-40B4-BE49-F238E27FC236}">
                <a16:creationId xmlns:a16="http://schemas.microsoft.com/office/drawing/2014/main" id="{C6C15010-B46A-489D-9F05-FC05DDD2DF00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1104900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应对上下文失真与硬件风险：预设底线＋触发＋降级</a:t>
            </a:r>
            <a:endParaRPr/>
          </a:p>
        </p:txBody>
      </p:sp>
      <p:sp>
        <p:nvSpPr>
          <p:cNvPr id="348" name="矩形 347">
            <a:extLst>
              <a:ext uri="{FF2B5EF4-FFF2-40B4-BE49-F238E27FC236}">
                <a16:creationId xmlns:a16="http://schemas.microsoft.com/office/drawing/2014/main" id="{B2D59D1C-AD63-4A07-B611-572780F07BEF}"/>
              </a:ext>
            </a:extLst>
          </p:cNvPr>
          <p:cNvSpPr>
            <a:spLocks noGrp="1"/>
          </p:cNvSpPr>
          <p:nvPr/>
        </p:nvSpPr>
        <p:spPr>
          <a:xfrm>
            <a:off x="571500" y="96202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349" name="文本框 348">
            <a:extLst>
              <a:ext uri="{FF2B5EF4-FFF2-40B4-BE49-F238E27FC236}">
                <a16:creationId xmlns:a16="http://schemas.microsoft.com/office/drawing/2014/main" id="{39CD4FA0-537B-4C69-B39C-0E1BCF1CEFC5}"/>
              </a:ext>
            </a:extLst>
          </p:cNvPr>
          <p:cNvSpPr>
            <a:spLocks noGrp="1"/>
          </p:cNvSpPr>
          <p:nvPr/>
        </p:nvSpPr>
        <p:spPr>
          <a:xfrm>
            <a:off x="571500" y="1181100"/>
            <a:ext cx="50863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 spc="75">
                <a:solidFill>
                  <a:srgbClr val="061F32"/>
                </a:solidFill>
                <a:latin typeface="Arial"/>
                <a:ea typeface="Arial"/>
                <a:cs typeface="Arial"/>
              </a:rPr>
              <a:t>三要素</a:t>
            </a:r>
            <a:endParaRPr/>
          </a:p>
        </p:txBody>
      </p:sp>
      <p:sp>
        <p:nvSpPr>
          <p:cNvPr id="350" name="矩形: 圆角 349">
            <a:extLst>
              <a:ext uri="{FF2B5EF4-FFF2-40B4-BE49-F238E27FC236}">
                <a16:creationId xmlns:a16="http://schemas.microsoft.com/office/drawing/2014/main" id="{DEA6278F-1FA4-4671-9FFF-EFD04B7D445E}"/>
              </a:ext>
            </a:extLst>
          </p:cNvPr>
          <p:cNvSpPr>
            <a:spLocks noGrp="1"/>
          </p:cNvSpPr>
          <p:nvPr/>
        </p:nvSpPr>
        <p:spPr>
          <a:xfrm>
            <a:off x="571500" y="2295525"/>
            <a:ext cx="5086350" cy="714375"/>
          </a:xfrm>
          <a:prstGeom prst="roundRect">
            <a:avLst>
              <a:gd name="adj" fmla="val 10667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pic>
        <p:nvPicPr>
          <p:cNvPr id="379" name="图形 35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50" y="2438400"/>
            <a:ext cx="285750" cy="285750"/>
          </a:xfrm>
          <a:prstGeom prst="rect">
            <a:avLst/>
          </a:prstGeom>
        </p:spPr>
      </p:pic>
      <p:sp>
        <p:nvSpPr>
          <p:cNvPr id="352" name="文本框 351">
            <a:extLst>
              <a:ext uri="{FF2B5EF4-FFF2-40B4-BE49-F238E27FC236}">
                <a16:creationId xmlns:a16="http://schemas.microsoft.com/office/drawing/2014/main" id="{484458AF-4B42-4A3B-952E-88337D850231}"/>
              </a:ext>
            </a:extLst>
          </p:cNvPr>
          <p:cNvSpPr>
            <a:spLocks noGrp="1"/>
          </p:cNvSpPr>
          <p:nvPr/>
        </p:nvSpPr>
        <p:spPr>
          <a:xfrm>
            <a:off x="1143000" y="2438400"/>
            <a:ext cx="43434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预设底线</a:t>
            </a:r>
            <a:endParaRPr/>
          </a:p>
        </p:txBody>
      </p:sp>
      <p:sp>
        <p:nvSpPr>
          <p:cNvPr id="353" name="文本框 352">
            <a:extLst>
              <a:ext uri="{FF2B5EF4-FFF2-40B4-BE49-F238E27FC236}">
                <a16:creationId xmlns:a16="http://schemas.microsoft.com/office/drawing/2014/main" id="{31990703-B73D-431E-A420-925DF50AAABD}"/>
              </a:ext>
            </a:extLst>
          </p:cNvPr>
          <p:cNvSpPr>
            <a:spLocks noGrp="1"/>
          </p:cNvSpPr>
          <p:nvPr/>
        </p:nvSpPr>
        <p:spPr>
          <a:xfrm>
            <a:off x="1143000" y="2695575"/>
            <a:ext cx="4343400" cy="342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25">
                <a:solidFill>
                  <a:srgbClr val="44546A"/>
                </a:solidFill>
                <a:latin typeface="Arial"/>
                <a:ea typeface="Arial"/>
                <a:cs typeface="Arial"/>
              </a:rPr>
              <a:t>反馈不足 5 份→备选招募；Kp 超过 20 或超范围→护栏裁剪+单步增幅拦截</a:t>
            </a:r>
            <a:endParaRPr/>
          </a:p>
        </p:txBody>
      </p:sp>
      <p:sp>
        <p:nvSpPr>
          <p:cNvPr id="354" name="矩形: 圆角 353">
            <a:extLst>
              <a:ext uri="{FF2B5EF4-FFF2-40B4-BE49-F238E27FC236}">
                <a16:creationId xmlns:a16="http://schemas.microsoft.com/office/drawing/2014/main" id="{162D6E81-188C-447A-8622-48B3E166FEFA}"/>
              </a:ext>
            </a:extLst>
          </p:cNvPr>
          <p:cNvSpPr>
            <a:spLocks noGrp="1"/>
          </p:cNvSpPr>
          <p:nvPr/>
        </p:nvSpPr>
        <p:spPr>
          <a:xfrm>
            <a:off x="571500" y="3905250"/>
            <a:ext cx="5086350" cy="714375"/>
          </a:xfrm>
          <a:prstGeom prst="roundRect">
            <a:avLst>
              <a:gd name="adj" fmla="val 10667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pic>
        <p:nvPicPr>
          <p:cNvPr id="383" name="图形 35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950" y="4048125"/>
            <a:ext cx="285750" cy="285750"/>
          </a:xfrm>
          <a:prstGeom prst="rect">
            <a:avLst/>
          </a:prstGeom>
        </p:spPr>
      </p:pic>
      <p:sp>
        <p:nvSpPr>
          <p:cNvPr id="356" name="文本框 355">
            <a:extLst>
              <a:ext uri="{FF2B5EF4-FFF2-40B4-BE49-F238E27FC236}">
                <a16:creationId xmlns:a16="http://schemas.microsoft.com/office/drawing/2014/main" id="{9CADC4A5-1F1D-488C-96AF-3D9944C28A10}"/>
              </a:ext>
            </a:extLst>
          </p:cNvPr>
          <p:cNvSpPr>
            <a:spLocks noGrp="1"/>
          </p:cNvSpPr>
          <p:nvPr/>
        </p:nvSpPr>
        <p:spPr>
          <a:xfrm>
            <a:off x="1162050" y="4048125"/>
            <a:ext cx="38195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触发与执行</a:t>
            </a:r>
            <a:endParaRPr/>
          </a:p>
        </p:txBody>
      </p:sp>
      <p:sp>
        <p:nvSpPr>
          <p:cNvPr id="357" name="文本框 356">
            <a:extLst>
              <a:ext uri="{FF2B5EF4-FFF2-40B4-BE49-F238E27FC236}">
                <a16:creationId xmlns:a16="http://schemas.microsoft.com/office/drawing/2014/main" id="{63AB34A1-1931-4F18-B963-FCCE13C217B8}"/>
              </a:ext>
            </a:extLst>
          </p:cNvPr>
          <p:cNvSpPr>
            <a:spLocks noGrp="1"/>
          </p:cNvSpPr>
          <p:nvPr/>
        </p:nvSpPr>
        <p:spPr>
          <a:xfrm>
            <a:off x="1162050" y="4305300"/>
            <a:ext cx="38195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125">
                <a:solidFill>
                  <a:srgbClr val="44546A"/>
                </a:solidFill>
                <a:latin typeface="Arial"/>
                <a:ea typeface="Arial"/>
                <a:cs typeface="Arial"/>
              </a:rPr>
              <a:t>数据超过 50KB→上下文自动压缩；硬件超期→降级路径切换</a:t>
            </a:r>
            <a:endParaRPr/>
          </a:p>
        </p:txBody>
      </p:sp>
      <p:sp>
        <p:nvSpPr>
          <p:cNvPr id="358" name="矩形: 圆角 357">
            <a:extLst>
              <a:ext uri="{FF2B5EF4-FFF2-40B4-BE49-F238E27FC236}">
                <a16:creationId xmlns:a16="http://schemas.microsoft.com/office/drawing/2014/main" id="{8835675E-911B-486F-B2AF-9353CC7DCE39}"/>
              </a:ext>
            </a:extLst>
          </p:cNvPr>
          <p:cNvSpPr>
            <a:spLocks noGrp="1"/>
          </p:cNvSpPr>
          <p:nvPr/>
        </p:nvSpPr>
        <p:spPr>
          <a:xfrm>
            <a:off x="571500" y="5505450"/>
            <a:ext cx="5086350" cy="714375"/>
          </a:xfrm>
          <a:prstGeom prst="roundRect">
            <a:avLst>
              <a:gd name="adj" fmla="val 10667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pic>
        <p:nvPicPr>
          <p:cNvPr id="387" name="图形 35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2950" y="5648325"/>
            <a:ext cx="285750" cy="285750"/>
          </a:xfrm>
          <a:prstGeom prst="rect">
            <a:avLst/>
          </a:prstGeom>
        </p:spPr>
      </p:pic>
      <p:sp>
        <p:nvSpPr>
          <p:cNvPr id="360" name="文本框 359">
            <a:extLst>
              <a:ext uri="{FF2B5EF4-FFF2-40B4-BE49-F238E27FC236}">
                <a16:creationId xmlns:a16="http://schemas.microsoft.com/office/drawing/2014/main" id="{7262EC38-6F47-47DB-933D-B5ED130D142C}"/>
              </a:ext>
            </a:extLst>
          </p:cNvPr>
          <p:cNvSpPr>
            <a:spLocks noGrp="1"/>
          </p:cNvSpPr>
          <p:nvPr/>
        </p:nvSpPr>
        <p:spPr>
          <a:xfrm>
            <a:off x="1162050" y="5648325"/>
            <a:ext cx="32099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降级路径</a:t>
            </a:r>
            <a:endParaRPr/>
          </a:p>
        </p:txBody>
      </p:sp>
      <p:sp>
        <p:nvSpPr>
          <p:cNvPr id="361" name="文本框 360">
            <a:extLst>
              <a:ext uri="{FF2B5EF4-FFF2-40B4-BE49-F238E27FC236}">
                <a16:creationId xmlns:a16="http://schemas.microsoft.com/office/drawing/2014/main" id="{2AD0277A-E767-49C8-B62E-92BF42919787}"/>
              </a:ext>
            </a:extLst>
          </p:cNvPr>
          <p:cNvSpPr>
            <a:spLocks noGrp="1"/>
          </p:cNvSpPr>
          <p:nvPr/>
        </p:nvSpPr>
        <p:spPr>
          <a:xfrm>
            <a:off x="1162050" y="5905500"/>
            <a:ext cx="32099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125">
                <a:solidFill>
                  <a:srgbClr val="44546A"/>
                </a:solidFill>
                <a:latin typeface="Arial"/>
                <a:ea typeface="Arial"/>
                <a:cs typeface="Arial"/>
              </a:rPr>
              <a:t>仿真验收 + 通信层/指令集就绪，结题交付不受阻塞</a:t>
            </a:r>
            <a:endParaRPr/>
          </a:p>
        </p:txBody>
      </p:sp>
      <p:sp>
        <p:nvSpPr>
          <p:cNvPr id="362" name="文本框 361">
            <a:extLst>
              <a:ext uri="{FF2B5EF4-FFF2-40B4-BE49-F238E27FC236}">
                <a16:creationId xmlns:a16="http://schemas.microsoft.com/office/drawing/2014/main" id="{59341087-59D4-4525-AA3B-9C79E93E762D}"/>
              </a:ext>
            </a:extLst>
          </p:cNvPr>
          <p:cNvSpPr>
            <a:spLocks noGrp="1"/>
          </p:cNvSpPr>
          <p:nvPr/>
        </p:nvSpPr>
        <p:spPr>
          <a:xfrm>
            <a:off x="6000750" y="1181100"/>
            <a:ext cx="56197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 spc="75">
                <a:solidFill>
                  <a:srgbClr val="08A6F6"/>
                </a:solidFill>
                <a:latin typeface="Arial"/>
                <a:ea typeface="Arial"/>
                <a:cs typeface="Arial"/>
              </a:rPr>
              <a:t>真实案例（已触发）</a:t>
            </a:r>
            <a:endParaRPr/>
          </a:p>
        </p:txBody>
      </p:sp>
      <p:sp>
        <p:nvSpPr>
          <p:cNvPr id="363" name="任意多边形: 形状 362">
            <a:extLst>
              <a:ext uri="{FF2B5EF4-FFF2-40B4-BE49-F238E27FC236}">
                <a16:creationId xmlns:a16="http://schemas.microsoft.com/office/drawing/2014/main" id="{275ED199-4CD5-4EFF-BDD8-0A5324F1D077}"/>
              </a:ext>
            </a:extLst>
          </p:cNvPr>
          <p:cNvSpPr>
            <a:spLocks noGrp="1"/>
          </p:cNvSpPr>
          <p:nvPr/>
        </p:nvSpPr>
        <p:spPr>
          <a:xfrm>
            <a:off x="6000750" y="1409700"/>
            <a:ext cx="5657850" cy="2409825"/>
          </a:xfrm>
          <a:custGeom>
            <a:avLst/>
            <a:gdLst/>
            <a:ahLst/>
            <a:cxnLst/>
            <a:rect l="0" t="0" r="0" b="0"/>
            <a:pathLst>
              <a:path w="594" h="253">
                <a:moveTo>
                  <a:pt x="0" y="0"/>
                </a:moveTo>
                <a:lnTo>
                  <a:pt x="4" y="0"/>
                </a:lnTo>
                <a:lnTo>
                  <a:pt x="4" y="253"/>
                </a:lnTo>
                <a:lnTo>
                  <a:pt x="0" y="253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364" name="文本框 363">
            <a:extLst>
              <a:ext uri="{FF2B5EF4-FFF2-40B4-BE49-F238E27FC236}">
                <a16:creationId xmlns:a16="http://schemas.microsoft.com/office/drawing/2014/main" id="{F5E6351D-9E1E-4AFB-8E64-850472564AF9}"/>
              </a:ext>
            </a:extLst>
          </p:cNvPr>
          <p:cNvSpPr>
            <a:spLocks noGrp="1"/>
          </p:cNvSpPr>
          <p:nvPr/>
        </p:nvSpPr>
        <p:spPr>
          <a:xfrm>
            <a:off x="6210300" y="2181225"/>
            <a:ext cx="54102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75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案例 A · 开发期</a:t>
            </a:r>
            <a:endParaRPr/>
          </a:p>
        </p:txBody>
      </p:sp>
      <p:sp>
        <p:nvSpPr>
          <p:cNvPr id="365" name="文本框 364">
            <a:extLst>
              <a:ext uri="{FF2B5EF4-FFF2-40B4-BE49-F238E27FC236}">
                <a16:creationId xmlns:a16="http://schemas.microsoft.com/office/drawing/2014/main" id="{3FA09E97-4955-4222-BC5F-9410681E7E5D}"/>
              </a:ext>
            </a:extLst>
          </p:cNvPr>
          <p:cNvSpPr>
            <a:spLocks noGrp="1"/>
          </p:cNvSpPr>
          <p:nvPr/>
        </p:nvSpPr>
        <p:spPr>
          <a:xfrm>
            <a:off x="6210300" y="2505075"/>
            <a:ext cx="54102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200">
                <a:solidFill>
                  <a:srgbClr val="44546A"/>
                </a:solidFill>
                <a:latin typeface="Arial"/>
                <a:ea typeface="Arial"/>
                <a:cs typeface="Arial"/>
              </a:rPr>
              <a:t>AI 上下文过长→诊断失真→触发“上下文压缩”熔断（阈值 50KB、仅压数据块、保留尾部 3 条）→ 对话恢复聚焦。数据：compaction.mjs</a:t>
            </a:r>
            <a:endParaRPr/>
          </a:p>
        </p:txBody>
      </p:sp>
      <p:sp>
        <p:nvSpPr>
          <p:cNvPr id="366" name="任意多边形: 形状 365">
            <a:extLst>
              <a:ext uri="{FF2B5EF4-FFF2-40B4-BE49-F238E27FC236}">
                <a16:creationId xmlns:a16="http://schemas.microsoft.com/office/drawing/2014/main" id="{5831B578-A3C3-414F-A9C6-0AD2FD254F5A}"/>
              </a:ext>
            </a:extLst>
          </p:cNvPr>
          <p:cNvSpPr>
            <a:spLocks noGrp="1"/>
          </p:cNvSpPr>
          <p:nvPr/>
        </p:nvSpPr>
        <p:spPr>
          <a:xfrm>
            <a:off x="6000750" y="3819525"/>
            <a:ext cx="5657850" cy="2400300"/>
          </a:xfrm>
          <a:custGeom>
            <a:avLst/>
            <a:gdLst/>
            <a:ahLst/>
            <a:cxnLst/>
            <a:rect l="0" t="0" r="0" b="0"/>
            <a:pathLst>
              <a:path w="594" h="252">
                <a:moveTo>
                  <a:pt x="0" y="0"/>
                </a:moveTo>
                <a:lnTo>
                  <a:pt x="4" y="0"/>
                </a:lnTo>
                <a:lnTo>
                  <a:pt x="4" y="252"/>
                </a:lnTo>
                <a:lnTo>
                  <a:pt x="0" y="252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367" name="文本框 366">
            <a:extLst>
              <a:ext uri="{FF2B5EF4-FFF2-40B4-BE49-F238E27FC236}">
                <a16:creationId xmlns:a16="http://schemas.microsoft.com/office/drawing/2014/main" id="{DC5B3AE7-A412-4C99-B9EB-77722816DAD0}"/>
              </a:ext>
            </a:extLst>
          </p:cNvPr>
          <p:cNvSpPr>
            <a:spLocks noGrp="1"/>
          </p:cNvSpPr>
          <p:nvPr/>
        </p:nvSpPr>
        <p:spPr>
          <a:xfrm>
            <a:off x="6210300" y="4581525"/>
            <a:ext cx="54102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75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案例 B · 计划期</a:t>
            </a:r>
            <a:endParaRPr/>
          </a:p>
        </p:txBody>
      </p:sp>
      <p:sp>
        <p:nvSpPr>
          <p:cNvPr id="368" name="文本框 367">
            <a:extLst>
              <a:ext uri="{FF2B5EF4-FFF2-40B4-BE49-F238E27FC236}">
                <a16:creationId xmlns:a16="http://schemas.microsoft.com/office/drawing/2014/main" id="{A0251E97-5C52-4756-A1EF-E3E762E0F26E}"/>
              </a:ext>
            </a:extLst>
          </p:cNvPr>
          <p:cNvSpPr>
            <a:spLocks noGrp="1"/>
          </p:cNvSpPr>
          <p:nvPr/>
        </p:nvSpPr>
        <p:spPr>
          <a:xfrm>
            <a:off x="6210300" y="4905375"/>
            <a:ext cx="54102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200">
                <a:solidFill>
                  <a:srgbClr val="44546A"/>
                </a:solidFill>
                <a:latin typeface="Arial"/>
                <a:ea typeface="Arial"/>
                <a:cs typeface="Arial"/>
              </a:rPr>
              <a:t>中期“8/3 完成硬件联调”未达成→触发计划降级熔断→改为三策略仿真线上实测 + 通信层/指令集就绪→结题交付不受阻塞</a:t>
            </a:r>
            <a:endParaRPr/>
          </a:p>
        </p:txBody>
      </p:sp>
      <p:sp>
        <p:nvSpPr>
          <p:cNvPr id="369" name="文本框 368">
            <a:extLst>
              <a:ext uri="{FF2B5EF4-FFF2-40B4-BE49-F238E27FC236}">
                <a16:creationId xmlns:a16="http://schemas.microsoft.com/office/drawing/2014/main" id="{C19B18A2-A19C-4612-BAE1-1838647EEF94}"/>
              </a:ext>
            </a:extLst>
          </p:cNvPr>
          <p:cNvSpPr>
            <a:spLocks noGrp="1"/>
          </p:cNvSpPr>
          <p:nvPr/>
        </p:nvSpPr>
        <p:spPr>
          <a:xfrm>
            <a:off x="571500" y="6353175"/>
            <a:ext cx="10477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  <a:defRPr sz="975">
                <a:solidFill>
                  <a:srgbClr val="728090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728090"/>
                </a:solidFill>
                <a:latin typeface="Arial"/>
                <a:ea typeface="Arial"/>
                <a:cs typeface="Arial"/>
              </a:rPr>
              <a:t>承接破局行动：以熔断与人工确认约束AI上下文失真和硬件联调风险；机制、案例与时间戳证据保持原记录。</a:t>
            </a:r>
            <a:endParaRPr/>
          </a:p>
        </p:txBody>
      </p:sp>
      <p:sp>
        <p:nvSpPr>
          <p:cNvPr id="370" name="文本框 369">
            <a:extLst>
              <a:ext uri="{FF2B5EF4-FFF2-40B4-BE49-F238E27FC236}">
                <a16:creationId xmlns:a16="http://schemas.microsoft.com/office/drawing/2014/main" id="{9232EC01-849B-4680-9B5F-AEB371471890}"/>
              </a:ext>
            </a:extLst>
          </p:cNvPr>
          <p:cNvSpPr>
            <a:spLocks noGrp="1"/>
          </p:cNvSpPr>
          <p:nvPr/>
        </p:nvSpPr>
        <p:spPr>
          <a:xfrm>
            <a:off x="11210925" y="6353175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08 / 20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35305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矩形 371">
            <a:extLst>
              <a:ext uri="{FF2B5EF4-FFF2-40B4-BE49-F238E27FC236}">
                <a16:creationId xmlns:a16="http://schemas.microsoft.com/office/drawing/2014/main" id="{DDB9DBC0-4143-48B1-B8EA-F3C9959DEC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73" name="文本框 372">
            <a:extLst>
              <a:ext uri="{FF2B5EF4-FFF2-40B4-BE49-F238E27FC236}">
                <a16:creationId xmlns:a16="http://schemas.microsoft.com/office/drawing/2014/main" id="{7DA41FB7-CB78-4C7E-9A28-C3BF0B29D561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1104900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时间戳证据链：预警→决策→回升，0 次线上事故</a:t>
            </a:r>
            <a:endParaRPr/>
          </a:p>
        </p:txBody>
      </p:sp>
      <p:sp>
        <p:nvSpPr>
          <p:cNvPr id="374" name="矩形 373">
            <a:extLst>
              <a:ext uri="{FF2B5EF4-FFF2-40B4-BE49-F238E27FC236}">
                <a16:creationId xmlns:a16="http://schemas.microsoft.com/office/drawing/2014/main" id="{AE3C4D62-3B90-4D1C-A618-638DE2A9021D}"/>
              </a:ext>
            </a:extLst>
          </p:cNvPr>
          <p:cNvSpPr>
            <a:spLocks noGrp="1"/>
          </p:cNvSpPr>
          <p:nvPr/>
        </p:nvSpPr>
        <p:spPr>
          <a:xfrm>
            <a:off x="571500" y="96202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375" name="矩形: 圆角 374">
            <a:extLst>
              <a:ext uri="{FF2B5EF4-FFF2-40B4-BE49-F238E27FC236}">
                <a16:creationId xmlns:a16="http://schemas.microsoft.com/office/drawing/2014/main" id="{CC7CA85B-50A8-42CB-8715-E3CF49839C30}"/>
              </a:ext>
            </a:extLst>
          </p:cNvPr>
          <p:cNvSpPr>
            <a:spLocks noGrp="1"/>
          </p:cNvSpPr>
          <p:nvPr/>
        </p:nvSpPr>
        <p:spPr>
          <a:xfrm>
            <a:off x="571500" y="1219200"/>
            <a:ext cx="3609975" cy="1238250"/>
          </a:xfrm>
          <a:prstGeom prst="roundRect">
            <a:avLst>
              <a:gd name="adj" fmla="val 6154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sp>
        <p:nvSpPr>
          <p:cNvPr id="376" name="任意多边形: 形状 375">
            <a:extLst>
              <a:ext uri="{FF2B5EF4-FFF2-40B4-BE49-F238E27FC236}">
                <a16:creationId xmlns:a16="http://schemas.microsoft.com/office/drawing/2014/main" id="{CAF89CD9-7895-4916-BB5F-C995D60E60A8}"/>
              </a:ext>
            </a:extLst>
          </p:cNvPr>
          <p:cNvSpPr>
            <a:spLocks noGrp="1"/>
          </p:cNvSpPr>
          <p:nvPr/>
        </p:nvSpPr>
        <p:spPr>
          <a:xfrm>
            <a:off x="571500" y="1219200"/>
            <a:ext cx="3609975" cy="1238250"/>
          </a:xfrm>
          <a:custGeom>
            <a:avLst/>
            <a:gdLst/>
            <a:ahLst/>
            <a:cxnLst/>
            <a:rect l="0" t="0" r="0" b="0"/>
            <a:pathLst>
              <a:path w="379" h="130">
                <a:moveTo>
                  <a:pt x="371" y="0"/>
                </a:moveTo>
                <a:cubicBezTo>
                  <a:pt x="375" y="0"/>
                  <a:pt x="378" y="3"/>
                  <a:pt x="379" y="7"/>
                </a:cubicBezTo>
                <a:cubicBezTo>
                  <a:pt x="378" y="5"/>
                  <a:pt x="377" y="4"/>
                  <a:pt x="375" y="4"/>
                </a:cubicBezTo>
                <a:lnTo>
                  <a:pt x="4" y="4"/>
                </a:lnTo>
                <a:cubicBezTo>
                  <a:pt x="2" y="4"/>
                  <a:pt x="0" y="5"/>
                  <a:pt x="0" y="7"/>
                </a:cubicBezTo>
                <a:cubicBezTo>
                  <a:pt x="0" y="3"/>
                  <a:pt x="4" y="0"/>
                  <a:pt x="8" y="0"/>
                </a:cubicBezTo>
                <a:lnTo>
                  <a:pt x="371" y="0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377" name="文本框 376">
            <a:extLst>
              <a:ext uri="{FF2B5EF4-FFF2-40B4-BE49-F238E27FC236}">
                <a16:creationId xmlns:a16="http://schemas.microsoft.com/office/drawing/2014/main" id="{7EAD124B-6638-4FF4-9372-29398F058FB2}"/>
              </a:ext>
            </a:extLst>
          </p:cNvPr>
          <p:cNvSpPr>
            <a:spLocks noGrp="1"/>
          </p:cNvSpPr>
          <p:nvPr/>
        </p:nvSpPr>
        <p:spPr>
          <a:xfrm>
            <a:off x="762000" y="1390650"/>
            <a:ext cx="32289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预警 · 诊断 40%</a:t>
            </a:r>
            <a:endParaRPr/>
          </a:p>
        </p:txBody>
      </p:sp>
      <p:sp>
        <p:nvSpPr>
          <p:cNvPr id="378" name="文本框 377">
            <a:extLst>
              <a:ext uri="{FF2B5EF4-FFF2-40B4-BE49-F238E27FC236}">
                <a16:creationId xmlns:a16="http://schemas.microsoft.com/office/drawing/2014/main" id="{A3355F92-1188-4782-A550-30D81988A801}"/>
              </a:ext>
            </a:extLst>
          </p:cNvPr>
          <p:cNvSpPr>
            <a:spLocks noGrp="1"/>
          </p:cNvSpPr>
          <p:nvPr/>
        </p:nvSpPr>
        <p:spPr>
          <a:xfrm>
            <a:off x="762000" y="1695450"/>
            <a:ext cx="3228975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200">
                <a:solidFill>
                  <a:srgbClr val="44546A"/>
                </a:solidFill>
                <a:latin typeface="Arial"/>
                <a:ea typeface="Arial"/>
                <a:cs typeface="Arial"/>
              </a:rPr>
              <a:t>PID 仿真震荡 + AI 上下文失真，诊断有效率跌至 40%</a:t>
            </a:r>
            <a:endParaRPr/>
          </a:p>
        </p:txBody>
      </p:sp>
      <p:sp>
        <p:nvSpPr>
          <p:cNvPr id="379" name="矩形: 圆角 378">
            <a:extLst>
              <a:ext uri="{FF2B5EF4-FFF2-40B4-BE49-F238E27FC236}">
                <a16:creationId xmlns:a16="http://schemas.microsoft.com/office/drawing/2014/main" id="{ACF3EF2B-2683-41B7-8051-C286C3B5DA0E}"/>
              </a:ext>
            </a:extLst>
          </p:cNvPr>
          <p:cNvSpPr>
            <a:spLocks noGrp="1"/>
          </p:cNvSpPr>
          <p:nvPr/>
        </p:nvSpPr>
        <p:spPr>
          <a:xfrm>
            <a:off x="4295775" y="1219200"/>
            <a:ext cx="3600450" cy="1238250"/>
          </a:xfrm>
          <a:prstGeom prst="roundRect">
            <a:avLst>
              <a:gd name="adj" fmla="val 6154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sp>
        <p:nvSpPr>
          <p:cNvPr id="380" name="任意多边形: 形状 379">
            <a:extLst>
              <a:ext uri="{FF2B5EF4-FFF2-40B4-BE49-F238E27FC236}">
                <a16:creationId xmlns:a16="http://schemas.microsoft.com/office/drawing/2014/main" id="{369A3D0D-ECAD-4603-87BC-6D13FD3A1246}"/>
              </a:ext>
            </a:extLst>
          </p:cNvPr>
          <p:cNvSpPr>
            <a:spLocks noGrp="1"/>
          </p:cNvSpPr>
          <p:nvPr/>
        </p:nvSpPr>
        <p:spPr>
          <a:xfrm>
            <a:off x="4295775" y="1219200"/>
            <a:ext cx="3600450" cy="1238250"/>
          </a:xfrm>
          <a:custGeom>
            <a:avLst/>
            <a:gdLst/>
            <a:ahLst/>
            <a:cxnLst/>
            <a:rect l="0" t="0" r="0" b="0"/>
            <a:pathLst>
              <a:path w="378" h="130">
                <a:moveTo>
                  <a:pt x="370" y="0"/>
                </a:moveTo>
                <a:cubicBezTo>
                  <a:pt x="374" y="0"/>
                  <a:pt x="377" y="3"/>
                  <a:pt x="378" y="7"/>
                </a:cubicBezTo>
                <a:cubicBezTo>
                  <a:pt x="377" y="5"/>
                  <a:pt x="376" y="4"/>
                  <a:pt x="374" y="4"/>
                </a:cubicBezTo>
                <a:lnTo>
                  <a:pt x="4" y="4"/>
                </a:lnTo>
                <a:cubicBezTo>
                  <a:pt x="2" y="4"/>
                  <a:pt x="0" y="5"/>
                  <a:pt x="0" y="7"/>
                </a:cubicBezTo>
                <a:cubicBezTo>
                  <a:pt x="0" y="3"/>
                  <a:pt x="4" y="0"/>
                  <a:pt x="8" y="0"/>
                </a:cubicBezTo>
                <a:lnTo>
                  <a:pt x="370" y="0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381" name="文本框 380">
            <a:extLst>
              <a:ext uri="{FF2B5EF4-FFF2-40B4-BE49-F238E27FC236}">
                <a16:creationId xmlns:a16="http://schemas.microsoft.com/office/drawing/2014/main" id="{466BA8D0-7E82-4520-BD74-31BBB819715B}"/>
              </a:ext>
            </a:extLst>
          </p:cNvPr>
          <p:cNvSpPr>
            <a:spLocks noGrp="1"/>
          </p:cNvSpPr>
          <p:nvPr/>
        </p:nvSpPr>
        <p:spPr>
          <a:xfrm>
            <a:off x="4486275" y="1390650"/>
            <a:ext cx="32194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决策 · 引入护栏+压缩</a:t>
            </a:r>
            <a:endParaRPr/>
          </a:p>
        </p:txBody>
      </p:sp>
      <p:sp>
        <p:nvSpPr>
          <p:cNvPr id="382" name="文本框 381">
            <a:extLst>
              <a:ext uri="{FF2B5EF4-FFF2-40B4-BE49-F238E27FC236}">
                <a16:creationId xmlns:a16="http://schemas.microsoft.com/office/drawing/2014/main" id="{BDCD54B0-9EF2-4C9C-953B-23C237222137}"/>
              </a:ext>
            </a:extLst>
          </p:cNvPr>
          <p:cNvSpPr>
            <a:spLocks noGrp="1"/>
          </p:cNvSpPr>
          <p:nvPr/>
        </p:nvSpPr>
        <p:spPr>
          <a:xfrm>
            <a:off x="4486275" y="1695450"/>
            <a:ext cx="32194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200">
                <a:solidFill>
                  <a:srgbClr val="44546A"/>
                </a:solidFill>
                <a:latin typeface="Arial"/>
                <a:ea typeface="Arial"/>
                <a:cs typeface="Arial"/>
              </a:rPr>
              <a:t>2026/07/23–24 问题反馈.md 记录：加参数安全边界 + 自动回退 + 上下文压缩</a:t>
            </a:r>
            <a:endParaRPr/>
          </a:p>
        </p:txBody>
      </p:sp>
      <p:sp>
        <p:nvSpPr>
          <p:cNvPr id="383" name="矩形: 圆角 382">
            <a:extLst>
              <a:ext uri="{FF2B5EF4-FFF2-40B4-BE49-F238E27FC236}">
                <a16:creationId xmlns:a16="http://schemas.microsoft.com/office/drawing/2014/main" id="{B0C75B47-CAB1-47C8-A30C-CE82DEE108D3}"/>
              </a:ext>
            </a:extLst>
          </p:cNvPr>
          <p:cNvSpPr>
            <a:spLocks noGrp="1"/>
          </p:cNvSpPr>
          <p:nvPr/>
        </p:nvSpPr>
        <p:spPr>
          <a:xfrm>
            <a:off x="8010525" y="1219200"/>
            <a:ext cx="3609975" cy="1238250"/>
          </a:xfrm>
          <a:prstGeom prst="roundRect">
            <a:avLst>
              <a:gd name="adj" fmla="val 6154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sp>
        <p:nvSpPr>
          <p:cNvPr id="384" name="任意多边形: 形状 383">
            <a:extLst>
              <a:ext uri="{FF2B5EF4-FFF2-40B4-BE49-F238E27FC236}">
                <a16:creationId xmlns:a16="http://schemas.microsoft.com/office/drawing/2014/main" id="{06F5B389-C87C-443C-A7CF-C12E504C36A4}"/>
              </a:ext>
            </a:extLst>
          </p:cNvPr>
          <p:cNvSpPr>
            <a:spLocks noGrp="1"/>
          </p:cNvSpPr>
          <p:nvPr/>
        </p:nvSpPr>
        <p:spPr>
          <a:xfrm>
            <a:off x="8010525" y="1219200"/>
            <a:ext cx="3609975" cy="1238250"/>
          </a:xfrm>
          <a:custGeom>
            <a:avLst/>
            <a:gdLst/>
            <a:ahLst/>
            <a:cxnLst/>
            <a:rect l="0" t="0" r="0" b="0"/>
            <a:pathLst>
              <a:path w="379" h="130">
                <a:moveTo>
                  <a:pt x="371" y="0"/>
                </a:moveTo>
                <a:cubicBezTo>
                  <a:pt x="375" y="0"/>
                  <a:pt x="378" y="3"/>
                  <a:pt x="379" y="7"/>
                </a:cubicBezTo>
                <a:cubicBezTo>
                  <a:pt x="378" y="5"/>
                  <a:pt x="377" y="4"/>
                  <a:pt x="375" y="4"/>
                </a:cubicBezTo>
                <a:lnTo>
                  <a:pt x="4" y="4"/>
                </a:lnTo>
                <a:cubicBezTo>
                  <a:pt x="2" y="4"/>
                  <a:pt x="0" y="5"/>
                  <a:pt x="0" y="7"/>
                </a:cubicBezTo>
                <a:cubicBezTo>
                  <a:pt x="0" y="3"/>
                  <a:pt x="4" y="0"/>
                  <a:pt x="8" y="0"/>
                </a:cubicBezTo>
                <a:lnTo>
                  <a:pt x="371" y="0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19A5350C-149D-4F70-975B-571E3A95377E}"/>
              </a:ext>
            </a:extLst>
          </p:cNvPr>
          <p:cNvSpPr>
            <a:spLocks noGrp="1"/>
          </p:cNvSpPr>
          <p:nvPr/>
        </p:nvSpPr>
        <p:spPr>
          <a:xfrm>
            <a:off x="8201025" y="1390650"/>
            <a:ext cx="32289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回升 · 诊断 85%</a:t>
            </a:r>
            <a:endParaRPr/>
          </a:p>
        </p:txBody>
      </p:sp>
      <p:sp>
        <p:nvSpPr>
          <p:cNvPr id="386" name="文本框 385">
            <a:extLst>
              <a:ext uri="{FF2B5EF4-FFF2-40B4-BE49-F238E27FC236}">
                <a16:creationId xmlns:a16="http://schemas.microsoft.com/office/drawing/2014/main" id="{36364983-517E-41FE-9C3B-486D48EF115B}"/>
              </a:ext>
            </a:extLst>
          </p:cNvPr>
          <p:cNvSpPr>
            <a:spLocks noGrp="1"/>
          </p:cNvSpPr>
          <p:nvPr/>
        </p:nvSpPr>
        <p:spPr>
          <a:xfrm>
            <a:off x="8201025" y="1695450"/>
            <a:ext cx="3228975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200">
                <a:solidFill>
                  <a:srgbClr val="44546A"/>
                </a:solidFill>
                <a:latin typeface="Arial"/>
                <a:ea typeface="Arial"/>
                <a:cs typeface="Arial"/>
              </a:rPr>
              <a:t>调参 Agent 安全回退自动触发正常，结题三策略实测通过</a:t>
            </a:r>
            <a:endParaRPr/>
          </a:p>
        </p:txBody>
      </p:sp>
      <p:sp>
        <p:nvSpPr>
          <p:cNvPr id="387" name="矩形: 圆角 386">
            <a:extLst>
              <a:ext uri="{FF2B5EF4-FFF2-40B4-BE49-F238E27FC236}">
                <a16:creationId xmlns:a16="http://schemas.microsoft.com/office/drawing/2014/main" id="{0091FB05-33EC-4168-812F-D2889AC21A67}"/>
              </a:ext>
            </a:extLst>
          </p:cNvPr>
          <p:cNvSpPr>
            <a:spLocks noGrp="1"/>
          </p:cNvSpPr>
          <p:nvPr/>
        </p:nvSpPr>
        <p:spPr>
          <a:xfrm>
            <a:off x="571500" y="5505450"/>
            <a:ext cx="3552825" cy="714375"/>
          </a:xfrm>
          <a:prstGeom prst="roundRect">
            <a:avLst>
              <a:gd name="adj" fmla="val 10667"/>
            </a:avLst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pic>
        <p:nvPicPr>
          <p:cNvPr id="420" name="图形 38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50" y="5724525"/>
            <a:ext cx="285750" cy="285750"/>
          </a:xfrm>
          <a:prstGeom prst="rect">
            <a:avLst/>
          </a:prstGeom>
        </p:spPr>
      </p:pic>
      <p:sp>
        <p:nvSpPr>
          <p:cNvPr id="389" name="文本框 388">
            <a:extLst>
              <a:ext uri="{FF2B5EF4-FFF2-40B4-BE49-F238E27FC236}">
                <a16:creationId xmlns:a16="http://schemas.microsoft.com/office/drawing/2014/main" id="{7BC26ABF-22BB-4C93-88C8-5432BA34A75F}"/>
              </a:ext>
            </a:extLst>
          </p:cNvPr>
          <p:cNvSpPr>
            <a:spLocks noGrp="1"/>
          </p:cNvSpPr>
          <p:nvPr/>
        </p:nvSpPr>
        <p:spPr>
          <a:xfrm>
            <a:off x="1133475" y="5657850"/>
            <a:ext cx="28194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安全回退</a:t>
            </a:r>
            <a:endParaRPr/>
          </a:p>
        </p:txBody>
      </p:sp>
      <p:sp>
        <p:nvSpPr>
          <p:cNvPr id="390" name="文本框 389">
            <a:extLst>
              <a:ext uri="{FF2B5EF4-FFF2-40B4-BE49-F238E27FC236}">
                <a16:creationId xmlns:a16="http://schemas.microsoft.com/office/drawing/2014/main" id="{F404317E-CF64-452D-9539-4AD75A91E921}"/>
              </a:ext>
            </a:extLst>
          </p:cNvPr>
          <p:cNvSpPr>
            <a:spLocks noGrp="1"/>
          </p:cNvSpPr>
          <p:nvPr/>
        </p:nvSpPr>
        <p:spPr>
          <a:xfrm>
            <a:off x="1133475" y="5905500"/>
            <a:ext cx="2819400" cy="323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99BDED"/>
                </a:solidFill>
                <a:latin typeface="Arial"/>
                <a:ea typeface="Arial"/>
                <a:cs typeface="Arial"/>
              </a:rPr>
              <a:t>自动触发正常（pid-agent-safety-compact.mjs 覆盖）</a:t>
            </a:r>
            <a:endParaRPr/>
          </a:p>
        </p:txBody>
      </p:sp>
      <p:sp>
        <p:nvSpPr>
          <p:cNvPr id="391" name="矩形: 圆角 390">
            <a:extLst>
              <a:ext uri="{FF2B5EF4-FFF2-40B4-BE49-F238E27FC236}">
                <a16:creationId xmlns:a16="http://schemas.microsoft.com/office/drawing/2014/main" id="{A9B8A924-5A8D-44E7-A6F7-0B8CC39D1192}"/>
              </a:ext>
            </a:extLst>
          </p:cNvPr>
          <p:cNvSpPr>
            <a:spLocks noGrp="1"/>
          </p:cNvSpPr>
          <p:nvPr/>
        </p:nvSpPr>
        <p:spPr>
          <a:xfrm>
            <a:off x="4314825" y="5505450"/>
            <a:ext cx="3562350" cy="714375"/>
          </a:xfrm>
          <a:prstGeom prst="roundRect">
            <a:avLst>
              <a:gd name="adj" fmla="val 10667"/>
            </a:avLst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pic>
        <p:nvPicPr>
          <p:cNvPr id="424" name="图形 39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86275" y="5724525"/>
            <a:ext cx="285750" cy="285750"/>
          </a:xfrm>
          <a:prstGeom prst="rect">
            <a:avLst/>
          </a:prstGeom>
        </p:spPr>
      </p:pic>
      <p:sp>
        <p:nvSpPr>
          <p:cNvPr id="393" name="文本框 392">
            <a:extLst>
              <a:ext uri="{FF2B5EF4-FFF2-40B4-BE49-F238E27FC236}">
                <a16:creationId xmlns:a16="http://schemas.microsoft.com/office/drawing/2014/main" id="{858D0375-0F6D-4720-8915-110990E6E903}"/>
              </a:ext>
            </a:extLst>
          </p:cNvPr>
          <p:cNvSpPr>
            <a:spLocks noGrp="1"/>
          </p:cNvSpPr>
          <p:nvPr/>
        </p:nvSpPr>
        <p:spPr>
          <a:xfrm>
            <a:off x="4905375" y="5657850"/>
            <a:ext cx="13335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 项测试</a:t>
            </a:r>
            <a:endParaRPr/>
          </a:p>
        </p:txBody>
      </p:sp>
      <p:sp>
        <p:nvSpPr>
          <p:cNvPr id="394" name="文本框 393">
            <a:extLst>
              <a:ext uri="{FF2B5EF4-FFF2-40B4-BE49-F238E27FC236}">
                <a16:creationId xmlns:a16="http://schemas.microsoft.com/office/drawing/2014/main" id="{AC77FAF1-FF3D-4250-840F-9F6EE15229FA}"/>
              </a:ext>
            </a:extLst>
          </p:cNvPr>
          <p:cNvSpPr>
            <a:spLocks noGrp="1"/>
          </p:cNvSpPr>
          <p:nvPr/>
        </p:nvSpPr>
        <p:spPr>
          <a:xfrm>
            <a:off x="4905375" y="5905500"/>
            <a:ext cx="1333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99BDED"/>
                </a:solidFill>
                <a:latin typeface="Arial"/>
                <a:ea typeface="Arial"/>
                <a:cs typeface="Arial"/>
              </a:rPr>
              <a:t>全部自测全绿，可复现</a:t>
            </a:r>
            <a:endParaRPr/>
          </a:p>
        </p:txBody>
      </p:sp>
      <p:sp>
        <p:nvSpPr>
          <p:cNvPr id="395" name="矩形: 圆角 394">
            <a:extLst>
              <a:ext uri="{FF2B5EF4-FFF2-40B4-BE49-F238E27FC236}">
                <a16:creationId xmlns:a16="http://schemas.microsoft.com/office/drawing/2014/main" id="{F702B684-4D45-43D1-BF65-CA058535BC2C}"/>
              </a:ext>
            </a:extLst>
          </p:cNvPr>
          <p:cNvSpPr>
            <a:spLocks noGrp="1"/>
          </p:cNvSpPr>
          <p:nvPr/>
        </p:nvSpPr>
        <p:spPr>
          <a:xfrm>
            <a:off x="8067675" y="5505450"/>
            <a:ext cx="3552825" cy="714375"/>
          </a:xfrm>
          <a:prstGeom prst="roundRect">
            <a:avLst>
              <a:gd name="adj" fmla="val 10667"/>
            </a:avLst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pic>
        <p:nvPicPr>
          <p:cNvPr id="428" name="图形 39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39125" y="5724525"/>
            <a:ext cx="285750" cy="285750"/>
          </a:xfrm>
          <a:prstGeom prst="rect">
            <a:avLst/>
          </a:prstGeom>
        </p:spPr>
      </p:pic>
      <p:sp>
        <p:nvSpPr>
          <p:cNvPr id="397" name="文本框 396">
            <a:extLst>
              <a:ext uri="{FF2B5EF4-FFF2-40B4-BE49-F238E27FC236}">
                <a16:creationId xmlns:a16="http://schemas.microsoft.com/office/drawing/2014/main" id="{540D9CB9-512D-48E3-9D88-A0ADC2B0DBA4}"/>
              </a:ext>
            </a:extLst>
          </p:cNvPr>
          <p:cNvSpPr>
            <a:spLocks noGrp="1"/>
          </p:cNvSpPr>
          <p:nvPr/>
        </p:nvSpPr>
        <p:spPr>
          <a:xfrm>
            <a:off x="8658225" y="5657850"/>
            <a:ext cx="14097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 次线上事故</a:t>
            </a:r>
            <a:endParaRPr/>
          </a:p>
        </p:txBody>
      </p:sp>
      <p:sp>
        <p:nvSpPr>
          <p:cNvPr id="398" name="文本框 397">
            <a:extLst>
              <a:ext uri="{FF2B5EF4-FFF2-40B4-BE49-F238E27FC236}">
                <a16:creationId xmlns:a16="http://schemas.microsoft.com/office/drawing/2014/main" id="{239107FE-EFB7-4BB8-BA1C-7D96529F8C5C}"/>
              </a:ext>
            </a:extLst>
          </p:cNvPr>
          <p:cNvSpPr>
            <a:spLocks noGrp="1"/>
          </p:cNvSpPr>
          <p:nvPr/>
        </p:nvSpPr>
        <p:spPr>
          <a:xfrm>
            <a:off x="8658225" y="5905500"/>
            <a:ext cx="14097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99BDED"/>
                </a:solidFill>
                <a:latin typeface="Arial"/>
                <a:ea typeface="Arial"/>
                <a:cs typeface="Arial"/>
              </a:rPr>
              <a:t>Git 时间线佐证，无回滚</a:t>
            </a:r>
            <a:endParaRPr/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4C33EA01-A715-4699-AB23-2ACD695DAA4C}"/>
              </a:ext>
            </a:extLst>
          </p:cNvPr>
          <p:cNvSpPr>
            <a:spLocks noGrp="1"/>
          </p:cNvSpPr>
          <p:nvPr/>
        </p:nvSpPr>
        <p:spPr>
          <a:xfrm>
            <a:off x="571500" y="6353175"/>
            <a:ext cx="52768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Source：问题反馈.md（20260723–24）· tests/pid-agent-safety-compact.mjs · Git 时间线</a:t>
            </a:r>
            <a:endParaRPr/>
          </a:p>
        </p:txBody>
      </p:sp>
      <p:sp>
        <p:nvSpPr>
          <p:cNvPr id="400" name="文本框 399">
            <a:extLst>
              <a:ext uri="{FF2B5EF4-FFF2-40B4-BE49-F238E27FC236}">
                <a16:creationId xmlns:a16="http://schemas.microsoft.com/office/drawing/2014/main" id="{77EC4B13-1D79-4DAC-97D9-25E49141A925}"/>
              </a:ext>
            </a:extLst>
          </p:cNvPr>
          <p:cNvSpPr>
            <a:spLocks noGrp="1"/>
          </p:cNvSpPr>
          <p:nvPr/>
        </p:nvSpPr>
        <p:spPr>
          <a:xfrm>
            <a:off x="11210925" y="6353175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09 / 20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64456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矩形 401">
            <a:extLst>
              <a:ext uri="{FF2B5EF4-FFF2-40B4-BE49-F238E27FC236}">
                <a16:creationId xmlns:a16="http://schemas.microsoft.com/office/drawing/2014/main" id="{89ADA83A-2F99-41D3-A30E-212F33E98C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403" name="文本框 402">
            <a:extLst>
              <a:ext uri="{FF2B5EF4-FFF2-40B4-BE49-F238E27FC236}">
                <a16:creationId xmlns:a16="http://schemas.microsoft.com/office/drawing/2014/main" id="{6E84DFDC-C12D-4FA1-91B5-874CDF6FCEB0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1104900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从上下文失真到自主闭环：体验式学习的四次认知跃迁</a:t>
            </a:r>
            <a:endParaRPr/>
          </a:p>
        </p:txBody>
      </p:sp>
      <p:sp>
        <p:nvSpPr>
          <p:cNvPr id="404" name="矩形 403">
            <a:extLst>
              <a:ext uri="{FF2B5EF4-FFF2-40B4-BE49-F238E27FC236}">
                <a16:creationId xmlns:a16="http://schemas.microsoft.com/office/drawing/2014/main" id="{BCD7EFB9-993A-4B42-96FC-B8B3B0A90655}"/>
              </a:ext>
            </a:extLst>
          </p:cNvPr>
          <p:cNvSpPr>
            <a:spLocks noGrp="1"/>
          </p:cNvSpPr>
          <p:nvPr/>
        </p:nvSpPr>
        <p:spPr>
          <a:xfrm>
            <a:off x="571500" y="96202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405" name="矩形: 圆角 404">
            <a:extLst>
              <a:ext uri="{FF2B5EF4-FFF2-40B4-BE49-F238E27FC236}">
                <a16:creationId xmlns:a16="http://schemas.microsoft.com/office/drawing/2014/main" id="{087826F4-7696-4A10-8C82-545278D49AD4}"/>
              </a:ext>
            </a:extLst>
          </p:cNvPr>
          <p:cNvSpPr>
            <a:spLocks noGrp="1"/>
          </p:cNvSpPr>
          <p:nvPr/>
        </p:nvSpPr>
        <p:spPr>
          <a:xfrm>
            <a:off x="571500" y="1181100"/>
            <a:ext cx="2695575" cy="1495425"/>
          </a:xfrm>
          <a:prstGeom prst="roundRect">
            <a:avLst>
              <a:gd name="adj" fmla="val 5096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sp>
        <p:nvSpPr>
          <p:cNvPr id="406" name="文本框 405">
            <a:extLst>
              <a:ext uri="{FF2B5EF4-FFF2-40B4-BE49-F238E27FC236}">
                <a16:creationId xmlns:a16="http://schemas.microsoft.com/office/drawing/2014/main" id="{68D42578-A267-4722-B096-03EB2AE69734}"/>
              </a:ext>
            </a:extLst>
          </p:cNvPr>
          <p:cNvSpPr>
            <a:spLocks noGrp="1"/>
          </p:cNvSpPr>
          <p:nvPr/>
        </p:nvSpPr>
        <p:spPr>
          <a:xfrm>
            <a:off x="742950" y="1352550"/>
            <a:ext cx="23526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6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V-A</a:t>
            </a:r>
            <a:endParaRPr/>
          </a:p>
        </p:txBody>
      </p:sp>
      <p:sp>
        <p:nvSpPr>
          <p:cNvPr id="407" name="文本框 406">
            <a:extLst>
              <a:ext uri="{FF2B5EF4-FFF2-40B4-BE49-F238E27FC236}">
                <a16:creationId xmlns:a16="http://schemas.microsoft.com/office/drawing/2014/main" id="{6D669DE0-AEDC-4000-9BCE-3F90FAB59135}"/>
              </a:ext>
            </a:extLst>
          </p:cNvPr>
          <p:cNvSpPr>
            <a:spLocks noGrp="1"/>
          </p:cNvSpPr>
          <p:nvPr/>
        </p:nvSpPr>
        <p:spPr>
          <a:xfrm>
            <a:off x="742950" y="1685925"/>
            <a:ext cx="235267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44546A"/>
                </a:solidFill>
                <a:latin typeface="Arial"/>
                <a:ea typeface="Arial"/>
                <a:cs typeface="Arial"/>
              </a:rPr>
              <a:t>波形只能看</a:t>
            </a:r>
            <a:endParaRPr/>
          </a:p>
        </p:txBody>
      </p:sp>
      <p:sp>
        <p:nvSpPr>
          <p:cNvPr id="408" name="文本框 407">
            <a:extLst>
              <a:ext uri="{FF2B5EF4-FFF2-40B4-BE49-F238E27FC236}">
                <a16:creationId xmlns:a16="http://schemas.microsoft.com/office/drawing/2014/main" id="{275B7A4A-A194-4E26-9879-2754D8334884}"/>
              </a:ext>
            </a:extLst>
          </p:cNvPr>
          <p:cNvSpPr>
            <a:spLocks noGrp="1"/>
          </p:cNvSpPr>
          <p:nvPr/>
        </p:nvSpPr>
        <p:spPr>
          <a:xfrm>
            <a:off x="742950" y="1990725"/>
            <a:ext cx="23526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125">
                <a:solidFill>
                  <a:srgbClr val="808080"/>
                </a:solidFill>
                <a:latin typeface="Arial"/>
                <a:ea typeface="Arial"/>
                <a:cs typeface="Arial"/>
              </a:rPr>
              <a:t>被动观测，无法指导调参</a:t>
            </a:r>
            <a:endParaRPr/>
          </a:p>
        </p:txBody>
      </p:sp>
      <p:sp>
        <p:nvSpPr>
          <p:cNvPr id="409" name="矩形: 圆角 408">
            <a:extLst>
              <a:ext uri="{FF2B5EF4-FFF2-40B4-BE49-F238E27FC236}">
                <a16:creationId xmlns:a16="http://schemas.microsoft.com/office/drawing/2014/main" id="{F1036C95-A6AC-405B-840A-DD3DB47DC075}"/>
              </a:ext>
            </a:extLst>
          </p:cNvPr>
          <p:cNvSpPr>
            <a:spLocks noGrp="1"/>
          </p:cNvSpPr>
          <p:nvPr/>
        </p:nvSpPr>
        <p:spPr>
          <a:xfrm>
            <a:off x="3362325" y="1181100"/>
            <a:ext cx="2686050" cy="1495425"/>
          </a:xfrm>
          <a:prstGeom prst="roundRect">
            <a:avLst>
              <a:gd name="adj" fmla="val 5096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sp>
        <p:nvSpPr>
          <p:cNvPr id="410" name="文本框 409">
            <a:extLst>
              <a:ext uri="{FF2B5EF4-FFF2-40B4-BE49-F238E27FC236}">
                <a16:creationId xmlns:a16="http://schemas.microsoft.com/office/drawing/2014/main" id="{7A033BD3-7465-4E6B-9B79-47C3F27055F5}"/>
              </a:ext>
            </a:extLst>
          </p:cNvPr>
          <p:cNvSpPr>
            <a:spLocks noGrp="1"/>
          </p:cNvSpPr>
          <p:nvPr/>
        </p:nvSpPr>
        <p:spPr>
          <a:xfrm>
            <a:off x="3533775" y="1352550"/>
            <a:ext cx="23431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6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V-B</a:t>
            </a:r>
            <a:endParaRPr/>
          </a:p>
        </p:txBody>
      </p:sp>
      <p:sp>
        <p:nvSpPr>
          <p:cNvPr id="411" name="文本框 410">
            <a:extLst>
              <a:ext uri="{FF2B5EF4-FFF2-40B4-BE49-F238E27FC236}">
                <a16:creationId xmlns:a16="http://schemas.microsoft.com/office/drawing/2014/main" id="{E4A47167-39CF-4154-99F3-5C53C1F05F8A}"/>
              </a:ext>
            </a:extLst>
          </p:cNvPr>
          <p:cNvSpPr>
            <a:spLocks noGrp="1"/>
          </p:cNvSpPr>
          <p:nvPr/>
        </p:nvSpPr>
        <p:spPr>
          <a:xfrm>
            <a:off x="3533775" y="1685925"/>
            <a:ext cx="23431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44546A"/>
                </a:solidFill>
                <a:latin typeface="Arial"/>
                <a:ea typeface="Arial"/>
                <a:cs typeface="Arial"/>
              </a:rPr>
              <a:t>分析可计算</a:t>
            </a:r>
            <a:endParaRPr/>
          </a:p>
        </p:txBody>
      </p:sp>
      <p:sp>
        <p:nvSpPr>
          <p:cNvPr id="412" name="文本框 411">
            <a:extLst>
              <a:ext uri="{FF2B5EF4-FFF2-40B4-BE49-F238E27FC236}">
                <a16:creationId xmlns:a16="http://schemas.microsoft.com/office/drawing/2014/main" id="{285D51A0-04CF-4F7E-A5A1-54C818C8D739}"/>
              </a:ext>
            </a:extLst>
          </p:cNvPr>
          <p:cNvSpPr>
            <a:spLocks noGrp="1"/>
          </p:cNvSpPr>
          <p:nvPr/>
        </p:nvSpPr>
        <p:spPr>
          <a:xfrm>
            <a:off x="3533775" y="1990725"/>
            <a:ext cx="23431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125">
                <a:solidFill>
                  <a:srgbClr val="808080"/>
                </a:solidFill>
                <a:latin typeface="Arial"/>
                <a:ea typeface="Arial"/>
                <a:cs typeface="Arial"/>
              </a:rPr>
              <a:t>用确定性代码算指标，替代人工盲调</a:t>
            </a:r>
            <a:endParaRPr/>
          </a:p>
        </p:txBody>
      </p:sp>
      <p:sp>
        <p:nvSpPr>
          <p:cNvPr id="413" name="矩形: 圆角 412">
            <a:extLst>
              <a:ext uri="{FF2B5EF4-FFF2-40B4-BE49-F238E27FC236}">
                <a16:creationId xmlns:a16="http://schemas.microsoft.com/office/drawing/2014/main" id="{153D5397-AA50-4803-AA2C-B2A7850E80C2}"/>
              </a:ext>
            </a:extLst>
          </p:cNvPr>
          <p:cNvSpPr>
            <a:spLocks noGrp="1"/>
          </p:cNvSpPr>
          <p:nvPr/>
        </p:nvSpPr>
        <p:spPr>
          <a:xfrm>
            <a:off x="6143625" y="1181100"/>
            <a:ext cx="2695575" cy="1495425"/>
          </a:xfrm>
          <a:prstGeom prst="roundRect">
            <a:avLst>
              <a:gd name="adj" fmla="val 5096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sp>
        <p:nvSpPr>
          <p:cNvPr id="414" name="文本框 413">
            <a:extLst>
              <a:ext uri="{FF2B5EF4-FFF2-40B4-BE49-F238E27FC236}">
                <a16:creationId xmlns:a16="http://schemas.microsoft.com/office/drawing/2014/main" id="{B2C58A99-1FDC-4EBC-A5C7-ACB2297B7C06}"/>
              </a:ext>
            </a:extLst>
          </p:cNvPr>
          <p:cNvSpPr>
            <a:spLocks noGrp="1"/>
          </p:cNvSpPr>
          <p:nvPr/>
        </p:nvSpPr>
        <p:spPr>
          <a:xfrm>
            <a:off x="6315075" y="1352550"/>
            <a:ext cx="23526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6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V-C</a:t>
            </a:r>
            <a:endParaRPr/>
          </a:p>
        </p:txBody>
      </p:sp>
      <p:sp>
        <p:nvSpPr>
          <p:cNvPr id="415" name="文本框 414">
            <a:extLst>
              <a:ext uri="{FF2B5EF4-FFF2-40B4-BE49-F238E27FC236}">
                <a16:creationId xmlns:a16="http://schemas.microsoft.com/office/drawing/2014/main" id="{37E6DA87-24F5-487E-9BB7-D89FCBE9E8CE}"/>
              </a:ext>
            </a:extLst>
          </p:cNvPr>
          <p:cNvSpPr>
            <a:spLocks noGrp="1"/>
          </p:cNvSpPr>
          <p:nvPr/>
        </p:nvSpPr>
        <p:spPr>
          <a:xfrm>
            <a:off x="6315075" y="1685925"/>
            <a:ext cx="235267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44546A"/>
                </a:solidFill>
                <a:latin typeface="Arial"/>
                <a:ea typeface="Arial"/>
                <a:cs typeface="Arial"/>
              </a:rPr>
              <a:t>AI 不越界</a:t>
            </a:r>
            <a:endParaRPr/>
          </a:p>
        </p:txBody>
      </p:sp>
      <p:sp>
        <p:nvSpPr>
          <p:cNvPr id="416" name="文本框 415">
            <a:extLst>
              <a:ext uri="{FF2B5EF4-FFF2-40B4-BE49-F238E27FC236}">
                <a16:creationId xmlns:a16="http://schemas.microsoft.com/office/drawing/2014/main" id="{CC78333B-208E-4E71-99F6-618D1E8512F4}"/>
              </a:ext>
            </a:extLst>
          </p:cNvPr>
          <p:cNvSpPr>
            <a:spLocks noGrp="1"/>
          </p:cNvSpPr>
          <p:nvPr/>
        </p:nvSpPr>
        <p:spPr>
          <a:xfrm>
            <a:off x="6315075" y="1990725"/>
            <a:ext cx="235267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125">
                <a:solidFill>
                  <a:srgbClr val="808080"/>
                </a:solidFill>
                <a:latin typeface="Arial"/>
                <a:ea typeface="Arial"/>
                <a:cs typeface="Arial"/>
              </a:rPr>
              <a:t>解释可以，乱改不行——安全护栏机制化</a:t>
            </a:r>
            <a:endParaRPr/>
          </a:p>
        </p:txBody>
      </p:sp>
      <p:sp>
        <p:nvSpPr>
          <p:cNvPr id="417" name="矩形: 圆角 416">
            <a:extLst>
              <a:ext uri="{FF2B5EF4-FFF2-40B4-BE49-F238E27FC236}">
                <a16:creationId xmlns:a16="http://schemas.microsoft.com/office/drawing/2014/main" id="{BED464FF-48D1-4E46-99B1-C53A0D8E4039}"/>
              </a:ext>
            </a:extLst>
          </p:cNvPr>
          <p:cNvSpPr>
            <a:spLocks noGrp="1"/>
          </p:cNvSpPr>
          <p:nvPr/>
        </p:nvSpPr>
        <p:spPr>
          <a:xfrm>
            <a:off x="8934450" y="1181100"/>
            <a:ext cx="2686050" cy="1495425"/>
          </a:xfrm>
          <a:prstGeom prst="roundRect">
            <a:avLst>
              <a:gd name="adj" fmla="val 5096"/>
            </a:avLst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418" name="文本框 417">
            <a:extLst>
              <a:ext uri="{FF2B5EF4-FFF2-40B4-BE49-F238E27FC236}">
                <a16:creationId xmlns:a16="http://schemas.microsoft.com/office/drawing/2014/main" id="{11460DCD-E9BD-42AE-B99E-BCD8FCD1B034}"/>
              </a:ext>
            </a:extLst>
          </p:cNvPr>
          <p:cNvSpPr>
            <a:spLocks noGrp="1"/>
          </p:cNvSpPr>
          <p:nvPr/>
        </p:nvSpPr>
        <p:spPr>
          <a:xfrm>
            <a:off x="9105900" y="1352550"/>
            <a:ext cx="3524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650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V-D</a:t>
            </a:r>
            <a:endParaRPr/>
          </a:p>
        </p:txBody>
      </p:sp>
      <p:sp>
        <p:nvSpPr>
          <p:cNvPr id="419" name="矩形: 圆角 418">
            <a:extLst>
              <a:ext uri="{FF2B5EF4-FFF2-40B4-BE49-F238E27FC236}">
                <a16:creationId xmlns:a16="http://schemas.microsoft.com/office/drawing/2014/main" id="{530E4F5F-5B38-4A1F-9783-301EFDFBF7D7}"/>
              </a:ext>
            </a:extLst>
          </p:cNvPr>
          <p:cNvSpPr>
            <a:spLocks noGrp="1"/>
          </p:cNvSpPr>
          <p:nvPr/>
        </p:nvSpPr>
        <p:spPr>
          <a:xfrm>
            <a:off x="9534525" y="1390650"/>
            <a:ext cx="638175" cy="180975"/>
          </a:xfrm>
          <a:prstGeom prst="roundRect">
            <a:avLst>
              <a:gd name="adj" fmla="val 21053"/>
            </a:avLst>
          </a:prstGeom>
          <a:solidFill>
            <a:srgbClr val="08A6F6"/>
          </a:solidFill>
        </p:spPr>
        <p:txBody>
          <a:bodyPr/>
          <a:lstStyle/>
          <a:p>
            <a:endParaRPr/>
          </a:p>
        </p:txBody>
      </p:sp>
      <p:sp>
        <p:nvSpPr>
          <p:cNvPr id="420" name="文本框 419">
            <a:extLst>
              <a:ext uri="{FF2B5EF4-FFF2-40B4-BE49-F238E27FC236}">
                <a16:creationId xmlns:a16="http://schemas.microsoft.com/office/drawing/2014/main" id="{7F6E681F-84E2-4CB7-BDF1-3BB0036AC995}"/>
              </a:ext>
            </a:extLst>
          </p:cNvPr>
          <p:cNvSpPr>
            <a:spLocks noGrp="1"/>
          </p:cNvSpPr>
          <p:nvPr/>
        </p:nvSpPr>
        <p:spPr>
          <a:xfrm>
            <a:off x="9534525" y="1390650"/>
            <a:ext cx="638175" cy="180975"/>
          </a:xfrm>
          <a:prstGeom prst="rect">
            <a:avLst/>
          </a:prstGeom>
        </p:spPr>
        <p:txBody>
          <a:bodyPr wrap="none" lIns="57150" tIns="14288" rIns="57150" bIns="14288"/>
          <a:lstStyle/>
          <a:p>
            <a:pPr>
              <a:lnSpc>
                <a:spcPct val="100000"/>
              </a:lnSpc>
              <a:buNone/>
            </a:pPr>
            <a:r>
              <a:rPr sz="900">
                <a:solidFill>
                  <a:srgbClr val="061F32"/>
                </a:solidFill>
                <a:highlight>
                  <a:srgbClr val="08A6F6"/>
                </a:highlight>
                <a:latin typeface="Arial"/>
                <a:ea typeface="Arial"/>
                <a:cs typeface="Arial"/>
              </a:rPr>
              <a:t>8/25 最终</a:t>
            </a:r>
            <a:endParaRPr/>
          </a:p>
        </p:txBody>
      </p:sp>
      <p:sp>
        <p:nvSpPr>
          <p:cNvPr id="421" name="文本框 420">
            <a:extLst>
              <a:ext uri="{FF2B5EF4-FFF2-40B4-BE49-F238E27FC236}">
                <a16:creationId xmlns:a16="http://schemas.microsoft.com/office/drawing/2014/main" id="{61C7D280-3F41-49C3-8495-884CCC794A79}"/>
              </a:ext>
            </a:extLst>
          </p:cNvPr>
          <p:cNvSpPr>
            <a:spLocks noGrp="1"/>
          </p:cNvSpPr>
          <p:nvPr/>
        </p:nvSpPr>
        <p:spPr>
          <a:xfrm>
            <a:off x="9105900" y="1685925"/>
            <a:ext cx="23431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智能体自主闭环</a:t>
            </a:r>
            <a:endParaRPr/>
          </a:p>
        </p:txBody>
      </p:sp>
      <p:sp>
        <p:nvSpPr>
          <p:cNvPr id="422" name="文本框 421">
            <a:extLst>
              <a:ext uri="{FF2B5EF4-FFF2-40B4-BE49-F238E27FC236}">
                <a16:creationId xmlns:a16="http://schemas.microsoft.com/office/drawing/2014/main" id="{331A68BC-9DD2-4708-92BA-BFCAD75037A1}"/>
              </a:ext>
            </a:extLst>
          </p:cNvPr>
          <p:cNvSpPr>
            <a:spLocks noGrp="1"/>
          </p:cNvSpPr>
          <p:nvPr/>
        </p:nvSpPr>
        <p:spPr>
          <a:xfrm>
            <a:off x="9105900" y="1990725"/>
            <a:ext cx="23431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125">
                <a:solidFill>
                  <a:srgbClr val="99BDED"/>
                </a:solidFill>
                <a:latin typeface="Arial"/>
                <a:ea typeface="Arial"/>
                <a:cs typeface="Arial"/>
              </a:rPr>
              <a:t>对话式 Agent + 上下文压缩，自主调参上线</a:t>
            </a:r>
            <a:endParaRPr/>
          </a:p>
        </p:txBody>
      </p:sp>
      <p:sp>
        <p:nvSpPr>
          <p:cNvPr id="423" name="矩形: 圆角 422">
            <a:extLst>
              <a:ext uri="{FF2B5EF4-FFF2-40B4-BE49-F238E27FC236}">
                <a16:creationId xmlns:a16="http://schemas.microsoft.com/office/drawing/2014/main" id="{4A4209E2-641F-4921-8C66-746D2DD2A5DD}"/>
              </a:ext>
            </a:extLst>
          </p:cNvPr>
          <p:cNvSpPr>
            <a:spLocks noGrp="1"/>
          </p:cNvSpPr>
          <p:nvPr/>
        </p:nvSpPr>
        <p:spPr>
          <a:xfrm>
            <a:off x="571500" y="5619750"/>
            <a:ext cx="11049000" cy="600075"/>
          </a:xfrm>
          <a:prstGeom prst="roundRect">
            <a:avLst>
              <a:gd name="adj" fmla="val 12698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pic>
        <p:nvPicPr>
          <p:cNvPr id="451" name="图形 42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050" y="5781675"/>
            <a:ext cx="285750" cy="285750"/>
          </a:xfrm>
          <a:prstGeom prst="rect">
            <a:avLst/>
          </a:prstGeom>
        </p:spPr>
      </p:pic>
      <p:sp>
        <p:nvSpPr>
          <p:cNvPr id="425" name="文本框 424">
            <a:extLst>
              <a:ext uri="{FF2B5EF4-FFF2-40B4-BE49-F238E27FC236}">
                <a16:creationId xmlns:a16="http://schemas.microsoft.com/office/drawing/2014/main" id="{257CF2F4-AD2E-42E6-8052-CFC05F98DC7E}"/>
              </a:ext>
            </a:extLst>
          </p:cNvPr>
          <p:cNvSpPr>
            <a:spLocks noGrp="1"/>
          </p:cNvSpPr>
          <p:nvPr/>
        </p:nvSpPr>
        <p:spPr>
          <a:xfrm>
            <a:off x="1219200" y="5734050"/>
            <a:ext cx="10191750" cy="4000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  <a:defRPr sz="1425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把上下文失真与联调受阻的教训，沉淀为可复用方法；以问题反馈与提交记录追踪两次认知迭代。</a:t>
            </a:r>
            <a:endParaRPr/>
          </a:p>
        </p:txBody>
      </p:sp>
      <p:sp>
        <p:nvSpPr>
          <p:cNvPr id="426" name="文本框 425">
            <a:extLst>
              <a:ext uri="{FF2B5EF4-FFF2-40B4-BE49-F238E27FC236}">
                <a16:creationId xmlns:a16="http://schemas.microsoft.com/office/drawing/2014/main" id="{4DFBA474-F6B2-4158-BA02-5A629E83EB10}"/>
              </a:ext>
            </a:extLst>
          </p:cNvPr>
          <p:cNvSpPr>
            <a:spLocks noGrp="1"/>
          </p:cNvSpPr>
          <p:nvPr/>
        </p:nvSpPr>
        <p:spPr>
          <a:xfrm>
            <a:off x="571500" y="6353175"/>
            <a:ext cx="5429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Source：docs/（Pi-agent 调研·PID 策略·UI 评审）· git log 31 commits · V1.0/V2.0 功能对比</a:t>
            </a:r>
            <a:endParaRPr/>
          </a:p>
        </p:txBody>
      </p:sp>
      <p:sp>
        <p:nvSpPr>
          <p:cNvPr id="427" name="文本框 426">
            <a:extLst>
              <a:ext uri="{FF2B5EF4-FFF2-40B4-BE49-F238E27FC236}">
                <a16:creationId xmlns:a16="http://schemas.microsoft.com/office/drawing/2014/main" id="{80E1511B-C09D-4F97-9E99-0E109E2CD4E0}"/>
              </a:ext>
            </a:extLst>
          </p:cNvPr>
          <p:cNvSpPr>
            <a:spLocks noGrp="1"/>
          </p:cNvSpPr>
          <p:nvPr/>
        </p:nvSpPr>
        <p:spPr>
          <a:xfrm>
            <a:off x="11210925" y="6353175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10 / 20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28596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859085E9-8B0C-4A1D-9A68-F5DB25B4F8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1DE3DF2-EB40-4087-95DB-F04380EA03EC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1104900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两次失败催生两条新指标：诊断 40%→85%、dev 一键可用</a:t>
            </a:r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09CE6A7-5DF3-40C4-9832-C5BF73F9B634}"/>
              </a:ext>
            </a:extLst>
          </p:cNvPr>
          <p:cNvSpPr>
            <a:spLocks noGrp="1"/>
          </p:cNvSpPr>
          <p:nvPr/>
        </p:nvSpPr>
        <p:spPr>
          <a:xfrm>
            <a:off x="571500" y="96202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1913312-2C83-42EC-BD51-8C7EC33D6764}"/>
              </a:ext>
            </a:extLst>
          </p:cNvPr>
          <p:cNvSpPr>
            <a:spLocks noGrp="1"/>
          </p:cNvSpPr>
          <p:nvPr/>
        </p:nvSpPr>
        <p:spPr>
          <a:xfrm>
            <a:off x="571500" y="1181100"/>
            <a:ext cx="5372100" cy="5038725"/>
          </a:xfrm>
          <a:prstGeom prst="roundRect">
            <a:avLst>
              <a:gd name="adj" fmla="val 1890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7A1845-D103-4F13-8A61-75311D1870EE}"/>
              </a:ext>
            </a:extLst>
          </p:cNvPr>
          <p:cNvSpPr>
            <a:spLocks noGrp="1"/>
          </p:cNvSpPr>
          <p:nvPr/>
        </p:nvSpPr>
        <p:spPr>
          <a:xfrm>
            <a:off x="800100" y="1390650"/>
            <a:ext cx="49149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失败 1 · PID 仿真震荡 + 上下文失真</a:t>
            </a: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658A273-AD61-4884-A7B4-E27C93470F5D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49149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200">
                <a:solidFill>
                  <a:srgbClr val="44546A"/>
                </a:solidFill>
                <a:latin typeface="Arial"/>
                <a:ea typeface="Arial"/>
                <a:cs typeface="Arial"/>
              </a:rPr>
              <a:t>5Why 归因：为什么 40%？→ 上下文过长 → 无护栏 → 无压缩</a:t>
            </a:r>
            <a:endParaRPr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0235BEF-C393-4230-ABD6-A6CAA43543E1}"/>
              </a:ext>
            </a:extLst>
          </p:cNvPr>
          <p:cNvSpPr>
            <a:spLocks noGrp="1"/>
          </p:cNvSpPr>
          <p:nvPr/>
        </p:nvSpPr>
        <p:spPr>
          <a:xfrm>
            <a:off x="800100" y="3619500"/>
            <a:ext cx="49149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2F0D952-9442-4AE8-B4C9-A0393D0430D8}"/>
              </a:ext>
            </a:extLst>
          </p:cNvPr>
          <p:cNvSpPr>
            <a:spLocks noGrp="1"/>
          </p:cNvSpPr>
          <p:nvPr/>
        </p:nvSpPr>
        <p:spPr>
          <a:xfrm>
            <a:off x="952500" y="3752850"/>
            <a:ext cx="46101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认知：安全不能靠提示词，要机制化</a:t>
            </a:r>
            <a:endParaRPr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9BC2776-06CE-4653-A769-A3C4B2FEDC0E}"/>
              </a:ext>
            </a:extLst>
          </p:cNvPr>
          <p:cNvSpPr>
            <a:spLocks noGrp="1"/>
          </p:cNvSpPr>
          <p:nvPr/>
        </p:nvSpPr>
        <p:spPr>
          <a:xfrm>
            <a:off x="800100" y="5705475"/>
            <a:ext cx="42862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125">
                <a:solidFill>
                  <a:srgbClr val="808080"/>
                </a:solidFill>
                <a:latin typeface="Arial"/>
                <a:ea typeface="Arial"/>
                <a:cs typeface="Arial"/>
              </a:rPr>
              <a:t>新指标</a:t>
            </a: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8CB1C3F-A702-423A-9D13-A4CECDDD1E76}"/>
              </a:ext>
            </a:extLst>
          </p:cNvPr>
          <p:cNvSpPr>
            <a:spLocks noGrp="1"/>
          </p:cNvSpPr>
          <p:nvPr/>
        </p:nvSpPr>
        <p:spPr>
          <a:xfrm>
            <a:off x="1323975" y="5705475"/>
            <a:ext cx="32956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9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诊断 40%→85% · 回退 0 误伤</a:t>
            </a:r>
            <a:endParaRPr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CAEDAF15-F205-4919-814C-5423EE194010}"/>
              </a:ext>
            </a:extLst>
          </p:cNvPr>
          <p:cNvSpPr>
            <a:spLocks noGrp="1"/>
          </p:cNvSpPr>
          <p:nvPr/>
        </p:nvSpPr>
        <p:spPr>
          <a:xfrm>
            <a:off x="6248400" y="1181100"/>
            <a:ext cx="5372100" cy="5038725"/>
          </a:xfrm>
          <a:prstGeom prst="roundRect">
            <a:avLst>
              <a:gd name="adj" fmla="val 1890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2D41C10-4298-4F39-9D17-8936282B1A50}"/>
              </a:ext>
            </a:extLst>
          </p:cNvPr>
          <p:cNvSpPr>
            <a:spLocks noGrp="1"/>
          </p:cNvSpPr>
          <p:nvPr/>
        </p:nvSpPr>
        <p:spPr>
          <a:xfrm>
            <a:off x="6477000" y="1390650"/>
            <a:ext cx="49149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失败 2 · Electron 环境三连坑</a:t>
            </a:r>
            <a:endParaRPr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C355206-ACC1-43C8-BF07-C1AC500C3AFF}"/>
              </a:ext>
            </a:extLst>
          </p:cNvPr>
          <p:cNvSpPr>
            <a:spLocks noGrp="1"/>
          </p:cNvSpPr>
          <p:nvPr/>
        </p:nvSpPr>
        <p:spPr>
          <a:xfrm>
            <a:off x="6477000" y="1714500"/>
            <a:ext cx="49149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200">
                <a:solidFill>
                  <a:srgbClr val="44546A"/>
                </a:solidFill>
                <a:latin typeface="Arial"/>
                <a:ea typeface="Arial"/>
                <a:cs typeface="Arial"/>
              </a:rPr>
              <a:t>ESM 冲突 / 配置名 / ELECTRON_RUN_AS_NODE（详见 debug.md）</a:t>
            </a:r>
            <a:endParaRPr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58F444B9-0698-4F2E-B21C-2E0DC14D8848}"/>
              </a:ext>
            </a:extLst>
          </p:cNvPr>
          <p:cNvSpPr>
            <a:spLocks noGrp="1"/>
          </p:cNvSpPr>
          <p:nvPr/>
        </p:nvSpPr>
        <p:spPr>
          <a:xfrm>
            <a:off x="6477000" y="3619500"/>
            <a:ext cx="49149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6AB32E1-4346-4495-B538-F21F5A0CF2C7}"/>
              </a:ext>
            </a:extLst>
          </p:cNvPr>
          <p:cNvSpPr>
            <a:spLocks noGrp="1"/>
          </p:cNvSpPr>
          <p:nvPr/>
        </p:nvSpPr>
        <p:spPr>
          <a:xfrm>
            <a:off x="6629400" y="3752850"/>
            <a:ext cx="46101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认知：构建链路要包一层启动脚本兜底</a:t>
            </a:r>
            <a:endParaRPr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A3C05C8-13A5-4806-8FDA-79460DEEDDB5}"/>
              </a:ext>
            </a:extLst>
          </p:cNvPr>
          <p:cNvSpPr>
            <a:spLocks noGrp="1"/>
          </p:cNvSpPr>
          <p:nvPr/>
        </p:nvSpPr>
        <p:spPr>
          <a:xfrm>
            <a:off x="6477000" y="5705475"/>
            <a:ext cx="42862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125">
                <a:solidFill>
                  <a:srgbClr val="808080"/>
                </a:solidFill>
                <a:latin typeface="Arial"/>
                <a:ea typeface="Arial"/>
                <a:cs typeface="Arial"/>
              </a:rPr>
              <a:t>新指标</a:t>
            </a:r>
            <a:endParaRPr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1ABAE07-8691-41C4-AAF3-B817DC637EF7}"/>
              </a:ext>
            </a:extLst>
          </p:cNvPr>
          <p:cNvSpPr>
            <a:spLocks noGrp="1"/>
          </p:cNvSpPr>
          <p:nvPr/>
        </p:nvSpPr>
        <p:spPr>
          <a:xfrm>
            <a:off x="7000875" y="5705475"/>
            <a:ext cx="25527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9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npm run dev 一键可用</a:t>
            </a:r>
            <a:endParaRPr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F075CFC-1B74-46AE-A6F4-F6E041FCFD99}"/>
              </a:ext>
            </a:extLst>
          </p:cNvPr>
          <p:cNvSpPr>
            <a:spLocks noGrp="1"/>
          </p:cNvSpPr>
          <p:nvPr/>
        </p:nvSpPr>
        <p:spPr>
          <a:xfrm>
            <a:off x="571500" y="6353175"/>
            <a:ext cx="4343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Source：问题反馈.md（两轮）· debug.md · V1.0/V2.0 界面迭代 3 轮截图</a:t>
            </a:r>
            <a:endParaRPr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0649056-CFBD-4CE4-857C-C7BCE7EB017C}"/>
              </a:ext>
            </a:extLst>
          </p:cNvPr>
          <p:cNvSpPr>
            <a:spLocks noGrp="1"/>
          </p:cNvSpPr>
          <p:nvPr/>
        </p:nvSpPr>
        <p:spPr>
          <a:xfrm>
            <a:off x="11210925" y="6353175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11 / 20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59532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61972C56-242D-420A-82FA-BD4C588AE4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119EC58-320E-4D5D-99E9-CED9E0447639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1104900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三大挑战下的RACI-V协作：算法主责，前端联调可视化</a:t>
            </a:r>
            <a:endParaRPr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65D1C44-92A4-4AF7-A357-978A0B54DBBA}"/>
              </a:ext>
            </a:extLst>
          </p:cNvPr>
          <p:cNvSpPr>
            <a:spLocks noGrp="1"/>
          </p:cNvSpPr>
          <p:nvPr/>
        </p:nvSpPr>
        <p:spPr>
          <a:xfrm>
            <a:off x="571500" y="96202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graphicFrame>
        <p:nvGraphicFramePr>
          <p:cNvPr id="44" name="表格 34"/>
          <p:cNvGraphicFramePr/>
          <p:nvPr/>
        </p:nvGraphicFramePr>
        <p:xfrm>
          <a:off x="571500" y="1162050"/>
          <a:ext cx="11049000" cy="1905000"/>
        </p:xfrm>
        <a:graphic>
          <a:graphicData uri="http://schemas.openxmlformats.org/drawingml/2006/table">
            <a:tbl>
              <a:tblPr/>
              <a:tblGrid>
                <a:gridCol w="2267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9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17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关键任务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中期（主责）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结题调整说明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1F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智能体化攻坚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规划中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算法主责，重构调参 Agent（双层循环+5工具+安全回退）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前端联调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前端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前端联调 + 调参功能可视化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文档封装 / 发布包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文档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文档封装发布包（v1.1.0 安装包 + 四份文档）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5" name="表格 35"/>
          <p:cNvGraphicFramePr/>
          <p:nvPr/>
        </p:nvGraphicFramePr>
        <p:xfrm>
          <a:off x="571500" y="4410075"/>
          <a:ext cx="11048999" cy="1813560"/>
        </p:xfrm>
        <a:graphic>
          <a:graphicData uri="http://schemas.openxmlformats.org/drawingml/2006/table">
            <a:tbl>
              <a:tblPr/>
              <a:tblGrid>
                <a:gridCol w="1114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7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56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56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56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成员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难度系数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完成质量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协作系数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贡献值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+mn-ea"/>
                          <a:ea typeface="+mn-ea"/>
                          <a:cs typeface="+mn-ea"/>
                        </a:rPr>
                        <a:t>刘双瑞</a:t>
                      </a:r>
                      <a:endParaRPr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30"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胡雨杨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吴程龙秀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30">
                          <a:latin typeface="+mn-ea"/>
                          <a:ea typeface="+mn-ea"/>
                          <a:cs typeface="+mn-ea"/>
                        </a:rPr>
                        <a:t>80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公式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贡献值 = 难度系数 × 完成质量 × 协作系数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>
                      <a:noFill/>
                    </a:lnL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" name="文本框 36">
            <a:extLst>
              <a:ext uri="{FF2B5EF4-FFF2-40B4-BE49-F238E27FC236}">
                <a16:creationId xmlns:a16="http://schemas.microsoft.com/office/drawing/2014/main" id="{D86761FA-DE87-4F5B-AAAF-020FAA4B4A77}"/>
              </a:ext>
            </a:extLst>
          </p:cNvPr>
          <p:cNvSpPr>
            <a:spLocks noGrp="1"/>
          </p:cNvSpPr>
          <p:nvPr/>
        </p:nvSpPr>
        <p:spPr>
          <a:xfrm>
            <a:off x="571500" y="6353175"/>
            <a:ext cx="10477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  <a:defRPr sz="975">
                <a:solidFill>
                  <a:srgbClr val="728090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728090"/>
                </a:solidFill>
                <a:latin typeface="Arial"/>
                <a:ea typeface="Arial"/>
                <a:cs typeface="Arial"/>
              </a:rPr>
              <a:t>跨越调研、算法与前端的三大挑战 → 以RACI-V调整分工，用贡献记录和交付率复核协作效果。</a:t>
            </a:r>
            <a:endParaRPr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F894798-7714-4330-8B75-C54341320589}"/>
              </a:ext>
            </a:extLst>
          </p:cNvPr>
          <p:cNvSpPr>
            <a:spLocks noGrp="1"/>
          </p:cNvSpPr>
          <p:nvPr/>
        </p:nvSpPr>
        <p:spPr>
          <a:xfrm>
            <a:off x="11220450" y="6353175"/>
            <a:ext cx="4000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12 / 20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29913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3D66E1DC-E979-4D94-BA8C-93CCDBC2B3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516B805-54FC-464B-AB74-DA241773DC4F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1104900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交付率 70%→90%，软件交付里程碑达成</a:t>
            </a:r>
            <a:endParaRPr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396C8A0-AA75-40C3-A881-C0195C489654}"/>
              </a:ext>
            </a:extLst>
          </p:cNvPr>
          <p:cNvSpPr>
            <a:spLocks noGrp="1"/>
          </p:cNvSpPr>
          <p:nvPr/>
        </p:nvSpPr>
        <p:spPr>
          <a:xfrm>
            <a:off x="571500" y="96202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BD113623-5029-47AE-A5E2-35FD54D51AB9}"/>
              </a:ext>
            </a:extLst>
          </p:cNvPr>
          <p:cNvSpPr>
            <a:spLocks noGrp="1"/>
          </p:cNvSpPr>
          <p:nvPr/>
        </p:nvSpPr>
        <p:spPr>
          <a:xfrm>
            <a:off x="571500" y="1181100"/>
            <a:ext cx="4419600" cy="1924050"/>
          </a:xfrm>
          <a:prstGeom prst="roundRect">
            <a:avLst>
              <a:gd name="adj" fmla="val 4950"/>
            </a:avLst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0D8FB66-DAFE-4806-966C-0922E09C0466}"/>
              </a:ext>
            </a:extLst>
          </p:cNvPr>
          <p:cNvSpPr>
            <a:spLocks noGrp="1"/>
          </p:cNvSpPr>
          <p:nvPr/>
        </p:nvSpPr>
        <p:spPr>
          <a:xfrm>
            <a:off x="838200" y="1409700"/>
            <a:ext cx="38862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>
                <a:solidFill>
                  <a:srgbClr val="99BDED"/>
                </a:solidFill>
                <a:latin typeface="Arial"/>
                <a:ea typeface="Arial"/>
                <a:cs typeface="Arial"/>
              </a:rPr>
              <a:t>任务按期交付率（既有改进前后）</a:t>
            </a:r>
            <a:endParaRPr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B763C35-DE63-4EB8-810C-1C9EC34AEA8B}"/>
              </a:ext>
            </a:extLst>
          </p:cNvPr>
          <p:cNvSpPr>
            <a:spLocks noGrp="1"/>
          </p:cNvSpPr>
          <p:nvPr/>
        </p:nvSpPr>
        <p:spPr>
          <a:xfrm>
            <a:off x="838200" y="1714500"/>
            <a:ext cx="733425" cy="914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850">
                <a:solidFill>
                  <a:srgbClr val="808080"/>
                </a:solidFill>
                <a:latin typeface="Arial"/>
                <a:ea typeface="Arial"/>
                <a:cs typeface="Arial"/>
              </a:rPr>
              <a:t>70%</a:t>
            </a:r>
            <a:endParaRPr/>
          </a:p>
        </p:txBody>
      </p:sp>
      <p:pic>
        <p:nvPicPr>
          <p:cNvPr id="85" name="图形 4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4975" y="1714500"/>
            <a:ext cx="304800" cy="304800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9996E0D9-8245-4315-8848-6B96946C1C13}"/>
              </a:ext>
            </a:extLst>
          </p:cNvPr>
          <p:cNvSpPr>
            <a:spLocks noGrp="1"/>
          </p:cNvSpPr>
          <p:nvPr/>
        </p:nvSpPr>
        <p:spPr>
          <a:xfrm>
            <a:off x="2143125" y="1714500"/>
            <a:ext cx="1533525" cy="914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90%</a:t>
            </a:r>
            <a:endParaRPr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A869F31C-6B57-4185-B30D-0D7AD2772CB2}"/>
              </a:ext>
            </a:extLst>
          </p:cNvPr>
          <p:cNvSpPr>
            <a:spLocks noGrp="1"/>
          </p:cNvSpPr>
          <p:nvPr/>
        </p:nvSpPr>
        <p:spPr>
          <a:xfrm>
            <a:off x="838200" y="2686050"/>
            <a:ext cx="38862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>
                <a:solidFill>
                  <a:srgbClr val="C9D6E2"/>
                </a:solidFill>
                <a:latin typeface="Arial"/>
                <a:ea typeface="Arial"/>
                <a:cs typeface="Arial"/>
              </a:rPr>
              <a:t>每日立会 + 任务认领看板驱动</a:t>
            </a:r>
            <a:endParaRPr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FC3E6A36-F9BC-4B40-8FD0-4EF2F43648DB}"/>
              </a:ext>
            </a:extLst>
          </p:cNvPr>
          <p:cNvSpPr>
            <a:spLocks noGrp="1"/>
          </p:cNvSpPr>
          <p:nvPr/>
        </p:nvSpPr>
        <p:spPr>
          <a:xfrm>
            <a:off x="5257800" y="1847850"/>
            <a:ext cx="63627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425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敏捷看板 · 五泳道全交付</a:t>
            </a:r>
            <a:endParaRPr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0D63E48-9F7D-4D38-8ADC-FB883B2EE1F4}"/>
              </a:ext>
            </a:extLst>
          </p:cNvPr>
          <p:cNvSpPr>
            <a:spLocks noGrp="1"/>
          </p:cNvSpPr>
          <p:nvPr/>
        </p:nvSpPr>
        <p:spPr>
          <a:xfrm>
            <a:off x="5257800" y="2143125"/>
            <a:ext cx="63627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  <a:buNone/>
            </a:pPr>
            <a:r>
              <a:rPr sz="1200">
                <a:solidFill>
                  <a:srgbClr val="44546A"/>
                </a:solidFill>
                <a:latin typeface="Arial"/>
                <a:ea typeface="Arial"/>
                <a:cs typeface="Arial"/>
              </a:rPr>
              <a:t>将 Git 31 个提交重排为任务看板：底座 → 分析 → 调参 → 智能体 → 发布</a:t>
            </a:r>
            <a:endParaRPr/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ACADBE18-BB91-4CA5-9732-C8BA50F60B80}"/>
              </a:ext>
            </a:extLst>
          </p:cNvPr>
          <p:cNvSpPr>
            <a:spLocks noGrp="1"/>
          </p:cNvSpPr>
          <p:nvPr/>
        </p:nvSpPr>
        <p:spPr>
          <a:xfrm>
            <a:off x="571500" y="5438775"/>
            <a:ext cx="2105025" cy="781050"/>
          </a:xfrm>
          <a:prstGeom prst="roundRect">
            <a:avLst>
              <a:gd name="adj" fmla="val 9756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BEE2A04B-F5EC-4AA4-A59E-22216AC51D82}"/>
              </a:ext>
            </a:extLst>
          </p:cNvPr>
          <p:cNvSpPr>
            <a:spLocks noGrp="1"/>
          </p:cNvSpPr>
          <p:nvPr/>
        </p:nvSpPr>
        <p:spPr>
          <a:xfrm>
            <a:off x="1457325" y="5591175"/>
            <a:ext cx="3429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底座</a:t>
            </a:r>
            <a:endParaRPr/>
          </a:p>
        </p:txBody>
      </p:sp>
      <p:pic>
        <p:nvPicPr>
          <p:cNvPr id="92" name="图形 5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5400" y="5895975"/>
            <a:ext cx="171450" cy="171450"/>
          </a:xfrm>
          <a:prstGeom prst="rect">
            <a:avLst/>
          </a:prstGeom>
        </p:spPr>
      </p:pic>
      <p:sp>
        <p:nvSpPr>
          <p:cNvPr id="54" name="文本框 53">
            <a:extLst>
              <a:ext uri="{FF2B5EF4-FFF2-40B4-BE49-F238E27FC236}">
                <a16:creationId xmlns:a16="http://schemas.microsoft.com/office/drawing/2014/main" id="{24D366A9-B968-4179-B297-09E648ADD161}"/>
              </a:ext>
            </a:extLst>
          </p:cNvPr>
          <p:cNvSpPr>
            <a:spLocks noGrp="1"/>
          </p:cNvSpPr>
          <p:nvPr/>
        </p:nvSpPr>
        <p:spPr>
          <a:xfrm>
            <a:off x="1524000" y="5895975"/>
            <a:ext cx="4286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125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已交付</a:t>
            </a:r>
            <a:endParaRPr/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17E7FD35-F1E7-477A-86A8-456F0C25731C}"/>
              </a:ext>
            </a:extLst>
          </p:cNvPr>
          <p:cNvSpPr>
            <a:spLocks noGrp="1"/>
          </p:cNvSpPr>
          <p:nvPr/>
        </p:nvSpPr>
        <p:spPr>
          <a:xfrm>
            <a:off x="2809875" y="5438775"/>
            <a:ext cx="2105025" cy="781050"/>
          </a:xfrm>
          <a:prstGeom prst="roundRect">
            <a:avLst>
              <a:gd name="adj" fmla="val 9756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3B9A61B3-2A4E-4136-AC34-D9DF36E16FC2}"/>
              </a:ext>
            </a:extLst>
          </p:cNvPr>
          <p:cNvSpPr>
            <a:spLocks noGrp="1"/>
          </p:cNvSpPr>
          <p:nvPr/>
        </p:nvSpPr>
        <p:spPr>
          <a:xfrm>
            <a:off x="3695700" y="5591175"/>
            <a:ext cx="3429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分析</a:t>
            </a:r>
            <a:endParaRPr/>
          </a:p>
        </p:txBody>
      </p:sp>
      <p:pic>
        <p:nvPicPr>
          <p:cNvPr id="96" name="图形 5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33775" y="5895975"/>
            <a:ext cx="171450" cy="171450"/>
          </a:xfrm>
          <a:prstGeom prst="rect">
            <a:avLst/>
          </a:prstGeom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FCD20E21-950F-4F15-A790-5F4D7BFFD18F}"/>
              </a:ext>
            </a:extLst>
          </p:cNvPr>
          <p:cNvSpPr>
            <a:spLocks noGrp="1"/>
          </p:cNvSpPr>
          <p:nvPr/>
        </p:nvSpPr>
        <p:spPr>
          <a:xfrm>
            <a:off x="3762375" y="5895975"/>
            <a:ext cx="4286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125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已交付</a:t>
            </a:r>
            <a:endParaRPr/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5DC3697C-BFCC-4968-8CB9-C65FF7029AD9}"/>
              </a:ext>
            </a:extLst>
          </p:cNvPr>
          <p:cNvSpPr>
            <a:spLocks noGrp="1"/>
          </p:cNvSpPr>
          <p:nvPr/>
        </p:nvSpPr>
        <p:spPr>
          <a:xfrm>
            <a:off x="5048250" y="5438775"/>
            <a:ext cx="2095500" cy="781050"/>
          </a:xfrm>
          <a:prstGeom prst="roundRect">
            <a:avLst>
              <a:gd name="adj" fmla="val 9756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D2552AB2-AF28-48B8-B909-DB0963326450}"/>
              </a:ext>
            </a:extLst>
          </p:cNvPr>
          <p:cNvSpPr>
            <a:spLocks noGrp="1"/>
          </p:cNvSpPr>
          <p:nvPr/>
        </p:nvSpPr>
        <p:spPr>
          <a:xfrm>
            <a:off x="5924550" y="5591175"/>
            <a:ext cx="3429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调参</a:t>
            </a:r>
            <a:endParaRPr/>
          </a:p>
        </p:txBody>
      </p:sp>
      <p:pic>
        <p:nvPicPr>
          <p:cNvPr id="100" name="图形 6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150" y="5895975"/>
            <a:ext cx="171450" cy="171450"/>
          </a:xfrm>
          <a:prstGeom prst="rect">
            <a:avLst/>
          </a:prstGeom>
        </p:spPr>
      </p:pic>
      <p:sp>
        <p:nvSpPr>
          <p:cNvPr id="62" name="文本框 61">
            <a:extLst>
              <a:ext uri="{FF2B5EF4-FFF2-40B4-BE49-F238E27FC236}">
                <a16:creationId xmlns:a16="http://schemas.microsoft.com/office/drawing/2014/main" id="{2DA730E9-231A-4B74-B368-349AB93747E3}"/>
              </a:ext>
            </a:extLst>
          </p:cNvPr>
          <p:cNvSpPr>
            <a:spLocks noGrp="1"/>
          </p:cNvSpPr>
          <p:nvPr/>
        </p:nvSpPr>
        <p:spPr>
          <a:xfrm>
            <a:off x="6000750" y="5895975"/>
            <a:ext cx="4286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125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已交付</a:t>
            </a:r>
            <a:endParaRPr/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F1CB1EF4-B388-48F5-A108-66F1D23A891B}"/>
              </a:ext>
            </a:extLst>
          </p:cNvPr>
          <p:cNvSpPr>
            <a:spLocks noGrp="1"/>
          </p:cNvSpPr>
          <p:nvPr/>
        </p:nvSpPr>
        <p:spPr>
          <a:xfrm>
            <a:off x="7277100" y="5438775"/>
            <a:ext cx="2105025" cy="781050"/>
          </a:xfrm>
          <a:prstGeom prst="roundRect">
            <a:avLst>
              <a:gd name="adj" fmla="val 9756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E6299062-C624-48B7-B262-D8CD43402F74}"/>
              </a:ext>
            </a:extLst>
          </p:cNvPr>
          <p:cNvSpPr>
            <a:spLocks noGrp="1"/>
          </p:cNvSpPr>
          <p:nvPr/>
        </p:nvSpPr>
        <p:spPr>
          <a:xfrm>
            <a:off x="8077200" y="5591175"/>
            <a:ext cx="5143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智能体</a:t>
            </a:r>
            <a:endParaRPr/>
          </a:p>
        </p:txBody>
      </p:sp>
      <p:pic>
        <p:nvPicPr>
          <p:cNvPr id="104" name="图形 6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1000" y="5895975"/>
            <a:ext cx="171450" cy="171450"/>
          </a:xfrm>
          <a:prstGeom prst="rect">
            <a:avLst/>
          </a:prstGeom>
        </p:spPr>
      </p:pic>
      <p:sp>
        <p:nvSpPr>
          <p:cNvPr id="66" name="文本框 65">
            <a:extLst>
              <a:ext uri="{FF2B5EF4-FFF2-40B4-BE49-F238E27FC236}">
                <a16:creationId xmlns:a16="http://schemas.microsoft.com/office/drawing/2014/main" id="{5722F48A-C34A-4CA1-81C2-63827F172A4D}"/>
              </a:ext>
            </a:extLst>
          </p:cNvPr>
          <p:cNvSpPr>
            <a:spLocks noGrp="1"/>
          </p:cNvSpPr>
          <p:nvPr/>
        </p:nvSpPr>
        <p:spPr>
          <a:xfrm>
            <a:off x="8229600" y="5895975"/>
            <a:ext cx="4286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125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已交付</a:t>
            </a:r>
            <a:endParaRPr/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578EF7A0-43A3-4505-A6D9-D7930173E589}"/>
              </a:ext>
            </a:extLst>
          </p:cNvPr>
          <p:cNvSpPr>
            <a:spLocks noGrp="1"/>
          </p:cNvSpPr>
          <p:nvPr/>
        </p:nvSpPr>
        <p:spPr>
          <a:xfrm>
            <a:off x="9515475" y="5438775"/>
            <a:ext cx="2105025" cy="781050"/>
          </a:xfrm>
          <a:prstGeom prst="roundRect">
            <a:avLst>
              <a:gd name="adj" fmla="val 9756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B99B7BFB-204E-415C-835B-9079F99CF7A6}"/>
              </a:ext>
            </a:extLst>
          </p:cNvPr>
          <p:cNvSpPr>
            <a:spLocks noGrp="1"/>
          </p:cNvSpPr>
          <p:nvPr/>
        </p:nvSpPr>
        <p:spPr>
          <a:xfrm>
            <a:off x="10401300" y="5591175"/>
            <a:ext cx="3429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发布</a:t>
            </a:r>
            <a:endParaRPr/>
          </a:p>
        </p:txBody>
      </p:sp>
      <p:pic>
        <p:nvPicPr>
          <p:cNvPr id="108" name="图形 6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39375" y="5895975"/>
            <a:ext cx="171450" cy="171450"/>
          </a:xfrm>
          <a:prstGeom prst="rect">
            <a:avLst/>
          </a:prstGeom>
        </p:spPr>
      </p:pic>
      <p:sp>
        <p:nvSpPr>
          <p:cNvPr id="70" name="文本框 69">
            <a:extLst>
              <a:ext uri="{FF2B5EF4-FFF2-40B4-BE49-F238E27FC236}">
                <a16:creationId xmlns:a16="http://schemas.microsoft.com/office/drawing/2014/main" id="{32CF34BE-F2F2-4BD0-8EA9-BB31D796B98D}"/>
              </a:ext>
            </a:extLst>
          </p:cNvPr>
          <p:cNvSpPr>
            <a:spLocks noGrp="1"/>
          </p:cNvSpPr>
          <p:nvPr/>
        </p:nvSpPr>
        <p:spPr>
          <a:xfrm>
            <a:off x="10467975" y="5895975"/>
            <a:ext cx="4286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125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已交付</a:t>
            </a:r>
            <a:endParaRPr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DF3D197D-6B22-4553-8F26-73812C9C6E59}"/>
              </a:ext>
            </a:extLst>
          </p:cNvPr>
          <p:cNvSpPr>
            <a:spLocks noGrp="1"/>
          </p:cNvSpPr>
          <p:nvPr/>
        </p:nvSpPr>
        <p:spPr>
          <a:xfrm>
            <a:off x="571500" y="6353175"/>
            <a:ext cx="10477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  <a:defRPr sz="975">
                <a:solidFill>
                  <a:srgbClr val="728090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728090"/>
                </a:solidFill>
                <a:latin typeface="Arial"/>
                <a:ea typeface="Arial"/>
                <a:cs typeface="Arial"/>
              </a:rPr>
              <a:t>协作证据：RACI-V分工表、问题反馈与Git提交记录；团队通过交叉联调回应上下文失真和硬件受阻。</a:t>
            </a:r>
            <a:endParaRPr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FB0B6855-CE7C-4277-94F0-FD256749A111}"/>
              </a:ext>
            </a:extLst>
          </p:cNvPr>
          <p:cNvSpPr>
            <a:spLocks noGrp="1"/>
          </p:cNvSpPr>
          <p:nvPr/>
        </p:nvSpPr>
        <p:spPr>
          <a:xfrm>
            <a:off x="11210925" y="6353175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13 / 20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07693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3800F17B-D6BC-463F-BB1C-5ECC727077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E82525F-0B20-4EAF-B7AF-F9FF7CB1852A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1104900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资源杠杆｜完整资源—行动—价值对照总表</a:t>
            </a:r>
            <a:endParaRPr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17853157-869D-416C-9C56-6BA61E2B4B06}"/>
              </a:ext>
            </a:extLst>
          </p:cNvPr>
          <p:cNvSpPr>
            <a:spLocks noGrp="1"/>
          </p:cNvSpPr>
          <p:nvPr/>
        </p:nvSpPr>
        <p:spPr>
          <a:xfrm>
            <a:off x="571500" y="96202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997F4D1A-40AB-4E05-86CC-9FE77CD1A8DC}"/>
              </a:ext>
            </a:extLst>
          </p:cNvPr>
          <p:cNvSpPr>
            <a:spLocks noGrp="1"/>
          </p:cNvSpPr>
          <p:nvPr/>
        </p:nvSpPr>
        <p:spPr>
          <a:xfrm>
            <a:off x="571500" y="6353175"/>
            <a:ext cx="10477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  <a:defRPr sz="975">
                <a:solidFill>
                  <a:srgbClr val="728090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728090"/>
                </a:solidFill>
                <a:latin typeface="Arial"/>
                <a:ea typeface="Arial"/>
                <a:cs typeface="Arial"/>
              </a:rPr>
              <a:t>来源：既有投入记录、发布包与用户测评记录；182h与350元口径不变，新增反馈不混入深访成本分母。</a:t>
            </a:r>
            <a:endParaRPr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911D0AD2-4185-46CD-97CB-4C0B775145E7}"/>
              </a:ext>
            </a:extLst>
          </p:cNvPr>
          <p:cNvSpPr>
            <a:spLocks noGrp="1"/>
          </p:cNvSpPr>
          <p:nvPr/>
        </p:nvSpPr>
        <p:spPr>
          <a:xfrm>
            <a:off x="11210925" y="6353175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14 / 20</a:t>
            </a:r>
            <a:endParaRPr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0F595EDF-06CB-43EF-80FF-778552EC44AE}"/>
              </a:ext>
            </a:extLst>
          </p:cNvPr>
          <p:cNvSpPr>
            <a:spLocks noGrp="1"/>
          </p:cNvSpPr>
          <p:nvPr/>
        </p:nvSpPr>
        <p:spPr>
          <a:xfrm>
            <a:off x="571500" y="1133475"/>
            <a:ext cx="11049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500" b="1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有限资源优先投入三处瓶颈：真实反馈、AI上下文质量、仿真与硬件衔接。</a:t>
            </a:r>
          </a:p>
        </p:txBody>
      </p:sp>
      <p:graphicFrame>
        <p:nvGraphicFramePr>
          <p:cNvPr id="101" name="表格 100"/>
          <p:cNvGraphicFramePr/>
          <p:nvPr/>
        </p:nvGraphicFramePr>
        <p:xfrm>
          <a:off x="571500" y="1571625"/>
          <a:ext cx="11049000" cy="3695700"/>
        </p:xfrm>
        <a:graphic>
          <a:graphicData uri="http://schemas.openxmlformats.org/drawingml/2006/table">
            <a:tbl>
              <a:tblPr/>
              <a:tblGrid>
                <a:gridCol w="12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795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资源类别</a:t>
                      </a:r>
                    </a:p>
                  </a:txBody>
                  <a:tcPr marL="85725" marR="85725" marT="57150" marB="57150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投入 / 来源</a:t>
                      </a:r>
                    </a:p>
                  </a:txBody>
                  <a:tcPr marL="85725" marR="85725" marT="57150" marB="57150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转化行动</a:t>
                      </a:r>
                    </a:p>
                  </a:txBody>
                  <a:tcPr marL="85725" marR="85725" marT="57150" marB="57150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形成的价值 / 成果</a:t>
                      </a:r>
                    </a:p>
                  </a:txBody>
                  <a:tcPr marL="85725" marR="85725" marT="57150" marB="57150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边界与效率</a:t>
                      </a:r>
                    </a:p>
                  </a:txBody>
                  <a:tcPr marL="85725" marR="85725" marT="57150" marB="57150" anchor="ctr">
                    <a:solidFill>
                      <a:srgbClr val="061F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95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团队时间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开发152h＋验证30h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合计182h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并行开发、联调、验证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完成可安装版本与文档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以交付物复核工时成果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95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现金经费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合计350元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API120 / 云80 / 激励150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模型调用、部署与反馈收集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12份深度反馈与产品迭代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约29.2元/份反馈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95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用户资源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7份问卷；12份深访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另补充5条体验反馈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定位调参痛点与付费意愿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8/12表达付费意愿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反馈推动5项体验改进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反馈条数≠独立人数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未计作实际收入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95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外部指导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2次指导＋5个开源库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吸收评审、复用组件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减少基础功能重复开发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保留来源与许可要求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95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技术底座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Electron / Vue / ECharts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串口组件＋模型API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桌面交付、波形、AI工具编排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v1.1.0、6份文档、31次提交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API成本与网络仍是约束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795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验证资产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12项自测 / 18测试文件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51份波形资产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仿真回归、异常与链路检查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低成本复现与诊断案例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不替代真实硬件用户测评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8" name="矩形 87">
            <a:extLst>
              <a:ext uri="{FF2B5EF4-FFF2-40B4-BE49-F238E27FC236}">
                <a16:creationId xmlns:a16="http://schemas.microsoft.com/office/drawing/2014/main" id="{017ADD30-E09E-48F4-A1B9-DF386F1C1FDF}"/>
              </a:ext>
            </a:extLst>
          </p:cNvPr>
          <p:cNvSpPr>
            <a:spLocks noGrp="1"/>
          </p:cNvSpPr>
          <p:nvPr/>
        </p:nvSpPr>
        <p:spPr>
          <a:xfrm>
            <a:off x="571500" y="5476875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2550" b="1">
                <a:solidFill>
                  <a:srgbClr val="009ED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9EDB"/>
                </a:solidFill>
                <a:latin typeface="Arial"/>
                <a:ea typeface="Arial"/>
                <a:cs typeface="Arial"/>
              </a:rPr>
              <a:t>182h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04824833-07CF-483E-9BF6-8F5D0611BD97}"/>
              </a:ext>
            </a:extLst>
          </p:cNvPr>
          <p:cNvSpPr>
            <a:spLocks noGrp="1"/>
          </p:cNvSpPr>
          <p:nvPr/>
        </p:nvSpPr>
        <p:spPr>
          <a:xfrm>
            <a:off x="571500" y="5934075"/>
            <a:ext cx="1905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275" b="0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61F32"/>
                </a:solidFill>
                <a:latin typeface="Arial"/>
                <a:ea typeface="Arial"/>
                <a:cs typeface="Arial"/>
              </a:rPr>
              <a:t>团队总投入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D7FEFDBA-CC50-4AAE-8E5B-92653D58FE79}"/>
              </a:ext>
            </a:extLst>
          </p:cNvPr>
          <p:cNvSpPr>
            <a:spLocks noGrp="1"/>
          </p:cNvSpPr>
          <p:nvPr/>
        </p:nvSpPr>
        <p:spPr>
          <a:xfrm>
            <a:off x="3333750" y="5476875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2550" b="1">
                <a:solidFill>
                  <a:srgbClr val="009ED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9EDB"/>
                </a:solidFill>
                <a:latin typeface="Arial"/>
                <a:ea typeface="Arial"/>
                <a:cs typeface="Arial"/>
              </a:rPr>
              <a:t>¥29.2 / 份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50E4F6A7-686B-44FF-821B-57645C0A94C3}"/>
              </a:ext>
            </a:extLst>
          </p:cNvPr>
          <p:cNvSpPr>
            <a:spLocks noGrp="1"/>
          </p:cNvSpPr>
          <p:nvPr/>
        </p:nvSpPr>
        <p:spPr>
          <a:xfrm>
            <a:off x="3333750" y="5934075"/>
            <a:ext cx="2667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275" b="0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61F32"/>
                </a:solidFill>
                <a:latin typeface="Arial"/>
                <a:ea typeface="Arial"/>
                <a:cs typeface="Arial"/>
              </a:rPr>
              <a:t>350元 ÷ 12份深度反馈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C3824B5C-B3E9-49FE-81A2-23B4ABB380D2}"/>
              </a:ext>
            </a:extLst>
          </p:cNvPr>
          <p:cNvSpPr>
            <a:spLocks noGrp="1"/>
          </p:cNvSpPr>
          <p:nvPr/>
        </p:nvSpPr>
        <p:spPr>
          <a:xfrm>
            <a:off x="6858000" y="5476875"/>
            <a:ext cx="323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2550" b="1">
                <a:solidFill>
                  <a:srgbClr val="009ED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9EDB"/>
                </a:solidFill>
                <a:latin typeface="Arial"/>
                <a:ea typeface="Arial"/>
                <a:cs typeface="Arial"/>
              </a:rPr>
              <a:t>3.4份 / 百元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EAD5F835-1C33-4C16-A5A9-05B8F1208229}"/>
              </a:ext>
            </a:extLst>
          </p:cNvPr>
          <p:cNvSpPr>
            <a:spLocks noGrp="1"/>
          </p:cNvSpPr>
          <p:nvPr/>
        </p:nvSpPr>
        <p:spPr>
          <a:xfrm>
            <a:off x="6858000" y="5934075"/>
            <a:ext cx="428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275" b="0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61F32"/>
                </a:solidFill>
                <a:latin typeface="Arial"/>
                <a:ea typeface="Arial"/>
                <a:cs typeface="Arial"/>
              </a:rPr>
              <a:t>12 ÷ 350 × 100；不代表付费转化率</a:t>
            </a:r>
          </a:p>
        </p:txBody>
      </p:sp>
    </p:spTree>
    <p:extLst>
      <p:ext uri="{BB962C8B-B14F-4D97-AF65-F5344CB8AC3E}">
        <p14:creationId xmlns:p14="http://schemas.microsoft.com/office/powerpoint/2010/main" val="2009289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矩形 86">
            <a:extLst>
              <a:ext uri="{FF2B5EF4-FFF2-40B4-BE49-F238E27FC236}">
                <a16:creationId xmlns:a16="http://schemas.microsoft.com/office/drawing/2014/main" id="{1592A658-6160-439C-A84C-3EF90269A9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3E263106-4778-41BA-8E57-3382DBEBCC22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1104900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开源杠杆 + 学长指导：用轻资源置换技术与传播</a:t>
            </a:r>
            <a:endParaRPr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634FC0B8-B660-489A-9A9F-BED301A94FA2}"/>
              </a:ext>
            </a:extLst>
          </p:cNvPr>
          <p:cNvSpPr>
            <a:spLocks noGrp="1"/>
          </p:cNvSpPr>
          <p:nvPr/>
        </p:nvSpPr>
        <p:spPr>
          <a:xfrm>
            <a:off x="571500" y="96202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C44B00F2-1F83-41B5-ADD7-0B50041ECCBD}"/>
              </a:ext>
            </a:extLst>
          </p:cNvPr>
          <p:cNvSpPr>
            <a:spLocks noGrp="1"/>
          </p:cNvSpPr>
          <p:nvPr/>
        </p:nvSpPr>
        <p:spPr>
          <a:xfrm>
            <a:off x="571500" y="6353175"/>
            <a:ext cx="10477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  <a:defRPr sz="975">
                <a:solidFill>
                  <a:srgbClr val="728090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728090"/>
                </a:solidFill>
                <a:latin typeface="Arial"/>
                <a:ea typeface="Arial"/>
                <a:cs typeface="Arial"/>
              </a:rPr>
              <a:t>证据：原始Git提交截图；价值路径：复用降低重复开发成本，公开交付支撑后续社区补测。</a:t>
            </a:r>
            <a:endParaRPr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BAB320D5-A4E9-4D46-A393-13A17C2AC96A}"/>
              </a:ext>
            </a:extLst>
          </p:cNvPr>
          <p:cNvSpPr>
            <a:spLocks noGrp="1"/>
          </p:cNvSpPr>
          <p:nvPr/>
        </p:nvSpPr>
        <p:spPr>
          <a:xfrm>
            <a:off x="11210925" y="6353175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15 / 20</a:t>
            </a:r>
            <a:endParaRPr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F45A39F2-A617-4D06-ABC4-B3662738F3FA}"/>
              </a:ext>
            </a:extLst>
          </p:cNvPr>
          <p:cNvSpPr>
            <a:spLocks noGrp="1"/>
          </p:cNvSpPr>
          <p:nvPr/>
        </p:nvSpPr>
        <p:spPr>
          <a:xfrm>
            <a:off x="571500" y="1152525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575" b="1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已有定性反馈推动改进，开放交付继续支撑量化复测与真实硬件验证。</a:t>
            </a: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1282CF9D-B602-476A-BDDD-32ED2AFB1AB8}"/>
              </a:ext>
            </a:extLst>
          </p:cNvPr>
          <p:cNvSpPr>
            <a:spLocks noGrp="1"/>
          </p:cNvSpPr>
          <p:nvPr/>
        </p:nvSpPr>
        <p:spPr>
          <a:xfrm>
            <a:off x="571500" y="1752600"/>
            <a:ext cx="509587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650" b="1">
                <a:solidFill>
                  <a:srgbClr val="009ED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EDB"/>
                </a:solidFill>
                <a:latin typeface="Arial"/>
                <a:ea typeface="Arial"/>
                <a:cs typeface="Arial"/>
              </a:rPr>
              <a:t>MIT开源＋免费基础版</a:t>
            </a: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61096A8C-FC61-4DEA-BAA0-657725192002}"/>
              </a:ext>
            </a:extLst>
          </p:cNvPr>
          <p:cNvSpPr>
            <a:spLocks noGrp="1"/>
          </p:cNvSpPr>
          <p:nvPr/>
        </p:nvSpPr>
        <p:spPr>
          <a:xfrm>
            <a:off x="571500" y="2171700"/>
            <a:ext cx="5095875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650" b="0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61F32"/>
                </a:solidFill>
                <a:latin typeface="Arial"/>
                <a:ea typeface="Arial"/>
                <a:cs typeface="Arial"/>
              </a:rPr>
              <a:t>可运行安装包与文档 → 社区测评入口</a:t>
            </a:r>
          </a:p>
          <a:p>
            <a:pPr>
              <a:buNone/>
              <a:defRPr sz="1650" b="0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61F32"/>
                </a:solidFill>
                <a:latin typeface="Arial"/>
                <a:ea typeface="Arial"/>
                <a:cs typeface="Arial"/>
              </a:rPr>
              <a:t>在现有反馈上扩展样本与硬件验证。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64B4661C-053E-493B-92A6-E5D19D289576}"/>
              </a:ext>
            </a:extLst>
          </p:cNvPr>
          <p:cNvSpPr>
            <a:spLocks noGrp="1"/>
          </p:cNvSpPr>
          <p:nvPr/>
        </p:nvSpPr>
        <p:spPr>
          <a:xfrm>
            <a:off x="571500" y="3143250"/>
            <a:ext cx="509587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650" b="1">
                <a:solidFill>
                  <a:srgbClr val="009ED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EDB"/>
                </a:solidFill>
                <a:latin typeface="Arial"/>
                <a:ea typeface="Arial"/>
                <a:cs typeface="Arial"/>
              </a:rPr>
              <a:t>学长2次指导＋5个开源库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19D48A54-A972-4EE5-92A7-173150AE0E32}"/>
              </a:ext>
            </a:extLst>
          </p:cNvPr>
          <p:cNvSpPr>
            <a:spLocks noGrp="1"/>
          </p:cNvSpPr>
          <p:nvPr/>
        </p:nvSpPr>
        <p:spPr>
          <a:xfrm>
            <a:off x="571500" y="3562350"/>
            <a:ext cx="5095875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650" b="0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61F32"/>
                </a:solidFill>
                <a:latin typeface="Arial"/>
                <a:ea typeface="Arial"/>
                <a:cs typeface="Arial"/>
              </a:rPr>
              <a:t>消解技术未知项，减少基础功能重复开发；</a:t>
            </a:r>
          </a:p>
          <a:p>
            <a:pPr>
              <a:buNone/>
              <a:defRPr sz="1650" b="0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61F32"/>
                </a:solidFill>
                <a:latin typeface="Arial"/>
                <a:ea typeface="Arial"/>
                <a:cs typeface="Arial"/>
              </a:rPr>
              <a:t>设备受限时，优先仿真，再推进实物联调。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303A3DB9-3281-457E-A81B-533DC3D13028}"/>
              </a:ext>
            </a:extLst>
          </p:cNvPr>
          <p:cNvSpPr>
            <a:spLocks noGrp="1"/>
          </p:cNvSpPr>
          <p:nvPr/>
        </p:nvSpPr>
        <p:spPr>
          <a:xfrm>
            <a:off x="571500" y="4791075"/>
            <a:ext cx="509587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650" b="1">
                <a:solidFill>
                  <a:srgbClr val="009ED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EDB"/>
                </a:solidFill>
                <a:latin typeface="Arial"/>
                <a:ea typeface="Arial"/>
                <a:cs typeface="Arial"/>
              </a:rPr>
              <a:t>方法论沉淀</a:t>
            </a: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D69E5E5C-21F8-41B2-BB94-2108BCC571F6}"/>
              </a:ext>
            </a:extLst>
          </p:cNvPr>
          <p:cNvSpPr>
            <a:spLocks noGrp="1"/>
          </p:cNvSpPr>
          <p:nvPr/>
        </p:nvSpPr>
        <p:spPr>
          <a:xfrm>
            <a:off x="571500" y="5210175"/>
            <a:ext cx="509587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575" b="0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61F32"/>
                </a:solidFill>
                <a:latin typeface="Arial"/>
                <a:ea typeface="Arial"/>
                <a:cs typeface="Arial"/>
              </a:rPr>
              <a:t>MVP先验证 → 辅助式定位</a:t>
            </a:r>
          </a:p>
          <a:p>
            <a:pPr>
              <a:buNone/>
              <a:defRPr sz="1575" b="0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61F32"/>
                </a:solidFill>
                <a:latin typeface="Arial"/>
                <a:ea typeface="Arial"/>
                <a:cs typeface="Arial"/>
              </a:rPr>
              <a:t>→ 机制化安全 → 开源杠杆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0C9ACFDD-951C-48D2-BC3F-65C12A9F72BC}"/>
              </a:ext>
            </a:extLst>
          </p:cNvPr>
          <p:cNvSpPr>
            <a:spLocks noGrp="1"/>
          </p:cNvSpPr>
          <p:nvPr/>
        </p:nvSpPr>
        <p:spPr>
          <a:xfrm>
            <a:off x="6238875" y="1743075"/>
            <a:ext cx="53816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500" b="1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发布证据｜8/25文档、安装包与许可记录</a:t>
            </a:r>
          </a:p>
        </p:txBody>
      </p:sp>
      <p:pic>
        <p:nvPicPr>
          <p:cNvPr id="131" name="图片 1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38875" y="2194098"/>
            <a:ext cx="5381625" cy="3393729"/>
          </a:xfrm>
          <a:prstGeom prst="rect">
            <a:avLst/>
          </a:prstGeom>
        </p:spPr>
      </p:pic>
      <p:sp>
        <p:nvSpPr>
          <p:cNvPr id="116" name="矩形 115">
            <a:extLst>
              <a:ext uri="{FF2B5EF4-FFF2-40B4-BE49-F238E27FC236}">
                <a16:creationId xmlns:a16="http://schemas.microsoft.com/office/drawing/2014/main" id="{1AC7FB08-B27F-4D54-96D1-C919BFE4D9D6}"/>
              </a:ext>
            </a:extLst>
          </p:cNvPr>
          <p:cNvSpPr>
            <a:spLocks noGrp="1"/>
          </p:cNvSpPr>
          <p:nvPr/>
        </p:nvSpPr>
        <p:spPr>
          <a:xfrm>
            <a:off x="6238875" y="5772150"/>
            <a:ext cx="53816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350" b="1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已形成安装上手反馈，后续以量化复测检验改善。</a:t>
            </a:r>
          </a:p>
        </p:txBody>
      </p:sp>
    </p:spTree>
    <p:extLst>
      <p:ext uri="{BB962C8B-B14F-4D97-AF65-F5344CB8AC3E}">
        <p14:creationId xmlns:p14="http://schemas.microsoft.com/office/powerpoint/2010/main" val="287036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矩形 107">
            <a:extLst>
              <a:ext uri="{FF2B5EF4-FFF2-40B4-BE49-F238E27FC236}">
                <a16:creationId xmlns:a16="http://schemas.microsoft.com/office/drawing/2014/main" id="{AB74229B-616C-44DB-839C-1E133CFB19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85216427-7F32-4CDC-B52B-6E16B4ED430E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1104900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从定性反馈走向量化复测：补齐真实硬件闭环</a:t>
            </a:r>
            <a:endParaRPr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85EFB7DD-39CF-4C84-8888-D9BBEDF014CE}"/>
              </a:ext>
            </a:extLst>
          </p:cNvPr>
          <p:cNvSpPr>
            <a:spLocks noGrp="1"/>
          </p:cNvSpPr>
          <p:nvPr/>
        </p:nvSpPr>
        <p:spPr>
          <a:xfrm>
            <a:off x="571500" y="96202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111" name="矩形: 圆角 110">
            <a:extLst>
              <a:ext uri="{FF2B5EF4-FFF2-40B4-BE49-F238E27FC236}">
                <a16:creationId xmlns:a16="http://schemas.microsoft.com/office/drawing/2014/main" id="{908FA382-C8BC-4D7E-B188-A1D44F2D7526}"/>
              </a:ext>
            </a:extLst>
          </p:cNvPr>
          <p:cNvSpPr>
            <a:spLocks noGrp="1"/>
          </p:cNvSpPr>
          <p:nvPr/>
        </p:nvSpPr>
        <p:spPr>
          <a:xfrm>
            <a:off x="571500" y="1219200"/>
            <a:ext cx="3552825" cy="2286000"/>
          </a:xfrm>
          <a:prstGeom prst="roundRect">
            <a:avLst>
              <a:gd name="adj" fmla="val 4167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sp>
        <p:nvSpPr>
          <p:cNvPr id="112" name="任意多边形: 形状 111">
            <a:extLst>
              <a:ext uri="{FF2B5EF4-FFF2-40B4-BE49-F238E27FC236}">
                <a16:creationId xmlns:a16="http://schemas.microsoft.com/office/drawing/2014/main" id="{BB959DC8-07C6-49C4-94A4-133B4905D2F4}"/>
              </a:ext>
            </a:extLst>
          </p:cNvPr>
          <p:cNvSpPr>
            <a:spLocks noGrp="1"/>
          </p:cNvSpPr>
          <p:nvPr/>
        </p:nvSpPr>
        <p:spPr>
          <a:xfrm>
            <a:off x="571500" y="1219200"/>
            <a:ext cx="3552825" cy="2286000"/>
          </a:xfrm>
          <a:custGeom>
            <a:avLst/>
            <a:gdLst/>
            <a:ahLst/>
            <a:cxnLst/>
            <a:rect l="0" t="0" r="0" b="0"/>
            <a:pathLst>
              <a:path w="373" h="240">
                <a:moveTo>
                  <a:pt x="363" y="0"/>
                </a:moveTo>
                <a:cubicBezTo>
                  <a:pt x="368" y="0"/>
                  <a:pt x="372" y="4"/>
                  <a:pt x="373" y="8"/>
                </a:cubicBezTo>
                <a:cubicBezTo>
                  <a:pt x="372" y="6"/>
                  <a:pt x="370" y="4"/>
                  <a:pt x="367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3" y="0"/>
                </a:lnTo>
                <a:close/>
              </a:path>
            </a:pathLst>
          </a:custGeom>
          <a:solidFill>
            <a:srgbClr val="08A6F6"/>
          </a:solidFill>
        </p:spPr>
        <p:txBody>
          <a:bodyPr/>
          <a:lstStyle/>
          <a:p>
            <a:endParaRPr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4C654527-20CC-4686-8F7E-C9EB295D8ADB}"/>
              </a:ext>
            </a:extLst>
          </p:cNvPr>
          <p:cNvSpPr>
            <a:spLocks noGrp="1"/>
          </p:cNvSpPr>
          <p:nvPr/>
        </p:nvSpPr>
        <p:spPr>
          <a:xfrm>
            <a:off x="762000" y="1409700"/>
            <a:ext cx="31718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短期 · 3 个月</a:t>
            </a:r>
            <a:endParaRPr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9C96E8C8-FED7-4231-B32D-2BF54C59BB61}"/>
              </a:ext>
            </a:extLst>
          </p:cNvPr>
          <p:cNvSpPr>
            <a:spLocks noGrp="1"/>
          </p:cNvSpPr>
          <p:nvPr/>
        </p:nvSpPr>
        <p:spPr>
          <a:xfrm>
            <a:off x="762000" y="1695450"/>
            <a:ext cx="31718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6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接通下发链路</a:t>
            </a:r>
            <a:endParaRPr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F999AD93-DC70-4FF4-9885-2F66E2905FB0}"/>
              </a:ext>
            </a:extLst>
          </p:cNvPr>
          <p:cNvSpPr>
            <a:spLocks noGrp="1"/>
          </p:cNvSpPr>
          <p:nvPr/>
        </p:nvSpPr>
        <p:spPr>
          <a:xfrm>
            <a:off x="762000" y="2047875"/>
            <a:ext cx="3171825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125">
                <a:solidFill>
                  <a:srgbClr val="44546A"/>
                </a:solidFill>
                <a:latin typeface="Arial"/>
                <a:ea typeface="Arial"/>
                <a:cs typeface="Arial"/>
              </a:rPr>
              <a:t>PID/前馈参数下发链路（zhichuan 指令集已就绪）→ 真实硬件闭环实测；GitHub 开源 + B 站上手视频</a:t>
            </a:r>
            <a:endParaRPr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FD20409F-E63F-4872-8039-847974AB933C}"/>
              </a:ext>
            </a:extLst>
          </p:cNvPr>
          <p:cNvSpPr>
            <a:spLocks noGrp="1"/>
          </p:cNvSpPr>
          <p:nvPr/>
        </p:nvSpPr>
        <p:spPr>
          <a:xfrm>
            <a:off x="762000" y="2933700"/>
            <a:ext cx="31718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975">
                <a:solidFill>
                  <a:srgbClr val="808080"/>
                </a:solidFill>
                <a:latin typeface="Arial"/>
                <a:ea typeface="Arial"/>
                <a:cs typeface="Arial"/>
              </a:rPr>
              <a:t>● 依赖：依赖：实验室 STM32 套件 / 课程时间</a:t>
            </a:r>
            <a:endParaRPr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6C926784-402B-40CD-A4E6-99775E44F933}"/>
              </a:ext>
            </a:extLst>
          </p:cNvPr>
          <p:cNvSpPr>
            <a:spLocks noGrp="1"/>
          </p:cNvSpPr>
          <p:nvPr/>
        </p:nvSpPr>
        <p:spPr>
          <a:xfrm>
            <a:off x="762000" y="3124200"/>
            <a:ext cx="31718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975">
                <a:solidFill>
                  <a:srgbClr val="808080"/>
                </a:solidFill>
                <a:latin typeface="Arial"/>
                <a:ea typeface="Arial"/>
                <a:cs typeface="Arial"/>
              </a:rPr>
              <a:t>● 替代：替代：USB-TTL 中转、仿真演示替代实机</a:t>
            </a:r>
            <a:endParaRPr/>
          </a:p>
        </p:txBody>
      </p:sp>
      <p:sp>
        <p:nvSpPr>
          <p:cNvPr id="118" name="矩形: 圆角 117">
            <a:extLst>
              <a:ext uri="{FF2B5EF4-FFF2-40B4-BE49-F238E27FC236}">
                <a16:creationId xmlns:a16="http://schemas.microsoft.com/office/drawing/2014/main" id="{72E7F960-18C8-463B-96B0-EEDB7C41FF7A}"/>
              </a:ext>
            </a:extLst>
          </p:cNvPr>
          <p:cNvSpPr>
            <a:spLocks noGrp="1"/>
          </p:cNvSpPr>
          <p:nvPr/>
        </p:nvSpPr>
        <p:spPr>
          <a:xfrm>
            <a:off x="4314825" y="1219200"/>
            <a:ext cx="3562350" cy="2286000"/>
          </a:xfrm>
          <a:prstGeom prst="roundRect">
            <a:avLst>
              <a:gd name="adj" fmla="val 4167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sp>
        <p:nvSpPr>
          <p:cNvPr id="119" name="任意多边形: 形状 118">
            <a:extLst>
              <a:ext uri="{FF2B5EF4-FFF2-40B4-BE49-F238E27FC236}">
                <a16:creationId xmlns:a16="http://schemas.microsoft.com/office/drawing/2014/main" id="{4333772F-6A9A-40ED-9D13-27B4E823BC49}"/>
              </a:ext>
            </a:extLst>
          </p:cNvPr>
          <p:cNvSpPr>
            <a:spLocks noGrp="1"/>
          </p:cNvSpPr>
          <p:nvPr/>
        </p:nvSpPr>
        <p:spPr>
          <a:xfrm>
            <a:off x="4314825" y="1219200"/>
            <a:ext cx="3562350" cy="2286000"/>
          </a:xfrm>
          <a:custGeom>
            <a:avLst/>
            <a:gdLst/>
            <a:ahLst/>
            <a:cxnLst/>
            <a:rect l="0" t="0" r="0" b="0"/>
            <a:pathLst>
              <a:path w="374" h="240">
                <a:moveTo>
                  <a:pt x="364" y="0"/>
                </a:moveTo>
                <a:cubicBezTo>
                  <a:pt x="369" y="0"/>
                  <a:pt x="373" y="4"/>
                  <a:pt x="374" y="8"/>
                </a:cubicBezTo>
                <a:cubicBezTo>
                  <a:pt x="373" y="6"/>
                  <a:pt x="371" y="4"/>
                  <a:pt x="368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4" y="0"/>
                </a:lnTo>
                <a:close/>
              </a:path>
            </a:pathLst>
          </a:custGeom>
          <a:solidFill>
            <a:srgbClr val="08A6F6"/>
          </a:solidFill>
        </p:spPr>
        <p:txBody>
          <a:bodyPr/>
          <a:lstStyle/>
          <a:p>
            <a:endParaRPr/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D009BC64-8760-4F2E-B90A-A69938A05C27}"/>
              </a:ext>
            </a:extLst>
          </p:cNvPr>
          <p:cNvSpPr>
            <a:spLocks noGrp="1"/>
          </p:cNvSpPr>
          <p:nvPr/>
        </p:nvSpPr>
        <p:spPr>
          <a:xfrm>
            <a:off x="4505325" y="1409700"/>
            <a:ext cx="31813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中期 · 3–12 个月</a:t>
            </a:r>
            <a:endParaRPr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E69E9856-486D-4BF9-AB2C-19FEE74CAC8A}"/>
              </a:ext>
            </a:extLst>
          </p:cNvPr>
          <p:cNvSpPr>
            <a:spLocks noGrp="1"/>
          </p:cNvSpPr>
          <p:nvPr/>
        </p:nvSpPr>
        <p:spPr>
          <a:xfrm>
            <a:off x="4505325" y="1695450"/>
            <a:ext cx="31813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6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v1.2 扩充</a:t>
            </a:r>
            <a:endParaRPr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C52519CF-737A-4DC2-8B4C-38EC3C263170}"/>
              </a:ext>
            </a:extLst>
          </p:cNvPr>
          <p:cNvSpPr>
            <a:spLocks noGrp="1"/>
          </p:cNvSpPr>
          <p:nvPr/>
        </p:nvSpPr>
        <p:spPr>
          <a:xfrm>
            <a:off x="4505325" y="2047875"/>
            <a:ext cx="31813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125">
                <a:solidFill>
                  <a:srgbClr val="44546A"/>
                </a:solidFill>
                <a:latin typeface="Arial"/>
                <a:ea typeface="Arial"/>
                <a:cs typeface="Arial"/>
              </a:rPr>
              <a:t>策略模板扩充（直立环 / 舵机环）+ 离线整定降级（Z-N / 继电）→ 发布 v1.2</a:t>
            </a:r>
            <a:endParaRPr/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8AF0CA51-1357-4348-9D58-38BD67698996}"/>
              </a:ext>
            </a:extLst>
          </p:cNvPr>
          <p:cNvSpPr>
            <a:spLocks noGrp="1"/>
          </p:cNvSpPr>
          <p:nvPr/>
        </p:nvSpPr>
        <p:spPr>
          <a:xfrm>
            <a:off x="4505325" y="2933700"/>
            <a:ext cx="31813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975">
                <a:solidFill>
                  <a:srgbClr val="808080"/>
                </a:solidFill>
                <a:latin typeface="Arial"/>
                <a:ea typeface="Arial"/>
                <a:cs typeface="Arial"/>
              </a:rPr>
              <a:t>● 依赖：对接校内电赛群 / 智能车社团征集真实测评</a:t>
            </a:r>
            <a:endParaRPr/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925A4F04-E672-4597-9CE6-84DC996DF3E2}"/>
              </a:ext>
            </a:extLst>
          </p:cNvPr>
          <p:cNvSpPr>
            <a:spLocks noGrp="1"/>
          </p:cNvSpPr>
          <p:nvPr/>
        </p:nvSpPr>
        <p:spPr>
          <a:xfrm>
            <a:off x="4505325" y="3124200"/>
            <a:ext cx="31813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975">
                <a:solidFill>
                  <a:srgbClr val="808080"/>
                </a:solidFill>
                <a:latin typeface="Arial"/>
                <a:ea typeface="Arial"/>
                <a:cs typeface="Arial"/>
              </a:rPr>
              <a:t>● 替代：回应评审①：真实测评证据</a:t>
            </a:r>
            <a:endParaRPr/>
          </a:p>
        </p:txBody>
      </p: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4C8A7F8E-9040-45A8-9082-6D89D7267D45}"/>
              </a:ext>
            </a:extLst>
          </p:cNvPr>
          <p:cNvSpPr>
            <a:spLocks noGrp="1"/>
          </p:cNvSpPr>
          <p:nvPr/>
        </p:nvSpPr>
        <p:spPr>
          <a:xfrm>
            <a:off x="8067675" y="1219200"/>
            <a:ext cx="3552825" cy="2286000"/>
          </a:xfrm>
          <a:prstGeom prst="roundRect">
            <a:avLst>
              <a:gd name="adj" fmla="val 4167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sp>
        <p:nvSpPr>
          <p:cNvPr id="126" name="任意多边形: 形状 125">
            <a:extLst>
              <a:ext uri="{FF2B5EF4-FFF2-40B4-BE49-F238E27FC236}">
                <a16:creationId xmlns:a16="http://schemas.microsoft.com/office/drawing/2014/main" id="{FAC29368-4F22-49C1-8F84-DFAF67E5917B}"/>
              </a:ext>
            </a:extLst>
          </p:cNvPr>
          <p:cNvSpPr>
            <a:spLocks noGrp="1"/>
          </p:cNvSpPr>
          <p:nvPr/>
        </p:nvSpPr>
        <p:spPr>
          <a:xfrm>
            <a:off x="8067675" y="1219200"/>
            <a:ext cx="3552825" cy="2286000"/>
          </a:xfrm>
          <a:custGeom>
            <a:avLst/>
            <a:gdLst/>
            <a:ahLst/>
            <a:cxnLst/>
            <a:rect l="0" t="0" r="0" b="0"/>
            <a:pathLst>
              <a:path w="373" h="240">
                <a:moveTo>
                  <a:pt x="363" y="0"/>
                </a:moveTo>
                <a:cubicBezTo>
                  <a:pt x="368" y="0"/>
                  <a:pt x="372" y="4"/>
                  <a:pt x="373" y="8"/>
                </a:cubicBezTo>
                <a:cubicBezTo>
                  <a:pt x="372" y="6"/>
                  <a:pt x="370" y="4"/>
                  <a:pt x="367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3" y="0"/>
                </a:lnTo>
                <a:close/>
              </a:path>
            </a:pathLst>
          </a:custGeom>
          <a:solidFill>
            <a:srgbClr val="08A6F6"/>
          </a:solidFill>
        </p:spPr>
        <p:txBody>
          <a:bodyPr/>
          <a:lstStyle/>
          <a:p>
            <a:endParaRPr/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C20527BE-CFE5-43D0-A5DC-3203FCEF92DF}"/>
              </a:ext>
            </a:extLst>
          </p:cNvPr>
          <p:cNvSpPr>
            <a:spLocks noGrp="1"/>
          </p:cNvSpPr>
          <p:nvPr/>
        </p:nvSpPr>
        <p:spPr>
          <a:xfrm>
            <a:off x="8258175" y="1409700"/>
            <a:ext cx="31718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长期 · 愿景</a:t>
            </a:r>
            <a:endParaRPr/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54193974-07D3-4D45-8996-648C9CF8D33A}"/>
              </a:ext>
            </a:extLst>
          </p:cNvPr>
          <p:cNvSpPr>
            <a:spLocks noGrp="1"/>
          </p:cNvSpPr>
          <p:nvPr/>
        </p:nvSpPr>
        <p:spPr>
          <a:xfrm>
            <a:off x="8258175" y="1695450"/>
            <a:ext cx="31718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6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开源默认工具</a:t>
            </a:r>
            <a:endParaRPr/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19D18A21-386C-4078-8558-E6461B833EDF}"/>
              </a:ext>
            </a:extLst>
          </p:cNvPr>
          <p:cNvSpPr>
            <a:spLocks noGrp="1"/>
          </p:cNvSpPr>
          <p:nvPr/>
        </p:nvSpPr>
        <p:spPr>
          <a:xfrm>
            <a:off x="8258175" y="2047875"/>
            <a:ext cx="31718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125">
                <a:solidFill>
                  <a:srgbClr val="44546A"/>
                </a:solidFill>
                <a:latin typeface="Arial"/>
                <a:ea typeface="Arial"/>
                <a:cs typeface="Arial"/>
              </a:rPr>
              <a:t>成为竞赛圈“调参默认工具”的开源项目，社区共建</a:t>
            </a:r>
            <a:endParaRPr/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D145DCD5-9019-4E10-8EE5-78623B605073}"/>
              </a:ext>
            </a:extLst>
          </p:cNvPr>
          <p:cNvSpPr>
            <a:spLocks noGrp="1"/>
          </p:cNvSpPr>
          <p:nvPr/>
        </p:nvSpPr>
        <p:spPr>
          <a:xfrm>
            <a:off x="8258175" y="2933700"/>
            <a:ext cx="31718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975">
                <a:solidFill>
                  <a:srgbClr val="808080"/>
                </a:solidFill>
                <a:latin typeface="Arial"/>
                <a:ea typeface="Arial"/>
                <a:cs typeface="Arial"/>
              </a:rPr>
              <a:t>● 依赖：可持续社区运营</a:t>
            </a:r>
            <a:endParaRPr/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555D1540-8272-4C99-BF57-511738085BE0}"/>
              </a:ext>
            </a:extLst>
          </p:cNvPr>
          <p:cNvSpPr>
            <a:spLocks noGrp="1"/>
          </p:cNvSpPr>
          <p:nvPr/>
        </p:nvSpPr>
        <p:spPr>
          <a:xfrm>
            <a:off x="8258175" y="3124200"/>
            <a:ext cx="31718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975">
                <a:solidFill>
                  <a:srgbClr val="808080"/>
                </a:solidFill>
                <a:latin typeface="Arial"/>
                <a:ea typeface="Arial"/>
                <a:cs typeface="Arial"/>
              </a:rPr>
              <a:t>● 替代：MIT 开源持续积累 star 与案例</a:t>
            </a:r>
            <a:endParaRPr/>
          </a:p>
        </p:txBody>
      </p:sp>
      <p:sp>
        <p:nvSpPr>
          <p:cNvPr id="132" name="矩形: 圆角 131">
            <a:extLst>
              <a:ext uri="{FF2B5EF4-FFF2-40B4-BE49-F238E27FC236}">
                <a16:creationId xmlns:a16="http://schemas.microsoft.com/office/drawing/2014/main" id="{5595AC15-508B-47A4-8C05-A3A2449C71EA}"/>
              </a:ext>
            </a:extLst>
          </p:cNvPr>
          <p:cNvSpPr>
            <a:spLocks noGrp="1"/>
          </p:cNvSpPr>
          <p:nvPr/>
        </p:nvSpPr>
        <p:spPr>
          <a:xfrm>
            <a:off x="571500" y="5762625"/>
            <a:ext cx="11049000" cy="457200"/>
          </a:xfrm>
          <a:prstGeom prst="roundRect">
            <a:avLst>
              <a:gd name="adj" fmla="val 16667"/>
            </a:avLst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5AFC7D3-C828-4794-8DF1-41DFCAF3C0DB}"/>
              </a:ext>
            </a:extLst>
          </p:cNvPr>
          <p:cNvSpPr>
            <a:spLocks noGrp="1"/>
          </p:cNvSpPr>
          <p:nvPr/>
        </p:nvSpPr>
        <p:spPr>
          <a:xfrm>
            <a:off x="781050" y="5895975"/>
            <a:ext cx="106299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已有5条体验反馈；下一步记录独立用户、任务耗时与成功率，并完成真实硬件参数写回验证。</a:t>
            </a:r>
            <a:endParaRPr/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526DF777-51ED-4817-B0B1-B3FC9D26826E}"/>
              </a:ext>
            </a:extLst>
          </p:cNvPr>
          <p:cNvSpPr>
            <a:spLocks noGrp="1"/>
          </p:cNvSpPr>
          <p:nvPr/>
        </p:nvSpPr>
        <p:spPr>
          <a:xfrm>
            <a:off x="571500" y="6353175"/>
            <a:ext cx="4143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Source：zhichuan_pid.c/.h 指令集 · 中期评审意见①② · 开源发布计划</a:t>
            </a:r>
            <a:endParaRPr/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FBEB75A2-B768-43B7-89FB-B7C14A0D4E2D}"/>
              </a:ext>
            </a:extLst>
          </p:cNvPr>
          <p:cNvSpPr>
            <a:spLocks noGrp="1"/>
          </p:cNvSpPr>
          <p:nvPr/>
        </p:nvSpPr>
        <p:spPr>
          <a:xfrm>
            <a:off x="11210925" y="6353175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16 / 20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817522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矩形 136">
            <a:extLst>
              <a:ext uri="{FF2B5EF4-FFF2-40B4-BE49-F238E27FC236}">
                <a16:creationId xmlns:a16="http://schemas.microsoft.com/office/drawing/2014/main" id="{2A968FD9-B52C-4BC5-A60D-53288C1C48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C49D325A-AF69-44AD-9F7E-3E22F28D3851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1104900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三个真实薄弱环节已备话术：硬件链路 / 样本量 / 推广</a:t>
            </a:r>
            <a:endParaRPr/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A65207DB-002E-4F46-8ED6-72C5C604B6D0}"/>
              </a:ext>
            </a:extLst>
          </p:cNvPr>
          <p:cNvSpPr>
            <a:spLocks noGrp="1"/>
          </p:cNvSpPr>
          <p:nvPr/>
        </p:nvSpPr>
        <p:spPr>
          <a:xfrm>
            <a:off x="571500" y="96202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graphicFrame>
        <p:nvGraphicFramePr>
          <p:cNvPr id="147" name="表格 139"/>
          <p:cNvGraphicFramePr/>
          <p:nvPr/>
        </p:nvGraphicFramePr>
        <p:xfrm>
          <a:off x="571500" y="1143000"/>
          <a:ext cx="11048999" cy="5095874"/>
        </p:xfrm>
        <a:graphic>
          <a:graphicData uri="http://schemas.openxmlformats.org/drawingml/2006/table">
            <a:tbl>
              <a:tblPr/>
              <a:tblGrid>
                <a:gridCol w="12785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8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817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490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挑战类型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预判问题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应对话术（含数据）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1F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3658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方法拷问（应对不确定性）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中期承诺 8/3 硬件联调，结题真实硬件自动调参通没通？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仿真三策略已实测 + 51 波形 + 12 自测全绿；串口已下发 SET_POINT 并异步采集；PID 参数下发进行中，指令集 PID/SET 与通信层模板已就绪（附路线图）。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3658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过程质疑（体验式学习）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样本从 7 份到 12 份，结题有无新增真实用户测评？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已补充8/8—8/25共5条反馈，覆盖AI回答、界面、稳定性、调参与安装，并记录修改和体验改善。5条不是5位独立用户；尚缺人数、耗时/成功率等量化结果，下一步开展同任务复测与真实硬件验证。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3658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结果挑战（推广 / 主动性）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校内 500 支队伍、全国更多，你们怎么推广？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直引评审意见；已执行开源仓库 + 发布包 + 免费基础版；获客 B站 57.1% / GitHub 57.1% / 社群 42.9%；付费 66.7% 意向 + 分层定价 + 敏感性修正。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1" name="文本框 140">
            <a:extLst>
              <a:ext uri="{FF2B5EF4-FFF2-40B4-BE49-F238E27FC236}">
                <a16:creationId xmlns:a16="http://schemas.microsoft.com/office/drawing/2014/main" id="{8E49BEA2-6174-4EF5-B7C3-8FA6B187FFC3}"/>
              </a:ext>
            </a:extLst>
          </p:cNvPr>
          <p:cNvSpPr>
            <a:spLocks noGrp="1"/>
          </p:cNvSpPr>
          <p:nvPr/>
        </p:nvSpPr>
        <p:spPr>
          <a:xfrm>
            <a:off x="571500" y="6353175"/>
            <a:ext cx="45434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Source：用户测评与修改记录.md · 中期评审意见①② · pid_waveforms/ · tests/ · 问卷D6</a:t>
            </a:r>
            <a:endParaRPr/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14AA2CED-3CEF-47E5-B19C-86746C8BC37B}"/>
              </a:ext>
            </a:extLst>
          </p:cNvPr>
          <p:cNvSpPr>
            <a:spLocks noGrp="1"/>
          </p:cNvSpPr>
          <p:nvPr/>
        </p:nvSpPr>
        <p:spPr>
          <a:xfrm>
            <a:off x="11210925" y="6353175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17 / 20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553086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矩形 143">
            <a:extLst>
              <a:ext uri="{FF2B5EF4-FFF2-40B4-BE49-F238E27FC236}">
                <a16:creationId xmlns:a16="http://schemas.microsoft.com/office/drawing/2014/main" id="{5B6E5701-5A89-4C48-A667-AB9C02D741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A9C3FE12-7DCF-4402-AF15-CCD622B13222}"/>
              </a:ext>
            </a:extLst>
          </p:cNvPr>
          <p:cNvSpPr>
            <a:spLocks noGrp="1"/>
          </p:cNvSpPr>
          <p:nvPr/>
        </p:nvSpPr>
        <p:spPr>
          <a:xfrm>
            <a:off x="914400" y="1590675"/>
            <a:ext cx="103632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650" b="1" spc="225">
                <a:solidFill>
                  <a:srgbClr val="08A6F6"/>
                </a:solidFill>
                <a:latin typeface="Arial"/>
                <a:ea typeface="Arial"/>
                <a:cs typeface="Arial"/>
              </a:rPr>
              <a:t>结题总结 · CLOSING</a:t>
            </a:r>
            <a:endParaRPr/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7DF01F91-78BF-495B-996C-17E1758BF8A2}"/>
              </a:ext>
            </a:extLst>
          </p:cNvPr>
          <p:cNvSpPr>
            <a:spLocks noGrp="1"/>
          </p:cNvSpPr>
          <p:nvPr/>
        </p:nvSpPr>
        <p:spPr>
          <a:xfrm>
            <a:off x="914400" y="2076450"/>
            <a:ext cx="10363200" cy="685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  <a:buNone/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从 7 份问卷到一个能自主调参的智能体</a:t>
            </a:r>
            <a:endParaRPr/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383CE284-A134-42A1-978E-04D18E438FE3}"/>
              </a:ext>
            </a:extLst>
          </p:cNvPr>
          <p:cNvSpPr>
            <a:spLocks noGrp="1"/>
          </p:cNvSpPr>
          <p:nvPr/>
        </p:nvSpPr>
        <p:spPr>
          <a:xfrm>
            <a:off x="914400" y="3086100"/>
            <a:ext cx="1238250" cy="38100"/>
          </a:xfrm>
          <a:prstGeom prst="rect">
            <a:avLst/>
          </a:prstGeom>
          <a:solidFill>
            <a:srgbClr val="08A6F6"/>
          </a:solidFill>
        </p:spPr>
        <p:txBody>
          <a:bodyPr/>
          <a:lstStyle/>
          <a:p>
            <a:endParaRPr/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41FB1B3B-4E4A-4F0A-9C36-7C53B48D60F1}"/>
              </a:ext>
            </a:extLst>
          </p:cNvPr>
          <p:cNvSpPr>
            <a:spLocks noGrp="1"/>
          </p:cNvSpPr>
          <p:nvPr/>
        </p:nvSpPr>
        <p:spPr>
          <a:xfrm>
            <a:off x="914400" y="3448050"/>
            <a:ext cx="10363200" cy="1028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2250">
                <a:solidFill>
                  <a:srgbClr val="C9D6E2"/>
                </a:solidFill>
                <a:latin typeface="Arial"/>
                <a:ea typeface="Arial"/>
                <a:cs typeface="Arial"/>
              </a:rPr>
              <a:t>我们用 8,422 行代码，把“调参靠经验”</a:t>
            </a:r>
            <a:endParaRPr/>
          </a:p>
          <a:p>
            <a:pPr>
              <a:lnSpc>
                <a:spcPct val="150000"/>
              </a:lnSpc>
              <a:buNone/>
            </a:pPr>
            <a:r>
              <a:rPr sz="2250">
                <a:solidFill>
                  <a:srgbClr val="C9D6E2"/>
                </a:solidFill>
                <a:latin typeface="Arial"/>
                <a:ea typeface="Arial"/>
                <a:cs typeface="Arial"/>
              </a:rPr>
              <a:t>变成了“调参靠数据 + AI”。</a:t>
            </a:r>
            <a:endParaRPr/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75A9CB9C-D26B-485C-95EF-EEEB7B8495A8}"/>
              </a:ext>
            </a:extLst>
          </p:cNvPr>
          <p:cNvSpPr>
            <a:spLocks noGrp="1"/>
          </p:cNvSpPr>
          <p:nvPr/>
        </p:nvSpPr>
        <p:spPr>
          <a:xfrm>
            <a:off x="914400" y="5048250"/>
            <a:ext cx="3162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>
                <a:solidFill>
                  <a:srgbClr val="C9D6E2"/>
                </a:solidFill>
                <a:latin typeface="Arial"/>
                <a:ea typeface="Arial"/>
                <a:cs typeface="Arial"/>
              </a:rPr>
              <a:t>咕电子队 · 刘双瑞 / 胡雨杨 / 吴程龙秀</a:t>
            </a:r>
            <a:endParaRPr/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B696BD88-5E4C-4FDA-BC36-E4E501F7F3BC}"/>
              </a:ext>
            </a:extLst>
          </p:cNvPr>
          <p:cNvSpPr>
            <a:spLocks noGrp="1"/>
          </p:cNvSpPr>
          <p:nvPr/>
        </p:nvSpPr>
        <p:spPr>
          <a:xfrm>
            <a:off x="8696325" y="5048250"/>
            <a:ext cx="258127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>
                <a:solidFill>
                  <a:srgbClr val="808080"/>
                </a:solidFill>
                <a:latin typeface="Arial"/>
                <a:ea typeface="Arial"/>
                <a:cs typeface="Arial"/>
              </a:rPr>
              <a:t>感谢评委与评审专家 · 2026.08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387576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矩形 151">
            <a:extLst>
              <a:ext uri="{FF2B5EF4-FFF2-40B4-BE49-F238E27FC236}">
                <a16:creationId xmlns:a16="http://schemas.microsoft.com/office/drawing/2014/main" id="{3CE26914-A23A-46EA-8FED-3B533BF3D1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36F5D418-5E46-478C-A2C3-06826D7D865E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1104900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过程性证据索引 ≥5：Git 时间线 / 三轮评审 / 6 篇技术文档</a:t>
            </a:r>
            <a:endParaRPr/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5F434291-9B95-4594-9075-0F33F0073213}"/>
              </a:ext>
            </a:extLst>
          </p:cNvPr>
          <p:cNvSpPr>
            <a:spLocks noGrp="1"/>
          </p:cNvSpPr>
          <p:nvPr/>
        </p:nvSpPr>
        <p:spPr>
          <a:xfrm>
            <a:off x="571500" y="96202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1DE4932A-DF88-4152-8372-A7A1051BA13A}"/>
              </a:ext>
            </a:extLst>
          </p:cNvPr>
          <p:cNvSpPr>
            <a:spLocks noGrp="1"/>
          </p:cNvSpPr>
          <p:nvPr/>
        </p:nvSpPr>
        <p:spPr>
          <a:xfrm>
            <a:off x="571500" y="1181100"/>
            <a:ext cx="5457825" cy="571500"/>
          </a:xfrm>
          <a:prstGeom prst="roundRect">
            <a:avLst>
              <a:gd name="adj" fmla="val 13333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pic>
        <p:nvPicPr>
          <p:cNvPr id="194" name="图形 15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50" y="1343025"/>
            <a:ext cx="247650" cy="247650"/>
          </a:xfrm>
          <a:prstGeom prst="rect">
            <a:avLst/>
          </a:prstGeom>
        </p:spPr>
      </p:pic>
      <p:sp>
        <p:nvSpPr>
          <p:cNvPr id="157" name="文本框 156">
            <a:extLst>
              <a:ext uri="{FF2B5EF4-FFF2-40B4-BE49-F238E27FC236}">
                <a16:creationId xmlns:a16="http://schemas.microsoft.com/office/drawing/2014/main" id="{D2A86A5A-77A8-4476-A7FA-1080AB7DCFA4}"/>
              </a:ext>
            </a:extLst>
          </p:cNvPr>
          <p:cNvSpPr>
            <a:spLocks noGrp="1"/>
          </p:cNvSpPr>
          <p:nvPr/>
        </p:nvSpPr>
        <p:spPr>
          <a:xfrm>
            <a:off x="1123950" y="1362075"/>
            <a:ext cx="26670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Git 时间线</a:t>
            </a:r>
            <a:endParaRPr/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045D9ED3-0D8F-45B8-8F68-7DB5FE1A8BFD}"/>
              </a:ext>
            </a:extLst>
          </p:cNvPr>
          <p:cNvSpPr>
            <a:spLocks noGrp="1"/>
          </p:cNvSpPr>
          <p:nvPr/>
        </p:nvSpPr>
        <p:spPr>
          <a:xfrm>
            <a:off x="3924300" y="1295400"/>
            <a:ext cx="1933575" cy="342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25">
                <a:solidFill>
                  <a:srgbClr val="44546A"/>
                </a:solidFill>
                <a:latin typeface="Arial"/>
                <a:ea typeface="Arial"/>
                <a:cs typeface="Arial"/>
              </a:rPr>
              <a:t>31 commits，选题→结题 6 节点（见右侧图）</a:t>
            </a:r>
            <a:endParaRPr/>
          </a:p>
        </p:txBody>
      </p:sp>
      <p:sp>
        <p:nvSpPr>
          <p:cNvPr id="159" name="矩形: 圆角 158">
            <a:extLst>
              <a:ext uri="{FF2B5EF4-FFF2-40B4-BE49-F238E27FC236}">
                <a16:creationId xmlns:a16="http://schemas.microsoft.com/office/drawing/2014/main" id="{8EA89893-5E72-4001-A482-CCFE2D9D4348}"/>
              </a:ext>
            </a:extLst>
          </p:cNvPr>
          <p:cNvSpPr>
            <a:spLocks noGrp="1"/>
          </p:cNvSpPr>
          <p:nvPr/>
        </p:nvSpPr>
        <p:spPr>
          <a:xfrm>
            <a:off x="571500" y="2133600"/>
            <a:ext cx="5457825" cy="476250"/>
          </a:xfrm>
          <a:prstGeom prst="roundRect">
            <a:avLst>
              <a:gd name="adj" fmla="val 16000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pic>
        <p:nvPicPr>
          <p:cNvPr id="198" name="图形 15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950" y="2247900"/>
            <a:ext cx="247650" cy="247650"/>
          </a:xfrm>
          <a:prstGeom prst="rect">
            <a:avLst/>
          </a:prstGeom>
        </p:spPr>
      </p:pic>
      <p:sp>
        <p:nvSpPr>
          <p:cNvPr id="161" name="文本框 160">
            <a:extLst>
              <a:ext uri="{FF2B5EF4-FFF2-40B4-BE49-F238E27FC236}">
                <a16:creationId xmlns:a16="http://schemas.microsoft.com/office/drawing/2014/main" id="{5B4F8DD6-11A4-4164-8AF9-04B556117AE4}"/>
              </a:ext>
            </a:extLst>
          </p:cNvPr>
          <p:cNvSpPr>
            <a:spLocks noGrp="1"/>
          </p:cNvSpPr>
          <p:nvPr/>
        </p:nvSpPr>
        <p:spPr>
          <a:xfrm>
            <a:off x="1123950" y="2266950"/>
            <a:ext cx="26670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问题反馈＋用户测评记录</a:t>
            </a:r>
            <a:endParaRPr/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C8751092-5974-477B-B872-A5DF9E37EA43}"/>
              </a:ext>
            </a:extLst>
          </p:cNvPr>
          <p:cNvSpPr>
            <a:spLocks noGrp="1"/>
          </p:cNvSpPr>
          <p:nvPr/>
        </p:nvSpPr>
        <p:spPr>
          <a:xfrm>
            <a:off x="3924300" y="2286000"/>
            <a:ext cx="19335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125">
                <a:solidFill>
                  <a:srgbClr val="44546A"/>
                </a:solidFill>
                <a:latin typeface="Arial"/>
                <a:ea typeface="Arial"/>
                <a:cs typeface="Arial"/>
              </a:rPr>
              <a:t>三轮评审＋5条体验改进闭环</a:t>
            </a:r>
            <a:endParaRPr/>
          </a:p>
        </p:txBody>
      </p:sp>
      <p:sp>
        <p:nvSpPr>
          <p:cNvPr id="163" name="矩形: 圆角 162">
            <a:extLst>
              <a:ext uri="{FF2B5EF4-FFF2-40B4-BE49-F238E27FC236}">
                <a16:creationId xmlns:a16="http://schemas.microsoft.com/office/drawing/2014/main" id="{F13B92DE-4830-4ABA-AC5B-F56C1651A572}"/>
              </a:ext>
            </a:extLst>
          </p:cNvPr>
          <p:cNvSpPr>
            <a:spLocks noGrp="1"/>
          </p:cNvSpPr>
          <p:nvPr/>
        </p:nvSpPr>
        <p:spPr>
          <a:xfrm>
            <a:off x="571500" y="2990850"/>
            <a:ext cx="5457825" cy="571500"/>
          </a:xfrm>
          <a:prstGeom prst="roundRect">
            <a:avLst>
              <a:gd name="adj" fmla="val 13333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pic>
        <p:nvPicPr>
          <p:cNvPr id="202" name="图形 16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2950" y="3152775"/>
            <a:ext cx="247650" cy="247650"/>
          </a:xfrm>
          <a:prstGeom prst="rect">
            <a:avLst/>
          </a:prstGeom>
        </p:spPr>
      </p:pic>
      <p:sp>
        <p:nvSpPr>
          <p:cNvPr id="165" name="文本框 164">
            <a:extLst>
              <a:ext uri="{FF2B5EF4-FFF2-40B4-BE49-F238E27FC236}">
                <a16:creationId xmlns:a16="http://schemas.microsoft.com/office/drawing/2014/main" id="{86987684-9064-42D0-A41B-2FAB4EFC576C}"/>
              </a:ext>
            </a:extLst>
          </p:cNvPr>
          <p:cNvSpPr>
            <a:spLocks noGrp="1"/>
          </p:cNvSpPr>
          <p:nvPr/>
        </p:nvSpPr>
        <p:spPr>
          <a:xfrm>
            <a:off x="1123950" y="3171825"/>
            <a:ext cx="26670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docs/ 6 篇技术文档</a:t>
            </a:r>
            <a:endParaRPr/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9A88E96E-7B8D-4E0F-BEA2-22218D89BC8C}"/>
              </a:ext>
            </a:extLst>
          </p:cNvPr>
          <p:cNvSpPr>
            <a:spLocks noGrp="1"/>
          </p:cNvSpPr>
          <p:nvPr/>
        </p:nvSpPr>
        <p:spPr>
          <a:xfrm>
            <a:off x="3924300" y="3105150"/>
            <a:ext cx="1933575" cy="342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25">
                <a:solidFill>
                  <a:srgbClr val="44546A"/>
                </a:solidFill>
                <a:latin typeface="Arial"/>
                <a:ea typeface="Arial"/>
                <a:cs typeface="Arial"/>
              </a:rPr>
              <a:t>含 Pi-agent 调研、PID 策略、UI 评审</a:t>
            </a:r>
            <a:endParaRPr/>
          </a:p>
        </p:txBody>
      </p:sp>
      <p:sp>
        <p:nvSpPr>
          <p:cNvPr id="167" name="矩形: 圆角 166">
            <a:extLst>
              <a:ext uri="{FF2B5EF4-FFF2-40B4-BE49-F238E27FC236}">
                <a16:creationId xmlns:a16="http://schemas.microsoft.com/office/drawing/2014/main" id="{67950C1E-3BED-4491-A977-02320AF2C9B1}"/>
              </a:ext>
            </a:extLst>
          </p:cNvPr>
          <p:cNvSpPr>
            <a:spLocks noGrp="1"/>
          </p:cNvSpPr>
          <p:nvPr/>
        </p:nvSpPr>
        <p:spPr>
          <a:xfrm>
            <a:off x="571500" y="3933825"/>
            <a:ext cx="5457825" cy="571500"/>
          </a:xfrm>
          <a:prstGeom prst="roundRect">
            <a:avLst>
              <a:gd name="adj" fmla="val 13333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pic>
        <p:nvPicPr>
          <p:cNvPr id="206" name="图形 16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950" y="4095750"/>
            <a:ext cx="247650" cy="247650"/>
          </a:xfrm>
          <a:prstGeom prst="rect">
            <a:avLst/>
          </a:prstGeom>
        </p:spPr>
      </p:pic>
      <p:sp>
        <p:nvSpPr>
          <p:cNvPr id="169" name="文本框 168">
            <a:extLst>
              <a:ext uri="{FF2B5EF4-FFF2-40B4-BE49-F238E27FC236}">
                <a16:creationId xmlns:a16="http://schemas.microsoft.com/office/drawing/2014/main" id="{1EB8E2B0-0379-4681-A4F3-4E45C226DC61}"/>
              </a:ext>
            </a:extLst>
          </p:cNvPr>
          <p:cNvSpPr>
            <a:spLocks noGrp="1"/>
          </p:cNvSpPr>
          <p:nvPr/>
        </p:nvSpPr>
        <p:spPr>
          <a:xfrm>
            <a:off x="1123950" y="4114800"/>
            <a:ext cx="26670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项目计划.md</a:t>
            </a:r>
            <a:endParaRPr/>
          </a:p>
        </p:txBody>
      </p:sp>
      <p:sp>
        <p:nvSpPr>
          <p:cNvPr id="170" name="文本框 169">
            <a:extLst>
              <a:ext uri="{FF2B5EF4-FFF2-40B4-BE49-F238E27FC236}">
                <a16:creationId xmlns:a16="http://schemas.microsoft.com/office/drawing/2014/main" id="{BD6ECF0D-043C-4380-81E6-C3D8C44B5DCD}"/>
              </a:ext>
            </a:extLst>
          </p:cNvPr>
          <p:cNvSpPr>
            <a:spLocks noGrp="1"/>
          </p:cNvSpPr>
          <p:nvPr/>
        </p:nvSpPr>
        <p:spPr>
          <a:xfrm>
            <a:off x="3924300" y="4048125"/>
            <a:ext cx="1933575" cy="342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25">
                <a:solidFill>
                  <a:srgbClr val="44546A"/>
                </a:solidFill>
                <a:latin typeface="Arial"/>
                <a:ea typeface="Arial"/>
                <a:cs typeface="Arial"/>
              </a:rPr>
              <a:t>阶段进展对照（计划 vs 实际）</a:t>
            </a:r>
            <a:endParaRPr/>
          </a:p>
        </p:txBody>
      </p:sp>
      <p:sp>
        <p:nvSpPr>
          <p:cNvPr id="171" name="矩形: 圆角 170">
            <a:extLst>
              <a:ext uri="{FF2B5EF4-FFF2-40B4-BE49-F238E27FC236}">
                <a16:creationId xmlns:a16="http://schemas.microsoft.com/office/drawing/2014/main" id="{F7B8AB9E-BEE8-487D-A0B4-CB27D0DC2A9F}"/>
              </a:ext>
            </a:extLst>
          </p:cNvPr>
          <p:cNvSpPr>
            <a:spLocks noGrp="1"/>
          </p:cNvSpPr>
          <p:nvPr/>
        </p:nvSpPr>
        <p:spPr>
          <a:xfrm>
            <a:off x="571500" y="4886325"/>
            <a:ext cx="5457825" cy="476250"/>
          </a:xfrm>
          <a:prstGeom prst="roundRect">
            <a:avLst>
              <a:gd name="adj" fmla="val 16000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pic>
        <p:nvPicPr>
          <p:cNvPr id="210" name="图形 17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2950" y="5000625"/>
            <a:ext cx="247650" cy="247650"/>
          </a:xfrm>
          <a:prstGeom prst="rect">
            <a:avLst/>
          </a:prstGeom>
        </p:spPr>
      </p:pic>
      <p:sp>
        <p:nvSpPr>
          <p:cNvPr id="173" name="文本框 172">
            <a:extLst>
              <a:ext uri="{FF2B5EF4-FFF2-40B4-BE49-F238E27FC236}">
                <a16:creationId xmlns:a16="http://schemas.microsoft.com/office/drawing/2014/main" id="{AD82F470-5C0C-4D7F-9A72-13DEEE751243}"/>
              </a:ext>
            </a:extLst>
          </p:cNvPr>
          <p:cNvSpPr>
            <a:spLocks noGrp="1"/>
          </p:cNvSpPr>
          <p:nvPr/>
        </p:nvSpPr>
        <p:spPr>
          <a:xfrm>
            <a:off x="1123950" y="5019675"/>
            <a:ext cx="26670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debug.md</a:t>
            </a:r>
            <a:endParaRPr/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D95129D2-885A-4F2B-83EF-435B68B50C37}"/>
              </a:ext>
            </a:extLst>
          </p:cNvPr>
          <p:cNvSpPr>
            <a:spLocks noGrp="1"/>
          </p:cNvSpPr>
          <p:nvPr/>
        </p:nvSpPr>
        <p:spPr>
          <a:xfrm>
            <a:off x="3924300" y="5038725"/>
            <a:ext cx="19335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125">
                <a:solidFill>
                  <a:srgbClr val="44546A"/>
                </a:solidFill>
                <a:latin typeface="Arial"/>
                <a:ea typeface="Arial"/>
                <a:cs typeface="Arial"/>
              </a:rPr>
              <a:t>Electron 环境排查记录</a:t>
            </a:r>
            <a:endParaRPr/>
          </a:p>
        </p:txBody>
      </p:sp>
      <p:sp>
        <p:nvSpPr>
          <p:cNvPr id="175" name="矩形: 圆角 174">
            <a:extLst>
              <a:ext uri="{FF2B5EF4-FFF2-40B4-BE49-F238E27FC236}">
                <a16:creationId xmlns:a16="http://schemas.microsoft.com/office/drawing/2014/main" id="{EA6992F1-FDEF-47DF-958D-64AA8649A4B3}"/>
              </a:ext>
            </a:extLst>
          </p:cNvPr>
          <p:cNvSpPr>
            <a:spLocks noGrp="1"/>
          </p:cNvSpPr>
          <p:nvPr/>
        </p:nvSpPr>
        <p:spPr>
          <a:xfrm>
            <a:off x="571500" y="5743575"/>
            <a:ext cx="5457825" cy="476250"/>
          </a:xfrm>
          <a:prstGeom prst="roundRect">
            <a:avLst>
              <a:gd name="adj" fmla="val 16000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pic>
        <p:nvPicPr>
          <p:cNvPr id="214" name="图形 17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2950" y="5857875"/>
            <a:ext cx="247650" cy="247650"/>
          </a:xfrm>
          <a:prstGeom prst="rect">
            <a:avLst/>
          </a:prstGeom>
        </p:spPr>
      </p:pic>
      <p:sp>
        <p:nvSpPr>
          <p:cNvPr id="177" name="文本框 176">
            <a:extLst>
              <a:ext uri="{FF2B5EF4-FFF2-40B4-BE49-F238E27FC236}">
                <a16:creationId xmlns:a16="http://schemas.microsoft.com/office/drawing/2014/main" id="{7A78B2BB-046C-4F20-B3B2-C1BA38D533B7}"/>
              </a:ext>
            </a:extLst>
          </p:cNvPr>
          <p:cNvSpPr>
            <a:spLocks noGrp="1"/>
          </p:cNvSpPr>
          <p:nvPr/>
        </p:nvSpPr>
        <p:spPr>
          <a:xfrm>
            <a:off x="1123950" y="5876925"/>
            <a:ext cx="26670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价值假设清单 H-001~H-004</a:t>
            </a:r>
            <a:endParaRPr/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21BFA095-8EFC-44AA-B4DA-23475AF5F3A4}"/>
              </a:ext>
            </a:extLst>
          </p:cNvPr>
          <p:cNvSpPr>
            <a:spLocks noGrp="1"/>
          </p:cNvSpPr>
          <p:nvPr/>
        </p:nvSpPr>
        <p:spPr>
          <a:xfrm>
            <a:off x="3924300" y="5895975"/>
            <a:ext cx="19335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125">
                <a:solidFill>
                  <a:srgbClr val="44546A"/>
                </a:solidFill>
                <a:latin typeface="Arial"/>
                <a:ea typeface="Arial"/>
                <a:cs typeface="Arial"/>
              </a:rPr>
              <a:t>更新版</a:t>
            </a:r>
            <a:endParaRPr/>
          </a:p>
        </p:txBody>
      </p:sp>
      <p:sp>
        <p:nvSpPr>
          <p:cNvPr id="179" name="矩形: 圆角 178">
            <a:extLst>
              <a:ext uri="{FF2B5EF4-FFF2-40B4-BE49-F238E27FC236}">
                <a16:creationId xmlns:a16="http://schemas.microsoft.com/office/drawing/2014/main" id="{2FB7438D-4CF0-4E75-97F2-1CA9B07E0A75}"/>
              </a:ext>
            </a:extLst>
          </p:cNvPr>
          <p:cNvSpPr>
            <a:spLocks noGrp="1"/>
          </p:cNvSpPr>
          <p:nvPr/>
        </p:nvSpPr>
        <p:spPr>
          <a:xfrm>
            <a:off x="6315075" y="1181100"/>
            <a:ext cx="5305425" cy="5038725"/>
          </a:xfrm>
          <a:prstGeom prst="roundRect">
            <a:avLst>
              <a:gd name="adj" fmla="val 1890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pic>
        <p:nvPicPr>
          <p:cNvPr id="218" name="图片 179"/>
          <p:cNvPicPr>
            <a:picLocks noChangeAspect="1"/>
          </p:cNvPicPr>
          <p:nvPr/>
        </p:nvPicPr>
        <p:blipFill>
          <a:blip r:embed="rId9"/>
          <a:srcRect t="2927" b="2927"/>
          <a:stretch>
            <a:fillRect/>
          </a:stretch>
        </p:blipFill>
        <p:spPr>
          <a:xfrm>
            <a:off x="6315075" y="1181100"/>
            <a:ext cx="5305425" cy="5038725"/>
          </a:xfrm>
        </p:spPr>
      </p:pic>
      <p:sp>
        <p:nvSpPr>
          <p:cNvPr id="181" name="文本框 180">
            <a:extLst>
              <a:ext uri="{FF2B5EF4-FFF2-40B4-BE49-F238E27FC236}">
                <a16:creationId xmlns:a16="http://schemas.microsoft.com/office/drawing/2014/main" id="{55C56D53-BC02-41F8-9148-3D4F28E20987}"/>
              </a:ext>
            </a:extLst>
          </p:cNvPr>
          <p:cNvSpPr>
            <a:spLocks noGrp="1"/>
          </p:cNvSpPr>
          <p:nvPr/>
        </p:nvSpPr>
        <p:spPr>
          <a:xfrm>
            <a:off x="571500" y="6353175"/>
            <a:ext cx="2333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附录 A · 过程性证据（满足 ≥5 项要求）</a:t>
            </a:r>
            <a:endParaRPr/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B5DFCAB2-3D8D-4FE0-9BFD-E8C17BB5FA97}"/>
              </a:ext>
            </a:extLst>
          </p:cNvPr>
          <p:cNvSpPr>
            <a:spLocks noGrp="1"/>
          </p:cNvSpPr>
          <p:nvPr/>
        </p:nvSpPr>
        <p:spPr>
          <a:xfrm>
            <a:off x="11210925" y="6353175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19 / 20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003189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矩形 183">
            <a:extLst>
              <a:ext uri="{FF2B5EF4-FFF2-40B4-BE49-F238E27FC236}">
                <a16:creationId xmlns:a16="http://schemas.microsoft.com/office/drawing/2014/main" id="{57C09009-E861-47D9-B15E-A8043E6C23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D143E26E-8484-44FA-87ED-0C7830C29298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1104900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结果性 ≥3 + 认知性 ≥2：波形 / 自测 / 安装包 + 智能体决策</a:t>
            </a:r>
            <a:endParaRPr/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875E6336-A425-44D0-968B-60B330E126EC}"/>
              </a:ext>
            </a:extLst>
          </p:cNvPr>
          <p:cNvSpPr>
            <a:spLocks noGrp="1"/>
          </p:cNvSpPr>
          <p:nvPr/>
        </p:nvSpPr>
        <p:spPr>
          <a:xfrm>
            <a:off x="571500" y="96202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187" name="文本框 186">
            <a:extLst>
              <a:ext uri="{FF2B5EF4-FFF2-40B4-BE49-F238E27FC236}">
                <a16:creationId xmlns:a16="http://schemas.microsoft.com/office/drawing/2014/main" id="{8189F447-BC6F-4E3C-A92C-8F479D4BF866}"/>
              </a:ext>
            </a:extLst>
          </p:cNvPr>
          <p:cNvSpPr>
            <a:spLocks noGrp="1"/>
          </p:cNvSpPr>
          <p:nvPr/>
        </p:nvSpPr>
        <p:spPr>
          <a:xfrm>
            <a:off x="571500" y="1181100"/>
            <a:ext cx="53530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 spc="75">
                <a:solidFill>
                  <a:srgbClr val="061F32"/>
                </a:solidFill>
                <a:latin typeface="Arial"/>
                <a:ea typeface="Arial"/>
                <a:cs typeface="Arial"/>
              </a:rPr>
              <a:t>结果性证据（≥3）</a:t>
            </a:r>
            <a:endParaRPr/>
          </a:p>
        </p:txBody>
      </p:sp>
      <p:sp>
        <p:nvSpPr>
          <p:cNvPr id="188" name="矩形: 圆角 187">
            <a:extLst>
              <a:ext uri="{FF2B5EF4-FFF2-40B4-BE49-F238E27FC236}">
                <a16:creationId xmlns:a16="http://schemas.microsoft.com/office/drawing/2014/main" id="{F32A6F0A-543E-41B3-ACCA-2DEF5F8A7005}"/>
              </a:ext>
            </a:extLst>
          </p:cNvPr>
          <p:cNvSpPr>
            <a:spLocks noGrp="1"/>
          </p:cNvSpPr>
          <p:nvPr/>
        </p:nvSpPr>
        <p:spPr>
          <a:xfrm>
            <a:off x="571500" y="1781175"/>
            <a:ext cx="5353050" cy="657225"/>
          </a:xfrm>
          <a:prstGeom prst="roundRect">
            <a:avLst>
              <a:gd name="adj" fmla="val 11594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pic>
        <p:nvPicPr>
          <p:cNvPr id="223" name="图形 18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900" y="1914525"/>
            <a:ext cx="266700" cy="266700"/>
          </a:xfrm>
          <a:prstGeom prst="rect">
            <a:avLst/>
          </a:prstGeom>
        </p:spPr>
      </p:pic>
      <p:sp>
        <p:nvSpPr>
          <p:cNvPr id="190" name="文本框 189">
            <a:extLst>
              <a:ext uri="{FF2B5EF4-FFF2-40B4-BE49-F238E27FC236}">
                <a16:creationId xmlns:a16="http://schemas.microsoft.com/office/drawing/2014/main" id="{7439BD02-39AF-4E3E-AFB5-677CD890B7C2}"/>
              </a:ext>
            </a:extLst>
          </p:cNvPr>
          <p:cNvSpPr>
            <a:spLocks noGrp="1"/>
          </p:cNvSpPr>
          <p:nvPr/>
        </p:nvSpPr>
        <p:spPr>
          <a:xfrm>
            <a:off x="1123950" y="1914525"/>
            <a:ext cx="23526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pid_waveforms/ 51 张</a:t>
            </a:r>
            <a:endParaRPr/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F321A512-6963-4CBC-A4C6-6750638501EE}"/>
              </a:ext>
            </a:extLst>
          </p:cNvPr>
          <p:cNvSpPr>
            <a:spLocks noGrp="1"/>
          </p:cNvSpPr>
          <p:nvPr/>
        </p:nvSpPr>
        <p:spPr>
          <a:xfrm>
            <a:off x="1123950" y="2143125"/>
            <a:ext cx="23526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44546A"/>
                </a:solidFill>
                <a:latin typeface="Arial"/>
                <a:ea typeface="Arial"/>
                <a:cs typeface="Arial"/>
              </a:rPr>
              <a:t>三策略调参验证波形，含 CSV 原始数据</a:t>
            </a:r>
            <a:endParaRPr/>
          </a:p>
        </p:txBody>
      </p:sp>
      <p:sp>
        <p:nvSpPr>
          <p:cNvPr id="192" name="矩形: 圆角 191">
            <a:extLst>
              <a:ext uri="{FF2B5EF4-FFF2-40B4-BE49-F238E27FC236}">
                <a16:creationId xmlns:a16="http://schemas.microsoft.com/office/drawing/2014/main" id="{F9A5B3E8-F7C6-4375-9660-ABD1006511CC}"/>
              </a:ext>
            </a:extLst>
          </p:cNvPr>
          <p:cNvSpPr>
            <a:spLocks noGrp="1"/>
          </p:cNvSpPr>
          <p:nvPr/>
        </p:nvSpPr>
        <p:spPr>
          <a:xfrm>
            <a:off x="571500" y="2809875"/>
            <a:ext cx="5353050" cy="657225"/>
          </a:xfrm>
          <a:prstGeom prst="roundRect">
            <a:avLst>
              <a:gd name="adj" fmla="val 11594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pic>
        <p:nvPicPr>
          <p:cNvPr id="227" name="图形 19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900" y="2943225"/>
            <a:ext cx="266700" cy="266700"/>
          </a:xfrm>
          <a:prstGeom prst="rect">
            <a:avLst/>
          </a:prstGeom>
        </p:spPr>
      </p:pic>
      <p:sp>
        <p:nvSpPr>
          <p:cNvPr id="194" name="文本框 193">
            <a:extLst>
              <a:ext uri="{FF2B5EF4-FFF2-40B4-BE49-F238E27FC236}">
                <a16:creationId xmlns:a16="http://schemas.microsoft.com/office/drawing/2014/main" id="{3BC77BF2-1277-4128-A930-3123FB82C367}"/>
              </a:ext>
            </a:extLst>
          </p:cNvPr>
          <p:cNvSpPr>
            <a:spLocks noGrp="1"/>
          </p:cNvSpPr>
          <p:nvPr/>
        </p:nvSpPr>
        <p:spPr>
          <a:xfrm>
            <a:off x="1123950" y="2943225"/>
            <a:ext cx="27717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12 自测 + 18 测试文件</a:t>
            </a:r>
            <a:endParaRPr/>
          </a:p>
        </p:txBody>
      </p:sp>
      <p:sp>
        <p:nvSpPr>
          <p:cNvPr id="195" name="文本框 194">
            <a:extLst>
              <a:ext uri="{FF2B5EF4-FFF2-40B4-BE49-F238E27FC236}">
                <a16:creationId xmlns:a16="http://schemas.microsoft.com/office/drawing/2014/main" id="{B78B5798-D7BE-4F91-B129-4EF9FDC68494}"/>
              </a:ext>
            </a:extLst>
          </p:cNvPr>
          <p:cNvSpPr>
            <a:spLocks noGrp="1"/>
          </p:cNvSpPr>
          <p:nvPr/>
        </p:nvSpPr>
        <p:spPr>
          <a:xfrm>
            <a:off x="1123950" y="3171825"/>
            <a:ext cx="27717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44546A"/>
                </a:solidFill>
                <a:latin typeface="Arial"/>
                <a:ea typeface="Arial"/>
                <a:cs typeface="Arial"/>
              </a:rPr>
              <a:t>npm run test:analysis 全绿（运行日志可复现）</a:t>
            </a:r>
            <a:endParaRPr/>
          </a:p>
        </p:txBody>
      </p:sp>
      <p:sp>
        <p:nvSpPr>
          <p:cNvPr id="196" name="矩形: 圆角 195">
            <a:extLst>
              <a:ext uri="{FF2B5EF4-FFF2-40B4-BE49-F238E27FC236}">
                <a16:creationId xmlns:a16="http://schemas.microsoft.com/office/drawing/2014/main" id="{24262E68-A1E4-48A2-8EC8-5A4EF7620343}"/>
              </a:ext>
            </a:extLst>
          </p:cNvPr>
          <p:cNvSpPr>
            <a:spLocks noGrp="1"/>
          </p:cNvSpPr>
          <p:nvPr/>
        </p:nvSpPr>
        <p:spPr>
          <a:xfrm>
            <a:off x="571500" y="3829050"/>
            <a:ext cx="5353050" cy="657225"/>
          </a:xfrm>
          <a:prstGeom prst="roundRect">
            <a:avLst>
              <a:gd name="adj" fmla="val 11594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pic>
        <p:nvPicPr>
          <p:cNvPr id="231" name="图形 19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900" y="3962400"/>
            <a:ext cx="266700" cy="266700"/>
          </a:xfrm>
          <a:prstGeom prst="rect">
            <a:avLst/>
          </a:prstGeom>
        </p:spPr>
      </p:pic>
      <p:sp>
        <p:nvSpPr>
          <p:cNvPr id="198" name="文本框 197">
            <a:extLst>
              <a:ext uri="{FF2B5EF4-FFF2-40B4-BE49-F238E27FC236}">
                <a16:creationId xmlns:a16="http://schemas.microsoft.com/office/drawing/2014/main" id="{10F1489E-0CB2-4EFC-92C2-7FCF76B9B8E1}"/>
              </a:ext>
            </a:extLst>
          </p:cNvPr>
          <p:cNvSpPr>
            <a:spLocks noGrp="1"/>
          </p:cNvSpPr>
          <p:nvPr/>
        </p:nvSpPr>
        <p:spPr>
          <a:xfrm>
            <a:off x="1123950" y="3962400"/>
            <a:ext cx="33337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v1.1.0 安装包 + 6 张官方截图</a:t>
            </a:r>
            <a:endParaRPr/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1B94C0A9-714C-444E-BC0E-89ABCB703956}"/>
              </a:ext>
            </a:extLst>
          </p:cNvPr>
          <p:cNvSpPr>
            <a:spLocks noGrp="1"/>
          </p:cNvSpPr>
          <p:nvPr/>
        </p:nvSpPr>
        <p:spPr>
          <a:xfrm>
            <a:off x="1123950" y="4191000"/>
            <a:ext cx="33337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44546A"/>
                </a:solidFill>
                <a:latin typeface="Arial"/>
                <a:ea typeface="Arial"/>
                <a:cs typeface="Arial"/>
              </a:rPr>
              <a:t>发布包.zip 已打包：安装程序 + 6 张界面截图 + 四份文档</a:t>
            </a:r>
            <a:endParaRPr/>
          </a:p>
        </p:txBody>
      </p:sp>
      <p:sp>
        <p:nvSpPr>
          <p:cNvPr id="200" name="矩形: 圆角 199">
            <a:extLst>
              <a:ext uri="{FF2B5EF4-FFF2-40B4-BE49-F238E27FC236}">
                <a16:creationId xmlns:a16="http://schemas.microsoft.com/office/drawing/2014/main" id="{08D764C5-9D7F-4C4A-9AE8-1AA149ADFA64}"/>
              </a:ext>
            </a:extLst>
          </p:cNvPr>
          <p:cNvSpPr>
            <a:spLocks noGrp="1"/>
          </p:cNvSpPr>
          <p:nvPr/>
        </p:nvSpPr>
        <p:spPr>
          <a:xfrm>
            <a:off x="571500" y="4933950"/>
            <a:ext cx="2619375" cy="1285875"/>
          </a:xfrm>
          <a:prstGeom prst="roundRect">
            <a:avLst>
              <a:gd name="adj" fmla="val 5926"/>
            </a:avLst>
          </a:prstGeom>
        </p:spPr>
        <p:txBody>
          <a:bodyPr/>
          <a:lstStyle/>
          <a:p>
            <a:endParaRPr/>
          </a:p>
        </p:txBody>
      </p:sp>
      <p:pic>
        <p:nvPicPr>
          <p:cNvPr id="235" name="图片 200"/>
          <p:cNvPicPr>
            <a:picLocks noChangeAspect="1"/>
          </p:cNvPicPr>
          <p:nvPr/>
        </p:nvPicPr>
        <p:blipFill>
          <a:blip r:embed="rId6"/>
          <a:srcRect t="9347" b="9347"/>
          <a:stretch>
            <a:fillRect/>
          </a:stretch>
        </p:blipFill>
        <p:spPr>
          <a:xfrm>
            <a:off x="571500" y="4933950"/>
            <a:ext cx="2619375" cy="1285875"/>
          </a:xfrm>
        </p:spPr>
      </p:pic>
      <p:sp>
        <p:nvSpPr>
          <p:cNvPr id="202" name="矩形: 圆角 201">
            <a:extLst>
              <a:ext uri="{FF2B5EF4-FFF2-40B4-BE49-F238E27FC236}">
                <a16:creationId xmlns:a16="http://schemas.microsoft.com/office/drawing/2014/main" id="{E4560362-22D2-47BD-BB74-6DC385098DFB}"/>
              </a:ext>
            </a:extLst>
          </p:cNvPr>
          <p:cNvSpPr>
            <a:spLocks noGrp="1"/>
          </p:cNvSpPr>
          <p:nvPr/>
        </p:nvSpPr>
        <p:spPr>
          <a:xfrm>
            <a:off x="3305175" y="4933950"/>
            <a:ext cx="2619375" cy="1285875"/>
          </a:xfrm>
          <a:prstGeom prst="roundRect">
            <a:avLst>
              <a:gd name="adj" fmla="val 5926"/>
            </a:avLst>
          </a:prstGeom>
        </p:spPr>
        <p:txBody>
          <a:bodyPr/>
          <a:lstStyle/>
          <a:p>
            <a:endParaRPr/>
          </a:p>
        </p:txBody>
      </p:sp>
      <p:pic>
        <p:nvPicPr>
          <p:cNvPr id="237" name="图片 202"/>
          <p:cNvPicPr>
            <a:picLocks noChangeAspect="1"/>
          </p:cNvPicPr>
          <p:nvPr/>
        </p:nvPicPr>
        <p:blipFill>
          <a:blip r:embed="rId7"/>
          <a:srcRect t="9347" b="9347"/>
          <a:stretch>
            <a:fillRect/>
          </a:stretch>
        </p:blipFill>
        <p:spPr>
          <a:xfrm>
            <a:off x="3305175" y="4933950"/>
            <a:ext cx="2619375" cy="1285875"/>
          </a:xfrm>
        </p:spPr>
      </p:pic>
      <p:sp>
        <p:nvSpPr>
          <p:cNvPr id="204" name="文本框 203">
            <a:extLst>
              <a:ext uri="{FF2B5EF4-FFF2-40B4-BE49-F238E27FC236}">
                <a16:creationId xmlns:a16="http://schemas.microsoft.com/office/drawing/2014/main" id="{44DDA11D-06E6-4E38-BB06-1F351B773034}"/>
              </a:ext>
            </a:extLst>
          </p:cNvPr>
          <p:cNvSpPr>
            <a:spLocks noGrp="1"/>
          </p:cNvSpPr>
          <p:nvPr/>
        </p:nvSpPr>
        <p:spPr>
          <a:xfrm>
            <a:off x="6267450" y="1181100"/>
            <a:ext cx="53530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 spc="75">
                <a:solidFill>
                  <a:srgbClr val="08A6F6"/>
                </a:solidFill>
                <a:latin typeface="Arial"/>
                <a:ea typeface="Arial"/>
                <a:cs typeface="Arial"/>
              </a:rPr>
              <a:t>认知性证据（≥2）</a:t>
            </a:r>
            <a:endParaRPr/>
          </a:p>
        </p:txBody>
      </p:sp>
      <p:sp>
        <p:nvSpPr>
          <p:cNvPr id="205" name="任意多边形: 形状 204">
            <a:extLst>
              <a:ext uri="{FF2B5EF4-FFF2-40B4-BE49-F238E27FC236}">
                <a16:creationId xmlns:a16="http://schemas.microsoft.com/office/drawing/2014/main" id="{3BEF4067-7D5F-4433-A1FC-80601DA0A321}"/>
              </a:ext>
            </a:extLst>
          </p:cNvPr>
          <p:cNvSpPr>
            <a:spLocks noGrp="1"/>
          </p:cNvSpPr>
          <p:nvPr/>
        </p:nvSpPr>
        <p:spPr>
          <a:xfrm>
            <a:off x="6267450" y="1409700"/>
            <a:ext cx="5391150" cy="2409825"/>
          </a:xfrm>
          <a:custGeom>
            <a:avLst/>
            <a:gdLst/>
            <a:ahLst/>
            <a:cxnLst/>
            <a:rect l="0" t="0" r="0" b="0"/>
            <a:pathLst>
              <a:path w="566" h="253">
                <a:moveTo>
                  <a:pt x="0" y="0"/>
                </a:moveTo>
                <a:lnTo>
                  <a:pt x="4" y="0"/>
                </a:lnTo>
                <a:lnTo>
                  <a:pt x="4" y="253"/>
                </a:lnTo>
                <a:lnTo>
                  <a:pt x="0" y="253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206" name="文本框 205">
            <a:extLst>
              <a:ext uri="{FF2B5EF4-FFF2-40B4-BE49-F238E27FC236}">
                <a16:creationId xmlns:a16="http://schemas.microsoft.com/office/drawing/2014/main" id="{D8411E12-63F8-4459-9E47-4DA394A135EE}"/>
              </a:ext>
            </a:extLst>
          </p:cNvPr>
          <p:cNvSpPr>
            <a:spLocks noGrp="1"/>
          </p:cNvSpPr>
          <p:nvPr/>
        </p:nvSpPr>
        <p:spPr>
          <a:xfrm>
            <a:off x="6477000" y="2324100"/>
            <a:ext cx="5143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Ai-harness 调研 → 架构决策</a:t>
            </a:r>
            <a:endParaRPr/>
          </a:p>
        </p:txBody>
      </p:sp>
      <p:sp>
        <p:nvSpPr>
          <p:cNvPr id="207" name="文本框 206">
            <a:extLst>
              <a:ext uri="{FF2B5EF4-FFF2-40B4-BE49-F238E27FC236}">
                <a16:creationId xmlns:a16="http://schemas.microsoft.com/office/drawing/2014/main" id="{15CA1F84-9F91-4BAE-9238-B157792729E9}"/>
              </a:ext>
            </a:extLst>
          </p:cNvPr>
          <p:cNvSpPr>
            <a:spLocks noGrp="1"/>
          </p:cNvSpPr>
          <p:nvPr/>
        </p:nvSpPr>
        <p:spPr>
          <a:xfrm>
            <a:off x="6477000" y="2628900"/>
            <a:ext cx="51435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200">
                <a:solidFill>
                  <a:srgbClr val="44546A"/>
                </a:solidFill>
                <a:latin typeface="Arial"/>
                <a:ea typeface="Arial"/>
                <a:cs typeface="Arial"/>
              </a:rPr>
              <a:t>从“单轮给参”到“自主闭环”的认知跃迁</a:t>
            </a:r>
            <a:endParaRPr/>
          </a:p>
        </p:txBody>
      </p:sp>
      <p:sp>
        <p:nvSpPr>
          <p:cNvPr id="208" name="任意多边形: 形状 207">
            <a:extLst>
              <a:ext uri="{FF2B5EF4-FFF2-40B4-BE49-F238E27FC236}">
                <a16:creationId xmlns:a16="http://schemas.microsoft.com/office/drawing/2014/main" id="{7E7962EB-18F1-4257-9375-190DE7AB125C}"/>
              </a:ext>
            </a:extLst>
          </p:cNvPr>
          <p:cNvSpPr>
            <a:spLocks noGrp="1"/>
          </p:cNvSpPr>
          <p:nvPr/>
        </p:nvSpPr>
        <p:spPr>
          <a:xfrm>
            <a:off x="6267450" y="3819525"/>
            <a:ext cx="5391150" cy="2400300"/>
          </a:xfrm>
          <a:custGeom>
            <a:avLst/>
            <a:gdLst/>
            <a:ahLst/>
            <a:cxnLst/>
            <a:rect l="0" t="0" r="0" b="0"/>
            <a:pathLst>
              <a:path w="566" h="252">
                <a:moveTo>
                  <a:pt x="0" y="0"/>
                </a:moveTo>
                <a:lnTo>
                  <a:pt x="4" y="0"/>
                </a:lnTo>
                <a:lnTo>
                  <a:pt x="4" y="252"/>
                </a:lnTo>
                <a:lnTo>
                  <a:pt x="0" y="252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209" name="文本框 208">
            <a:extLst>
              <a:ext uri="{FF2B5EF4-FFF2-40B4-BE49-F238E27FC236}">
                <a16:creationId xmlns:a16="http://schemas.microsoft.com/office/drawing/2014/main" id="{86AFBBBB-F022-4C8A-AD49-A95C4757E5EB}"/>
              </a:ext>
            </a:extLst>
          </p:cNvPr>
          <p:cNvSpPr>
            <a:spLocks noGrp="1"/>
          </p:cNvSpPr>
          <p:nvPr/>
        </p:nvSpPr>
        <p:spPr>
          <a:xfrm>
            <a:off x="6477000" y="4733925"/>
            <a:ext cx="5143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定位演变记录</a:t>
            </a:r>
            <a:endParaRPr/>
          </a:p>
        </p:txBody>
      </p:sp>
      <p:sp>
        <p:nvSpPr>
          <p:cNvPr id="210" name="文本框 209">
            <a:extLst>
              <a:ext uri="{FF2B5EF4-FFF2-40B4-BE49-F238E27FC236}">
                <a16:creationId xmlns:a16="http://schemas.microsoft.com/office/drawing/2014/main" id="{F6C2BB72-8988-4CD6-A93E-9D94F8196C13}"/>
              </a:ext>
            </a:extLst>
          </p:cNvPr>
          <p:cNvSpPr>
            <a:spLocks noGrp="1"/>
          </p:cNvSpPr>
          <p:nvPr/>
        </p:nvSpPr>
        <p:spPr>
          <a:xfrm>
            <a:off x="6477000" y="5038725"/>
            <a:ext cx="51435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200">
                <a:solidFill>
                  <a:srgbClr val="44546A"/>
                </a:solidFill>
                <a:latin typeface="Arial"/>
                <a:ea typeface="Arial"/>
                <a:cs typeface="Arial"/>
              </a:rPr>
              <a:t>辅助式(N=7) → 智能体化(Pi 研究) → 开放闭环(8/25)，载于 docs 与 git 提交</a:t>
            </a:r>
            <a:endParaRPr/>
          </a:p>
        </p:txBody>
      </p:sp>
      <p:sp>
        <p:nvSpPr>
          <p:cNvPr id="211" name="文本框 210">
            <a:extLst>
              <a:ext uri="{FF2B5EF4-FFF2-40B4-BE49-F238E27FC236}">
                <a16:creationId xmlns:a16="http://schemas.microsoft.com/office/drawing/2014/main" id="{9F496709-16F4-4FCA-909D-53108375F36E}"/>
              </a:ext>
            </a:extLst>
          </p:cNvPr>
          <p:cNvSpPr>
            <a:spLocks noGrp="1"/>
          </p:cNvSpPr>
          <p:nvPr/>
        </p:nvSpPr>
        <p:spPr>
          <a:xfrm>
            <a:off x="571500" y="6353175"/>
            <a:ext cx="30575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附录 B · 结果性与认知性证据；用户测评与修改记录（5条定性反馈）见P5。</a:t>
            </a:r>
            <a:endParaRPr/>
          </a:p>
        </p:txBody>
      </p:sp>
      <p:sp>
        <p:nvSpPr>
          <p:cNvPr id="212" name="文本框 211">
            <a:extLst>
              <a:ext uri="{FF2B5EF4-FFF2-40B4-BE49-F238E27FC236}">
                <a16:creationId xmlns:a16="http://schemas.microsoft.com/office/drawing/2014/main" id="{1879CBD5-4521-487B-BE9F-25C8DF51B6B4}"/>
              </a:ext>
            </a:extLst>
          </p:cNvPr>
          <p:cNvSpPr>
            <a:spLocks noGrp="1"/>
          </p:cNvSpPr>
          <p:nvPr/>
        </p:nvSpPr>
        <p:spPr>
          <a:xfrm>
            <a:off x="11210925" y="6353175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20 / 20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14523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2457</Words>
  <Application>Microsoft Office PowerPoint</Application>
  <DocSecurity>0</DocSecurity>
  <PresentationFormat>宽屏</PresentationFormat>
  <Paragraphs>461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clx w</cp:lastModifiedBy>
  <cp:revision>1</cp:revision>
  <dcterms:created xsi:type="dcterms:W3CDTF">2026-08-27T03:11:41Z</dcterms:created>
  <dcterms:modified xsi:type="dcterms:W3CDTF">2026-08-27T03:22:27Z</dcterms:modified>
</cp:coreProperties>
</file>