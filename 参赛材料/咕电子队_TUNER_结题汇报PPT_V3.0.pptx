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3.svg" ContentType="image/svg+xml"/>
  <Override PartName="/ppt/media/image4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27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885B-4672-BDB2-2C165B93F3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85B-4672-BDB2-2C165B93F393}"/>
              </c:ext>
            </c:extLst>
          </c:dPt>
          <c:dPt>
            <c:idx val="2"/>
            <c:invertIfNegative val="0"/>
            <c:bubble3D val="0"/>
            <c:spPr>
              <a:solidFill>
                <a:srgbClr val="128269"/>
              </a:solidFill>
            </c:spPr>
            <c:extLst>
              <c:ext xmlns:c16="http://schemas.microsoft.com/office/drawing/2014/chart" uri="{C3380CC4-5D6E-409C-BE32-E72D297353CC}">
                <c16:uniqueId val="{00000005-885B-4672-BDB2-2C165B93F3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选题问卷</c:v>
              </c:pt>
              <c:pt idx="1">
                <c:v>中期深访</c:v>
              </c:pt>
              <c:pt idx="2">
                <c:v>结题反馈</c:v>
              </c:pt>
            </c:strLit>
          </c:cat>
          <c:val>
            <c:numLit>
              <c:formatCode>0</c:formatCode>
              <c:ptCount val="3"/>
              <c:pt idx="0">
                <c:v>7</c:v>
              </c:pt>
              <c:pt idx="1">
                <c:v>12</c:v>
              </c:pt>
              <c:pt idx="2">
                <c:v>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85B-4672-BDB2-2C165B93F3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A6D2-4DDD-9908-E8447D47EA7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6D2-4DDD-9908-E8447D47EA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改善前</c:v>
              </c:pt>
              <c:pt idx="1">
                <c:v>改善后</c:v>
              </c:pt>
            </c:strLit>
          </c:cat>
          <c:val>
            <c:numLit>
              <c:formatCode>0"%"</c:formatCode>
              <c:ptCount val="2"/>
              <c:pt idx="0">
                <c:v>40</c:v>
              </c:pt>
              <c:pt idx="1">
                <c:v>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A6D2-4DDD-9908-E8447D47EA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8ED1-47E3-AA83-14296725AAA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ED1-47E3-AA83-14296725AA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改善前</c:v>
              </c:pt>
              <c:pt idx="1">
                <c:v>改善后</c:v>
              </c:pt>
            </c:strLit>
          </c:cat>
          <c:val>
            <c:numLit>
              <c:formatCode>0"%"</c:formatCode>
              <c:ptCount val="2"/>
              <c:pt idx="0">
                <c:v>70</c:v>
              </c:pt>
              <c:pt idx="1">
                <c:v>90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8ED1-47E3-AA83-14296725AA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5282-4467-A6FE-3AC5285D6DE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282-4467-A6FE-3AC5285D6D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均值</c:v>
              </c:pt>
              <c:pt idx="1">
                <c:v>最优</c:v>
              </c:pt>
            </c:strLit>
          </c:cat>
          <c:val>
            <c:numLit>
              <c:formatCode>0.0</c:formatCode>
              <c:ptCount val="2"/>
              <c:pt idx="0">
                <c:v>93.3</c:v>
              </c:pt>
              <c:pt idx="1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282-4467-A6FE-3AC5285D6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>
              <a:srgbClr val="009ED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87CA0"/>
              </a:solidFill>
            </c:spPr>
            <c:extLst>
              <c:ext xmlns:c16="http://schemas.microsoft.com/office/drawing/2014/chart" uri="{C3380CC4-5D6E-409C-BE32-E72D297353CC}">
                <c16:uniqueId val="{00000001-EF41-4923-9240-7CD682A94CE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F41-4923-9240-7CD682A94C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61F32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改进前</c:v>
              </c:pt>
              <c:pt idx="1">
                <c:v>改进后</c:v>
              </c:pt>
            </c:strLit>
          </c:cat>
          <c:val>
            <c:numLit>
              <c:formatCode>0"%"</c:formatCode>
              <c:ptCount val="2"/>
              <c:pt idx="0">
                <c:v>40</c:v>
              </c:pt>
              <c:pt idx="1">
                <c:v>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F41-4923-9240-7CD682A94C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3647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6E2EB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3647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更新后：选题7份问卷、中期12份深访、结题新增提供的5条体验反馈，三个计数的记录类型不同，不累加独立用户。该文档未提供参与人数、完成时间、成功率、满意度评分及真实硬件结果，因此不再使用“结题测评0”，也不编造结题人数或改善百分比。诊断有效率40→85、交付率70→90为已有改善，非这5条反馈的量化结果。贡献均值(100+100+80)/3=93.3，最优100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依据用户提供的5条记录整理。8/25含两个不同主题，所以5条记录对应4个日期，不是5人、5场测试或5份独立问卷。体验改善是记录中的定性描述，未换算为百分比。文档称“全自动且安全”，本页保留工具闭环、护栏、回退的功能事实，不将其扩展为安全保证或真实硬件验证已完成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已补充5条定性测评反馈，原“结题新增测评0”不再适用。真实测评的缺口聚焦独立参与人数、任务成功率、耗时对比与真实硬件闭环，而不是否认已经发生的用户反馈。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新增用户反馈分别支撑提示词规范化、前端改版、模块拆分、自动调参和安装交付的体验价值。用户反馈只说明定性改善，原诊断有效率40→85继续归属既有测量。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新增5条反馈是体验记录，未给出独立人数、额外成本或工时。因此182h、350元、350/12≈29.2元/深访、12/350*100≈3.4份/百元均保留原口径，不用17作为深访分母，也不新增收入。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复用原PPT附录的真实Git截图，只对展示区域裁切。MIT与安装包为实际记录；公开交付不等于已有社区用户，也不代表已产生收入。</a:t>
            </a:r>
          </a:p>
          <a:p>
            <a:r>
              <a:t>[Sources]</a:t>
            </a:r>
          </a:p>
          <a:p>
            <a:r>
              <a:t>用户提供：咕电子队_TUNER_结题汇报PPT_V1.0.pptx；项目计划.md；结题答辩PPT大纲与计划.md；发布包与开发者文档。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新材料补齐了定性反馈层，后续规划应转向量化效果与真实硬件验证，不再表述为完全没有测评。未改变原短中长期技术路线。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针对“结题有无新增测评”的回答更新：有5条定性反馈记录，不声称新增5人。硬件链路与付费话术保留原有边界。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新增过程证据：用户测评与修改记录.md，4个日期、5条问题-修改-改善记录。与Git提交、问题反馈记录交叉对应，不将整理文档伪装成聊天截图。</a:t>
            </a:r>
          </a:p>
          <a:p>
            <a:r>
              <a:t>[Sources]</a:t>
            </a:r>
          </a:p>
          <a:p>
            <a:r>
              <a:t>用户提供：D:/apps/QQ/下载文件/用户测评与修改记录.md（2026-08-08、08-23、08-24、08-25，共5条记录）。</a:t>
            </a:r>
          </a:p>
          <a:p>
            <a:r>
              <a:t>既有数值与界面证据：咕电子队_TUNER_结题汇报PPT_V2.0_评审优化版.pptx及其来源。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chart" Target="../charts/chart5.xml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svg"/><Relationship Id="rId4" Type="http://schemas.openxmlformats.org/officeDocument/2006/relationships/image" Target="../media/image9.svg"/><Relationship Id="rId5" Type="http://schemas.openxmlformats.org/officeDocument/2006/relationships/image" Target="../media/image10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Relationship Id="rId7" Type="http://schemas.openxmlformats.org/officeDocument/2006/relationships/image" Target="../media/image21.svg"/><Relationship Id="rId8" Type="http://schemas.openxmlformats.org/officeDocument/2006/relationships/image" Target="../media/image22.svg"/><Relationship Id="rId9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svg"/><Relationship Id="rId4" Type="http://schemas.openxmlformats.org/officeDocument/2006/relationships/image" Target="../media/image12.svg"/><Relationship Id="rId5" Type="http://schemas.openxmlformats.org/officeDocument/2006/relationships/image" Target="../media/image3.sv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85422C-380B-47DE-B2D0-1D4962797C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A66349-CC59-4744-8525-520998599FAC}"/>
              </a:ext>
            </a:extLst>
          </p:cNvPr>
          <p:cNvSpPr>
            <a:spLocks noGrp="1"/>
          </p:cNvSpPr>
          <p:nvPr/>
        </p:nvSpPr>
        <p:spPr>
          <a:xfrm>
            <a:off x="914400" y="1428750"/>
            <a:ext cx="10363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 spc="225">
                <a:solidFill>
                  <a:srgbClr val="08A6F6"/>
                </a:solidFill>
                <a:latin typeface="Arial"/>
                <a:ea typeface="Arial"/>
                <a:cs typeface="Arial"/>
              </a:rPr>
              <a:t>创客训练营 · 结题答辩</a:t>
            </a: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B26786-2B6D-4B98-BB0C-F5510F686156}"/>
              </a:ext>
            </a:extLst>
          </p:cNvPr>
          <p:cNvSpPr>
            <a:spLocks noGrp="1"/>
          </p:cNvSpPr>
          <p:nvPr/>
        </p:nvSpPr>
        <p:spPr>
          <a:xfrm>
            <a:off x="914400" y="1933575"/>
            <a:ext cx="1036320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  <a:buNone/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串口调试助手 </a:t>
            </a:r>
            <a:r>
              <a:rPr sz="3150">
                <a:solidFill>
                  <a:srgbClr val="99BDED"/>
                </a:solidFill>
                <a:latin typeface="Arial"/>
                <a:ea typeface="Arial"/>
                <a:cs typeface="Arial"/>
              </a:rPr>
              <a:t>TUNER</a:t>
            </a: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A067FF-0A2E-44E6-9A36-76B54D75F5B8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10363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250">
                <a:solidFill>
                  <a:srgbClr val="C9D6E2"/>
                </a:solidFill>
                <a:latin typeface="Arial"/>
                <a:ea typeface="Arial"/>
                <a:cs typeface="Arial"/>
              </a:rPr>
              <a:t>AI 驱动的竞赛调参加速器</a:t>
            </a: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1C1F66-378C-48E0-9F1F-2AD46DC804B3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1238250" cy="38100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BA0E08-A97D-4FB1-86D3-E80625837FE6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10363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“把最耗时的试错环节，用 AI 压掉”</a:t>
            </a: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610603-4C2E-4A40-BA3A-3206D44EC710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2019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>
                <a:solidFill>
                  <a:srgbClr val="C9D6E2"/>
                </a:solidFill>
                <a:latin typeface="Arial"/>
                <a:ea typeface="Arial"/>
                <a:cs typeface="Arial"/>
              </a:rPr>
              <a:t>汇报团队：咕电子队</a:t>
            </a: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17AB0F-ED81-4168-ADEB-C74EAB6AFECB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2019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>
                <a:solidFill>
                  <a:srgbClr val="808080"/>
                </a:solidFill>
                <a:latin typeface="Arial"/>
                <a:ea typeface="Arial"/>
                <a:cs typeface="Arial"/>
              </a:rPr>
              <a:t>刘双瑞 · 胡雨杨 · 吴程龙秀</a:t>
            </a: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8FB177-E6CA-458F-874C-E8BC74DA87F7}"/>
              </a:ext>
            </a:extLst>
          </p:cNvPr>
          <p:cNvSpPr>
            <a:spLocks noGrp="1"/>
          </p:cNvSpPr>
          <p:nvPr/>
        </p:nvSpPr>
        <p:spPr>
          <a:xfrm>
            <a:off x="9801225" y="5219700"/>
            <a:ext cx="14763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>
                <a:solidFill>
                  <a:srgbClr val="808080"/>
                </a:solidFill>
                <a:latin typeface="Arial"/>
                <a:ea typeface="Arial"/>
                <a:cs typeface="Arial"/>
              </a:rPr>
              <a:t>2026 年 8 月 · V2.1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057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矩形 213">
            <a:extLst>
              <a:ext uri="{FF2B5EF4-FFF2-40B4-BE49-F238E27FC236}">
                <a16:creationId xmlns:a16="http://schemas.microsoft.com/office/drawing/2014/main" id="{742F604A-41B2-43A3-A49D-574DD9D003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B4C9114E-B8C7-4353-B14B-B09C8324952B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汇报结构 · 九大能力模块全景</a:t>
            </a:r>
            <a:endParaRPr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50E8BB6A-5C53-459B-A92E-0D7752A1BFFA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39D20BE5-8967-4D2A-8670-67A38DF82CE3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01</a:t>
            </a:r>
            <a:endParaRPr/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C146B30-8216-4D3A-92F4-8F501666FB8D}"/>
              </a:ext>
            </a:extLst>
          </p:cNvPr>
          <p:cNvSpPr>
            <a:spLocks noGrp="1"/>
          </p:cNvSpPr>
          <p:nvPr/>
        </p:nvSpPr>
        <p:spPr>
          <a:xfrm>
            <a:off x="1257300" y="12001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B3AF6BB7-C5A9-4F5D-99A8-C67B1B74966C}"/>
              </a:ext>
            </a:extLst>
          </p:cNvPr>
          <p:cNvSpPr>
            <a:spLocks noGrp="1"/>
          </p:cNvSpPr>
          <p:nvPr/>
        </p:nvSpPr>
        <p:spPr>
          <a:xfrm>
            <a:off x="1428750" y="12001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价值验证全景图</a:t>
            </a:r>
            <a:endParaRPr/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79A8DAAF-3FD5-41E5-8086-5EC61D439D36}"/>
              </a:ext>
            </a:extLst>
          </p:cNvPr>
          <p:cNvSpPr>
            <a:spLocks noGrp="1"/>
          </p:cNvSpPr>
          <p:nvPr/>
        </p:nvSpPr>
        <p:spPr>
          <a:xfrm>
            <a:off x="1428750" y="14954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三阶段动态仪表盘（选题→中期→结题）</a:t>
            </a:r>
            <a:endParaRPr/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E2B38FEE-73B4-44E1-AE3B-553FE7683299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02</a:t>
            </a:r>
            <a:endParaRPr/>
          </a:p>
        </p:txBody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1C956C7D-0231-4A86-898E-C923B0DA3F7A}"/>
              </a:ext>
            </a:extLst>
          </p:cNvPr>
          <p:cNvSpPr>
            <a:spLocks noGrp="1"/>
          </p:cNvSpPr>
          <p:nvPr/>
        </p:nvSpPr>
        <p:spPr>
          <a:xfrm>
            <a:off x="1257300" y="18859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0108873-AC80-4CC6-837F-ED11A98EE102}"/>
              </a:ext>
            </a:extLst>
          </p:cNvPr>
          <p:cNvSpPr>
            <a:spLocks noGrp="1"/>
          </p:cNvSpPr>
          <p:nvPr/>
        </p:nvSpPr>
        <p:spPr>
          <a:xfrm>
            <a:off x="1428750" y="18859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主动性 · 破局行动</a:t>
            </a:r>
            <a:endParaRPr/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9BF91F5E-AA1F-422F-909B-85954E08045C}"/>
              </a:ext>
            </a:extLst>
          </p:cNvPr>
          <p:cNvSpPr>
            <a:spLocks noGrp="1"/>
          </p:cNvSpPr>
          <p:nvPr/>
        </p:nvSpPr>
        <p:spPr>
          <a:xfrm>
            <a:off x="1428750" y="21812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“智能体化”攻坚与确定性交付</a:t>
            </a:r>
            <a:endParaRPr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93506895-9A4B-49CE-9DA5-8D4F541D1C22}"/>
              </a:ext>
            </a:extLst>
          </p:cNvPr>
          <p:cNvSpPr>
            <a:spLocks noGrp="1"/>
          </p:cNvSpPr>
          <p:nvPr/>
        </p:nvSpPr>
        <p:spPr>
          <a:xfrm>
            <a:off x="571500" y="26289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03</a:t>
            </a:r>
            <a:endParaRPr/>
          </a:p>
        </p:txBody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6A188E68-2427-4067-9FAE-2A0627E01FBF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CDF4868B-C32F-47C6-AFFD-EE94EAF4ADA1}"/>
              </a:ext>
            </a:extLst>
          </p:cNvPr>
          <p:cNvSpPr>
            <a:spLocks noGrp="1"/>
          </p:cNvSpPr>
          <p:nvPr/>
        </p:nvSpPr>
        <p:spPr>
          <a:xfrm>
            <a:off x="1428750" y="25717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应对不确定性</a:t>
            </a:r>
            <a:endParaRPr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463BC9B0-D5BE-448F-9651-EB98E2EB0C96}"/>
              </a:ext>
            </a:extLst>
          </p:cNvPr>
          <p:cNvSpPr>
            <a:spLocks noGrp="1"/>
          </p:cNvSpPr>
          <p:nvPr/>
        </p:nvSpPr>
        <p:spPr>
          <a:xfrm>
            <a:off x="1428750" y="28670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风险熔断机制与降级路径</a:t>
            </a:r>
            <a:endParaRPr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1CD85993-B532-4B20-AD9B-CA7ED1D31D4A}"/>
              </a:ext>
            </a:extLst>
          </p:cNvPr>
          <p:cNvSpPr>
            <a:spLocks noGrp="1"/>
          </p:cNvSpPr>
          <p:nvPr/>
        </p:nvSpPr>
        <p:spPr>
          <a:xfrm>
            <a:off x="571500" y="33147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04</a:t>
            </a:r>
            <a:endParaRPr/>
          </a:p>
        </p:txBody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EE7FA221-970C-42AF-BF1C-060660D8EF61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AA4C88C9-CE3F-43F1-B479-68F0863CA85B}"/>
              </a:ext>
            </a:extLst>
          </p:cNvPr>
          <p:cNvSpPr>
            <a:spLocks noGrp="1"/>
          </p:cNvSpPr>
          <p:nvPr/>
        </p:nvSpPr>
        <p:spPr>
          <a:xfrm>
            <a:off x="1428750" y="32575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体验式学习</a:t>
            </a:r>
            <a:endParaRPr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02694AB0-860F-4BFD-A96F-C28AA994269B}"/>
              </a:ext>
            </a:extLst>
          </p:cNvPr>
          <p:cNvSpPr>
            <a:spLocks noGrp="1"/>
          </p:cNvSpPr>
          <p:nvPr/>
        </p:nvSpPr>
        <p:spPr>
          <a:xfrm>
            <a:off x="1428750" y="35528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认知迭代图谱与两次失败</a:t>
            </a:r>
            <a:endParaRPr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815053E6-6A9F-4645-8F72-52E860C173B7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05</a:t>
            </a:r>
            <a:endParaRPr/>
          </a:p>
        </p:txBody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BE60CAAE-C684-4A21-B267-6B5AB647F29E}"/>
              </a:ext>
            </a:extLst>
          </p:cNvPr>
          <p:cNvSpPr>
            <a:spLocks noGrp="1"/>
          </p:cNvSpPr>
          <p:nvPr/>
        </p:nvSpPr>
        <p:spPr>
          <a:xfrm>
            <a:off x="1257300" y="39433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597F4FA-0BDB-4C98-844F-F2B78A2C00D5}"/>
              </a:ext>
            </a:extLst>
          </p:cNvPr>
          <p:cNvSpPr>
            <a:spLocks noGrp="1"/>
          </p:cNvSpPr>
          <p:nvPr/>
        </p:nvSpPr>
        <p:spPr>
          <a:xfrm>
            <a:off x="1428750" y="39433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合作能力</a:t>
            </a:r>
            <a:endParaRPr/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F11D8FA2-E604-4572-B7DF-AB6A43C722F9}"/>
              </a:ext>
            </a:extLst>
          </p:cNvPr>
          <p:cNvSpPr>
            <a:spLocks noGrp="1"/>
          </p:cNvSpPr>
          <p:nvPr/>
        </p:nvSpPr>
        <p:spPr>
          <a:xfrm>
            <a:off x="1428750" y="42386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RACI-V 分工与敏捷协作看板</a:t>
            </a:r>
            <a:endParaRPr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1D19E405-9FE6-4364-ADF3-D506F198A44C}"/>
              </a:ext>
            </a:extLst>
          </p:cNvPr>
          <p:cNvSpPr>
            <a:spLocks noGrp="1"/>
          </p:cNvSpPr>
          <p:nvPr/>
        </p:nvSpPr>
        <p:spPr>
          <a:xfrm>
            <a:off x="6324600" y="12573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06</a:t>
            </a:r>
            <a:endParaRPr/>
          </a:p>
        </p:txBody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2CE9B225-9AAE-4128-A4D9-4E3A7FF92774}"/>
              </a:ext>
            </a:extLst>
          </p:cNvPr>
          <p:cNvSpPr>
            <a:spLocks noGrp="1"/>
          </p:cNvSpPr>
          <p:nvPr/>
        </p:nvSpPr>
        <p:spPr>
          <a:xfrm>
            <a:off x="7010400" y="12001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E8F599B0-2799-45D1-A75E-08940BC81C33}"/>
              </a:ext>
            </a:extLst>
          </p:cNvPr>
          <p:cNvSpPr>
            <a:spLocks noGrp="1"/>
          </p:cNvSpPr>
          <p:nvPr/>
        </p:nvSpPr>
        <p:spPr>
          <a:xfrm>
            <a:off x="7181850" y="12001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资源杠杆率</a:t>
            </a:r>
            <a:endParaRPr/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B99F62E3-4D14-4A93-9631-ADDB31B66A7D}"/>
              </a:ext>
            </a:extLst>
          </p:cNvPr>
          <p:cNvSpPr>
            <a:spLocks noGrp="1"/>
          </p:cNvSpPr>
          <p:nvPr/>
        </p:nvSpPr>
        <p:spPr>
          <a:xfrm>
            <a:off x="7181850" y="14954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¥350 投入撬动 v1.1.0 产出</a:t>
            </a:r>
            <a:endParaRPr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65FB4C2C-C8CB-4A25-87F0-B22AF08AAD63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07</a:t>
            </a:r>
            <a:endParaRPr/>
          </a:p>
        </p:txBody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5D20202D-B95A-4B1B-9F22-EF3E1A2FE897}"/>
              </a:ext>
            </a:extLst>
          </p:cNvPr>
          <p:cNvSpPr>
            <a:spLocks noGrp="1"/>
          </p:cNvSpPr>
          <p:nvPr/>
        </p:nvSpPr>
        <p:spPr>
          <a:xfrm>
            <a:off x="7010400" y="18859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E0CA481F-A647-44FC-AA3F-2B3E31570ED8}"/>
              </a:ext>
            </a:extLst>
          </p:cNvPr>
          <p:cNvSpPr>
            <a:spLocks noGrp="1"/>
          </p:cNvSpPr>
          <p:nvPr/>
        </p:nvSpPr>
        <p:spPr>
          <a:xfrm>
            <a:off x="7181850" y="18859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可持续转化</a:t>
            </a:r>
            <a:endParaRPr/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CF021DBC-0688-4A47-87CE-C3B508ACA1A2}"/>
              </a:ext>
            </a:extLst>
          </p:cNvPr>
          <p:cNvSpPr>
            <a:spLocks noGrp="1"/>
          </p:cNvSpPr>
          <p:nvPr/>
        </p:nvSpPr>
        <p:spPr>
          <a:xfrm>
            <a:off x="7181850" y="21812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真实硬件闭环 + 开源社区路线</a:t>
            </a:r>
            <a:endParaRPr/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88A93926-F432-4F6D-8290-2361CC851BF6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08</a:t>
            </a:r>
            <a:endParaRPr/>
          </a:p>
        </p:txBody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E341711C-F835-4D6A-8FDA-4A4D2EC7F28D}"/>
              </a:ext>
            </a:extLst>
          </p:cNvPr>
          <p:cNvSpPr>
            <a:spLocks noGrp="1"/>
          </p:cNvSpPr>
          <p:nvPr/>
        </p:nvSpPr>
        <p:spPr>
          <a:xfrm>
            <a:off x="7010400" y="25717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E3A56A64-7294-4C34-AB85-A8CACDA8BFED}"/>
              </a:ext>
            </a:extLst>
          </p:cNvPr>
          <p:cNvSpPr>
            <a:spLocks noGrp="1"/>
          </p:cNvSpPr>
          <p:nvPr/>
        </p:nvSpPr>
        <p:spPr>
          <a:xfrm>
            <a:off x="7181850" y="25717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三阶问答预判</a:t>
            </a:r>
            <a:endParaRPr/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1850379B-BD6E-4141-8EC6-3950665C7686}"/>
              </a:ext>
            </a:extLst>
          </p:cNvPr>
          <p:cNvSpPr>
            <a:spLocks noGrp="1"/>
          </p:cNvSpPr>
          <p:nvPr/>
        </p:nvSpPr>
        <p:spPr>
          <a:xfrm>
            <a:off x="7181850" y="28670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直面 3 个真实薄弱环节的话术</a:t>
            </a:r>
            <a:endParaRPr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CE9862B1-B201-49D4-882A-F00DB5DC1773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4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5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09</a:t>
            </a:r>
            <a:endParaRPr/>
          </a:p>
        </p:txBody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AC125A86-EA12-4925-8609-EE23D15B8C77}"/>
              </a:ext>
            </a:extLst>
          </p:cNvPr>
          <p:cNvSpPr>
            <a:spLocks noGrp="1"/>
          </p:cNvSpPr>
          <p:nvPr/>
        </p:nvSpPr>
        <p:spPr>
          <a:xfrm>
            <a:off x="7010400" y="3257550"/>
            <a:ext cx="4629150" cy="495300"/>
          </a:xfrm>
          <a:custGeom>
            <a:avLst/>
            <a:gdLst/>
            <a:ahLst/>
            <a:cxnLst/>
            <a:rect l="0" t="0" r="0" b="0"/>
            <a:pathLst>
              <a:path w="486" h="52">
                <a:moveTo>
                  <a:pt x="0" y="0"/>
                </a:moveTo>
                <a:lnTo>
                  <a:pt x="2" y="0"/>
                </a:lnTo>
                <a:lnTo>
                  <a:pt x="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lstStyle/>
          <a:p>
            <a:endParaRPr/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8D390623-0ABC-4533-824F-B15F8D0BAC86}"/>
              </a:ext>
            </a:extLst>
          </p:cNvPr>
          <p:cNvSpPr>
            <a:spLocks noGrp="1"/>
          </p:cNvSpPr>
          <p:nvPr/>
        </p:nvSpPr>
        <p:spPr>
          <a:xfrm>
            <a:off x="7181850" y="3257550"/>
            <a:ext cx="4438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核心证据索引</a:t>
            </a:r>
            <a:endParaRPr/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6D396B64-87D3-41C2-9C4D-A918D37E762C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4438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808080"/>
                </a:solidFill>
                <a:latin typeface="Arial"/>
                <a:ea typeface="Arial"/>
                <a:cs typeface="Arial"/>
              </a:rPr>
              <a:t>过程性 / 结果性 / 认知性证据</a:t>
            </a:r>
            <a:endParaRPr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482018E7-AF7F-4C63-80B7-AA82D6FB7BD9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统一主线：真实测评不足、AI上下文失真、硬件联调受阻 → 破局行动 → 风险控制 → 学习协作 → 持续验证。</a:t>
            </a:r>
            <a:endParaRPr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1284F833-AE11-4712-9020-D3E37AC1F10D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02 / 20</a:t>
            </a:r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6309360" y="37033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48D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583680" y="3703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 商业模式与盈利测算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58368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  <a:latin typeface="微软雅黑"/>
                <a:ea typeface="微软雅黑"/>
              </a:rPr>
              <a:t>三层订阅 · 赛事周专享 · 规模测算</a:t>
            </a:r>
          </a:p>
        </p:txBody>
      </p:sp>
    </p:spTree>
    <p:extLst>
      <p:ext uri="{BB962C8B-B14F-4D97-AF65-F5344CB8AC3E}">
        <p14:creationId xmlns:p14="http://schemas.microsoft.com/office/powerpoint/2010/main" val="8873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矩形 255">
            <a:extLst>
              <a:ext uri="{FF2B5EF4-FFF2-40B4-BE49-F238E27FC236}">
                <a16:creationId xmlns:a16="http://schemas.microsoft.com/office/drawing/2014/main" id="{F8723762-E1B4-4E81-96A0-1026125818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841402F6-8F80-48E8-8665-98E4468C3ACC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价值验证全景仪表盘：成果、差距与团队效能同屏</a:t>
            </a:r>
            <a:endParaRPr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A8BA0233-5205-44D1-971F-A027004E8128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0F256C3B-6CAE-491A-8B6E-DC17B5338DB4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来源：用户测评与修改记录.md、既有调研与发布包；5条反馈不等于5位独立用户，定性反馈不替代硬件量化测试。</a:t>
            </a:r>
            <a:endParaRPr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5C619259-3C6D-4C6F-B5BD-56D992394638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03 / 20</a:t>
            </a:r>
            <a:endParaRPr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1C04B85F-372B-4E63-B276-669D4621C497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选题：7份问卷 / 1版原型     →     中期：12份深访 / 5版迭代     →     结题：v1.1.0发布 / 5条测评反馈</a:t>
            </a: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AF2E622A-8B91-4DA2-A4A4-05E6DCE34CB8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三阶段用户研究记录</a:t>
            </a: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76C9FCC8-C149-47C3-8F23-F35F44FBA9F2}"/>
              </a:ext>
            </a:extLst>
          </p:cNvPr>
          <p:cNvSpPr>
            <a:spLocks noGrp="1"/>
          </p:cNvSpPr>
          <p:nvPr/>
        </p:nvSpPr>
        <p:spPr>
          <a:xfrm>
            <a:off x="3381375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诊断有效率（既有改善）</a:t>
            </a: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CBD3BE6F-57E4-49CD-9102-DF31D9AFF820}"/>
              </a:ext>
            </a:extLst>
          </p:cNvPr>
          <p:cNvSpPr>
            <a:spLocks noGrp="1"/>
          </p:cNvSpPr>
          <p:nvPr/>
        </p:nvSpPr>
        <p:spPr>
          <a:xfrm>
            <a:off x="6191250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按时交付率（既有改善）</a:t>
            </a:r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3C302A00-F337-4B99-99AB-B35AEBC6BE5F}"/>
              </a:ext>
            </a:extLst>
          </p:cNvPr>
          <p:cNvSpPr>
            <a:spLocks noGrp="1"/>
          </p:cNvSpPr>
          <p:nvPr/>
        </p:nvSpPr>
        <p:spPr>
          <a:xfrm>
            <a:off x="9001125" y="15621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团队均值 vs 最优（贡献分）</a:t>
            </a:r>
          </a:p>
        </p:txBody>
      </p:sp>
      <p:graphicFrame>
        <p:nvGraphicFramePr>
          <p:cNvPr id="304" name="Chart"/>
          <p:cNvGraphicFramePr/>
          <p:nvPr/>
        </p:nvGraphicFramePr>
        <p:xfrm>
          <a:off x="571500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5" name="Chart"/>
          <p:cNvGraphicFramePr/>
          <p:nvPr/>
        </p:nvGraphicFramePr>
        <p:xfrm>
          <a:off x="3381375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6" name="Chart"/>
          <p:cNvGraphicFramePr/>
          <p:nvPr/>
        </p:nvGraphicFramePr>
        <p:xfrm>
          <a:off x="6191250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7" name="Chart"/>
          <p:cNvGraphicFramePr/>
          <p:nvPr/>
        </p:nvGraphicFramePr>
        <p:xfrm>
          <a:off x="9001125" y="1885950"/>
          <a:ext cx="2619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3" name="矩形 282">
            <a:extLst>
              <a:ext uri="{FF2B5EF4-FFF2-40B4-BE49-F238E27FC236}">
                <a16:creationId xmlns:a16="http://schemas.microsoft.com/office/drawing/2014/main" id="{775888CA-EFDE-4F8D-B80F-1448085FEF30}"/>
              </a:ext>
            </a:extLst>
          </p:cNvPr>
          <p:cNvSpPr>
            <a:spLocks noGrp="1"/>
          </p:cNvSpPr>
          <p:nvPr/>
        </p:nvSpPr>
        <p:spPr>
          <a:xfrm>
            <a:off x="571500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记录类型不同，不累加为用户人数</a:t>
            </a: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F6A45D24-1234-4D57-A421-0B2AC0BE2216}"/>
              </a:ext>
            </a:extLst>
          </p:cNvPr>
          <p:cNvSpPr>
            <a:spLocks noGrp="1"/>
          </p:cNvSpPr>
          <p:nvPr/>
        </p:nvSpPr>
        <p:spPr>
          <a:xfrm>
            <a:off x="3381375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+45个百分点；不作新增结题实测</a:t>
            </a: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1C0311F8-3337-4E7F-A552-CFEC2A052EB3}"/>
              </a:ext>
            </a:extLst>
          </p:cNvPr>
          <p:cNvSpPr>
            <a:spLocks noGrp="1"/>
          </p:cNvSpPr>
          <p:nvPr/>
        </p:nvSpPr>
        <p:spPr>
          <a:xfrm>
            <a:off x="6191250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+20个百分点；不作新增结题实测</a:t>
            </a: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D03E8DD5-9834-49F5-9F62-59D6EF80E594}"/>
              </a:ext>
            </a:extLst>
          </p:cNvPr>
          <p:cNvSpPr>
            <a:spLocks noGrp="1"/>
          </p:cNvSpPr>
          <p:nvPr/>
        </p:nvSpPr>
        <p:spPr>
          <a:xfrm>
            <a:off x="9001125" y="36861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(100+100+80)÷3＝93.3</a:t>
            </a:r>
          </a:p>
        </p:txBody>
      </p:sp>
      <p:graphicFrame>
        <p:nvGraphicFramePr>
          <p:cNvPr id="312" name="表格 311"/>
          <p:cNvGraphicFramePr/>
          <p:nvPr/>
        </p:nvGraphicFramePr>
        <p:xfrm>
          <a:off x="571500" y="4133850"/>
          <a:ext cx="11049000" cy="1438275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1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中期 vs 结题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计划 vs 实际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用户验证结题状态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5版迭代 → v1.1.0安装交付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12份深访 → 补充5条体验反馈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反馈覆盖AI、界面、稳定性与交付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计划：M1～M4四阶段完成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实际：M1～M3完成，M4部分完成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差距：实物参数写回尚未闭环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5条反馈均有修改与体验改善记录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算法自测：12项；硬件闭环未完成</a:t>
                      </a:r>
                    </a:p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后续：量化复测与真实硬件验证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8" name="矩形 287">
            <a:extLst>
              <a:ext uri="{FF2B5EF4-FFF2-40B4-BE49-F238E27FC236}">
                <a16:creationId xmlns:a16="http://schemas.microsoft.com/office/drawing/2014/main" id="{C8425187-5556-4ED6-8642-95BAFB630F97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交付成果：18个测试文件 · 51份波形资产 · 6份文档 · 31次提交     ｜     8/12付费意愿不等于实际付费</a:t>
            </a:r>
          </a:p>
        </p:txBody>
      </p:sp>
    </p:spTree>
    <p:extLst>
      <p:ext uri="{BB962C8B-B14F-4D97-AF65-F5344CB8AC3E}">
        <p14:creationId xmlns:p14="http://schemas.microsoft.com/office/powerpoint/2010/main" val="744494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矩形 274">
            <a:extLst>
              <a:ext uri="{FF2B5EF4-FFF2-40B4-BE49-F238E27FC236}">
                <a16:creationId xmlns:a16="http://schemas.microsoft.com/office/drawing/2014/main" id="{AD433D5C-551D-4F9A-8325-B04D5FD031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201797F5-6C6A-4910-8BC6-90800556C30A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每项指标都可溯源：12 项自测全绿 + 51 张波形 + 可运行安装包</a:t>
            </a:r>
            <a:endParaRPr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96AC7528-1AD9-42A4-871F-4BA00CAEE094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78" name="矩形: 圆角 277">
            <a:extLst>
              <a:ext uri="{FF2B5EF4-FFF2-40B4-BE49-F238E27FC236}">
                <a16:creationId xmlns:a16="http://schemas.microsoft.com/office/drawing/2014/main" id="{0B58B1F1-3A8E-4AC1-AAE7-E2C92B539CBE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4638675" cy="5038725"/>
          </a:xfrm>
          <a:prstGeom prst="roundRect">
            <a:avLst>
              <a:gd name="adj" fmla="val 2053"/>
            </a:avLst>
          </a:prstGeom>
        </p:spPr>
        <p:txBody>
          <a:bodyPr/>
          <a:lstStyle/>
          <a:p>
            <a:endParaRPr/>
          </a:p>
        </p:txBody>
      </p:sp>
      <p:pic>
        <p:nvPicPr>
          <p:cNvPr id="302" name="图片 278"/>
          <p:cNvPicPr>
            <a:picLocks noChangeAspect="1"/>
          </p:cNvPicPr>
          <p:nvPr/>
        </p:nvPicPr>
        <p:blipFill>
          <a:blip r:embed="rId3"/>
          <a:srcRect l="22207" r="22207"/>
          <a:stretch>
            <a:fillRect/>
          </a:stretch>
        </p:blipFill>
        <p:spPr>
          <a:xfrm>
            <a:off x="571500" y="1181100"/>
            <a:ext cx="4638675" cy="5038725"/>
          </a:xfrm>
        </p:spPr>
      </p:pic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B7BAFC1F-11B2-4A7E-9C00-2AFB423A91FE}"/>
              </a:ext>
            </a:extLst>
          </p:cNvPr>
          <p:cNvSpPr>
            <a:spLocks noGrp="1"/>
          </p:cNvSpPr>
          <p:nvPr/>
        </p:nvSpPr>
        <p:spPr>
          <a:xfrm>
            <a:off x="5553075" y="1181100"/>
            <a:ext cx="60674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04" name="图形 2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3575" y="1352550"/>
            <a:ext cx="323850" cy="323850"/>
          </a:xfrm>
          <a:prstGeom prst="rect">
            <a:avLst/>
          </a:prstGeom>
        </p:spPr>
      </p:pic>
      <p:sp>
        <p:nvSpPr>
          <p:cNvPr id="282" name="文本框 281">
            <a:extLst>
              <a:ext uri="{FF2B5EF4-FFF2-40B4-BE49-F238E27FC236}">
                <a16:creationId xmlns:a16="http://schemas.microsoft.com/office/drawing/2014/main" id="{910455AB-4EF7-49D6-980F-83DBF5CFBA96}"/>
              </a:ext>
            </a:extLst>
          </p:cNvPr>
          <p:cNvSpPr>
            <a:spLocks noGrp="1"/>
          </p:cNvSpPr>
          <p:nvPr/>
        </p:nvSpPr>
        <p:spPr>
          <a:xfrm>
            <a:off x="6219825" y="1352550"/>
            <a:ext cx="43148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12 项算法自测全绿</a:t>
            </a:r>
            <a:endParaRPr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FB5CCFBD-B00C-4D61-9146-3876D3556152}"/>
              </a:ext>
            </a:extLst>
          </p:cNvPr>
          <p:cNvSpPr>
            <a:spLocks noGrp="1"/>
          </p:cNvSpPr>
          <p:nvPr/>
        </p:nvSpPr>
        <p:spPr>
          <a:xfrm>
            <a:off x="6219825" y="1638300"/>
            <a:ext cx="431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npm run test:analysis 覆盖诊断/安全回退/压缩；测试日志可复现</a:t>
            </a:r>
            <a:endParaRPr/>
          </a:p>
        </p:txBody>
      </p:sp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13CC5C64-4148-4A8A-B2CC-8B7C53ECD035}"/>
              </a:ext>
            </a:extLst>
          </p:cNvPr>
          <p:cNvSpPr>
            <a:spLocks noGrp="1"/>
          </p:cNvSpPr>
          <p:nvPr/>
        </p:nvSpPr>
        <p:spPr>
          <a:xfrm>
            <a:off x="5553075" y="3295650"/>
            <a:ext cx="60674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08" name="图形 2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3575" y="3467100"/>
            <a:ext cx="323850" cy="323850"/>
          </a:xfrm>
          <a:prstGeom prst="rect">
            <a:avLst/>
          </a:prstGeom>
        </p:spPr>
      </p:pic>
      <p:sp>
        <p:nvSpPr>
          <p:cNvPr id="286" name="文本框 285">
            <a:extLst>
              <a:ext uri="{FF2B5EF4-FFF2-40B4-BE49-F238E27FC236}">
                <a16:creationId xmlns:a16="http://schemas.microsoft.com/office/drawing/2014/main" id="{7FF5C304-9775-4636-A898-9BA9E7E8C379}"/>
              </a:ext>
            </a:extLst>
          </p:cNvPr>
          <p:cNvSpPr>
            <a:spLocks noGrp="1"/>
          </p:cNvSpPr>
          <p:nvPr/>
        </p:nvSpPr>
        <p:spPr>
          <a:xfrm>
            <a:off x="6219825" y="3467100"/>
            <a:ext cx="41243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v1.1.0 安装包可运行</a:t>
            </a:r>
            <a:endParaRPr/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74391C32-BC29-4FD0-8DA0-1DE5B0CDB7EE}"/>
              </a:ext>
            </a:extLst>
          </p:cNvPr>
          <p:cNvSpPr>
            <a:spLocks noGrp="1"/>
          </p:cNvSpPr>
          <p:nvPr/>
        </p:nvSpPr>
        <p:spPr>
          <a:xfrm>
            <a:off x="6219825" y="3752850"/>
            <a:ext cx="41243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NSIS 发布包 + 使用说明书 + 嵌入式端准备指南 + 开发者文档</a:t>
            </a:r>
            <a:endParaRPr/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536FBF60-1B02-4E26-AA4D-ABB2BE5225EC}"/>
              </a:ext>
            </a:extLst>
          </p:cNvPr>
          <p:cNvSpPr>
            <a:spLocks noGrp="1"/>
          </p:cNvSpPr>
          <p:nvPr/>
        </p:nvSpPr>
        <p:spPr>
          <a:xfrm>
            <a:off x="5553075" y="5400675"/>
            <a:ext cx="60674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12" name="图形 2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3575" y="5572125"/>
            <a:ext cx="323850" cy="323850"/>
          </a:xfrm>
          <a:prstGeom prst="rect">
            <a:avLst/>
          </a:prstGeom>
        </p:spPr>
      </p:pic>
      <p:sp>
        <p:nvSpPr>
          <p:cNvPr id="290" name="文本框 289">
            <a:extLst>
              <a:ext uri="{FF2B5EF4-FFF2-40B4-BE49-F238E27FC236}">
                <a16:creationId xmlns:a16="http://schemas.microsoft.com/office/drawing/2014/main" id="{D340B8BF-3945-47E3-B8E3-6B1ACA92D34A}"/>
              </a:ext>
            </a:extLst>
          </p:cNvPr>
          <p:cNvSpPr>
            <a:spLocks noGrp="1"/>
          </p:cNvSpPr>
          <p:nvPr/>
        </p:nvSpPr>
        <p:spPr>
          <a:xfrm>
            <a:off x="6219825" y="5572125"/>
            <a:ext cx="36576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6 张官方界面截图</a:t>
            </a:r>
            <a:endParaRPr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5F9F59F4-B640-4AF5-9522-818745808D91}"/>
              </a:ext>
            </a:extLst>
          </p:cNvPr>
          <p:cNvSpPr>
            <a:spLocks noGrp="1"/>
          </p:cNvSpPr>
          <p:nvPr/>
        </p:nvSpPr>
        <p:spPr>
          <a:xfrm>
            <a:off x="6219825" y="5857875"/>
            <a:ext cx="3657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发布包/images 目录6张实测截图；用户反馈见P5，界面附录见P20</a:t>
            </a:r>
            <a:endParaRPr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CB63E85F-D5EC-4340-9D12-30A9F5816CF0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51625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Source：tests/ · package.json v1.1.0 · 发布包.zip · assets/ui_02_control_waveform.png</a:t>
            </a:r>
            <a:endParaRPr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1D3827D3-1FF1-48D5-B2D8-7F710EEA582A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04 / 20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065024-B463-5D2D-3AA8-F17B882596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66" y="1181100"/>
            <a:ext cx="4639322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800F17B-D6BC-463F-BB1C-5ECC727077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82525F-0B20-4EAF-B7AF-F9FF7CB1852A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用户测评推动迭代：5条反馈形成“问题—修改—改善”闭环</a:t>
            </a:r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7853157-869D-416C-9C56-6BA61E2B4B06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97F4D1A-40AB-4E05-86CC-9FE77CD1A8DC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来源：用户测评与修改记录.md；本页呈现定性体验反馈。自动调参反馈不等于已完成真实硬件闭环验证。</a:t>
            </a:r>
            <a:endParaRPr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11D0AD2-4185-46CD-97CB-4C0B775145E7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05 / 20</a:t>
            </a:r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F595EDF-06CB-43EF-80FF-778552EC44AE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8/8—8/25：从AI回答、界面上手到自动调参和安装交付，逐项回应体验问题。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17ADD30-E09E-48F4-A1B9-DF386F1C1FDF}"/>
              </a:ext>
            </a:extLst>
          </p:cNvPr>
          <p:cNvSpPr>
            <a:spLocks noGrp="1"/>
          </p:cNvSpPr>
          <p:nvPr/>
        </p:nvSpPr>
        <p:spPr>
          <a:xfrm>
            <a:off x="571500" y="54768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5条反馈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4824833-07CF-483E-9BF6-8F5D0611BD97}"/>
              </a:ext>
            </a:extLst>
          </p:cNvPr>
          <p:cNvSpPr>
            <a:spLocks noGrp="1"/>
          </p:cNvSpPr>
          <p:nvPr/>
        </p:nvSpPr>
        <p:spPr>
          <a:xfrm>
            <a:off x="571500" y="593407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用户体验问题与改善记录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7FEFDBA-CC50-4AAE-8E5B-92653D58FE79}"/>
              </a:ext>
            </a:extLst>
          </p:cNvPr>
          <p:cNvSpPr>
            <a:spLocks noGrp="1"/>
          </p:cNvSpPr>
          <p:nvPr/>
        </p:nvSpPr>
        <p:spPr>
          <a:xfrm>
            <a:off x="3333750" y="54768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4个日期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0E4F6A7-686B-44FF-821B-57645C0A94C3}"/>
              </a:ext>
            </a:extLst>
          </p:cNvPr>
          <p:cNvSpPr>
            <a:spLocks noGrp="1"/>
          </p:cNvSpPr>
          <p:nvPr/>
        </p:nvSpPr>
        <p:spPr>
          <a:xfrm>
            <a:off x="3333750" y="5934075"/>
            <a:ext cx="2667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8/8、8/23、8/24、8/25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3824B5C-B3E9-49FE-81A2-23B4ABB380D2}"/>
              </a:ext>
            </a:extLst>
          </p:cNvPr>
          <p:cNvSpPr>
            <a:spLocks noGrp="1"/>
          </p:cNvSpPr>
          <p:nvPr/>
        </p:nvSpPr>
        <p:spPr>
          <a:xfrm>
            <a:off x="6858000" y="5476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三段闭环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D5F835-1C33-4C16-A5A9-05B8F1208229}"/>
              </a:ext>
            </a:extLst>
          </p:cNvPr>
          <p:cNvSpPr>
            <a:spLocks noGrp="1"/>
          </p:cNvSpPr>
          <p:nvPr/>
        </p:nvSpPr>
        <p:spPr>
          <a:xfrm>
            <a:off x="6858000" y="5934075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用户问题 → 团队修改 → 体验改善</a:t>
            </a:r>
          </a:p>
        </p:txBody>
      </p:sp>
      <p:graphicFrame>
        <p:nvGraphicFramePr>
          <p:cNvPr id="107" name="表格 106"/>
          <p:cNvGraphicFramePr/>
          <p:nvPr/>
        </p:nvGraphicFramePr>
        <p:xfrm>
          <a:off x="571500" y="1571625"/>
          <a:ext cx="11049000" cy="3695700"/>
        </p:xfrm>
        <a:graphic>
          <a:graphicData uri="http://schemas.openxmlformats.org/drawingml/2006/table">
            <a:tbl>
              <a:tblPr/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日期 / 主题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用户测评提出的问题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项目组修改解决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用户体验改善（定性）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8/8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AI回答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回答不规范、条理不清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关键结论被无关内容淹没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调研提示词设计并形成文档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重做PID提示词与输出格式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关键信息更清晰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回答更规范、可控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8/23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界面布局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元素多、功能分散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首次上手需要反复摸索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重构波形、数据与调参区布局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保持波形可见；补充指南与评审文档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操作路径更直观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日常使用更顺手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8/24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调参稳定性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调参偶发异常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担心稳定性，不敢依赖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将PID调参从大界面拆为独立模块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梳理逻辑，便于排查和维护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反馈称行为更稳定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使用安心感提升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8/25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自动调参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AI只给建议，试参仍靠手工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担心乱设参数损坏设备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上线对话式智能体与参数护栏、回退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修复归一化、串级映射等4类问题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减少手工反复试参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可随时插话纠偏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8/25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安装交付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开发版环境配置繁琐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文档分散，不知道如何使用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发布v1.1.0安装包与开源协议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配套使用、嵌入式和开发者文档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双击安装即可体验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使用与对接有据可查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28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>
            <a:extLst>
              <a:ext uri="{FF2B5EF4-FFF2-40B4-BE49-F238E27FC236}">
                <a16:creationId xmlns:a16="http://schemas.microsoft.com/office/drawing/2014/main" id="{4265000B-38D5-4622-B02F-49DA43A545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622D43EC-7C8B-4CDF-AD46-AE25AB326EEB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主动性 A｜识别三大阻碍：原计划为什么走不通</a:t>
            </a:r>
            <a:endParaRPr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AA68767B-722D-4357-9530-89F5A3B208BC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647141CA-A26E-4169-B2A7-AF7C798B5D6B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原计划：项目计划.md；更新证据：用户测评与修改记录.md、问题反馈.md与当前硬件链路状态。</a:t>
            </a:r>
            <a:endParaRPr/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D828D73C-71B8-41DB-A79C-F8C2897DC151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06 / 20</a:t>
            </a:r>
            <a:endParaRPr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76995635-9E99-46D0-A576-D299423C55B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真正的破局不是叠加功能，而是重新选择证据、验证顺序与交付方式。</a:t>
            </a:r>
          </a:p>
        </p:txBody>
      </p:sp>
      <p:graphicFrame>
        <p:nvGraphicFramePr>
          <p:cNvPr id="337" name="表格 336"/>
          <p:cNvGraphicFramePr/>
          <p:nvPr/>
        </p:nvGraphicFramePr>
        <p:xfrm>
          <a:off x="571500" y="1781175"/>
          <a:ext cx="11049000" cy="311467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669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三大原始挑战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原计划 / 原有方案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暴露的约束与转向理由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量化测评不足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依靠问卷、访谈与竞赛同学反馈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逐步验证需求与付费意愿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已有12份深访＋5条体验反馈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人数与量化结果仍未单列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AI上下文失真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以单次波形解释辅助人工调参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由用户确认参数并继续试验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只看局部数据难以建立完整上下文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一次回答不能替代连续试验与反馈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硬件联调受阻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按阶段推进至真实硬件闭环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计划开展实物自动调参验证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采集、SET_POINT已可用</a:t>
                      </a:r>
                    </a:p>
                    <a:p>
                      <a:r>
                        <a:rPr sz="142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PID / 前馈参数写回尚未完整闭环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8" name="矩形 327">
            <a:extLst>
              <a:ext uri="{FF2B5EF4-FFF2-40B4-BE49-F238E27FC236}">
                <a16:creationId xmlns:a16="http://schemas.microsoft.com/office/drawing/2014/main" id="{5CCFBE14-E397-4A75-92B8-62D2EB0FD2A8}"/>
              </a:ext>
            </a:extLst>
          </p:cNvPr>
          <p:cNvSpPr>
            <a:spLocks noGrp="1"/>
          </p:cNvSpPr>
          <p:nvPr/>
        </p:nvSpPr>
        <p:spPr>
          <a:xfrm>
            <a:off x="571500" y="51816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主动选择的优先级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AB36AFB6-6522-43B8-A968-C3695FCF7CCF}"/>
              </a:ext>
            </a:extLst>
          </p:cNvPr>
          <p:cNvSpPr>
            <a:spLocks noGrp="1"/>
          </p:cNvSpPr>
          <p:nvPr/>
        </p:nvSpPr>
        <p:spPr>
          <a:xfrm>
            <a:off x="571500" y="557212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以5条反馈推动产品迭代，再用可追溯的量化复测与真实硬件联调，检验体验改善和应用价值。</a:t>
            </a:r>
          </a:p>
        </p:txBody>
      </p:sp>
    </p:spTree>
    <p:extLst>
      <p:ext uri="{BB962C8B-B14F-4D97-AF65-F5344CB8AC3E}">
        <p14:creationId xmlns:p14="http://schemas.microsoft.com/office/powerpoint/2010/main" val="116751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矩形 326">
            <a:extLst>
              <a:ext uri="{FF2B5EF4-FFF2-40B4-BE49-F238E27FC236}">
                <a16:creationId xmlns:a16="http://schemas.microsoft.com/office/drawing/2014/main" id="{028C408C-08BE-4548-873F-68C260F44D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33A8D62B-ABDD-4BDC-93E1-0FDD5C13CF48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主动性 B｜改变路径，用可见证据证明破局行动</a:t>
            </a:r>
            <a:endParaRPr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1827D7AD-1995-4995-BBD5-89EECE24C8E1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43" name="文本框 342">
            <a:extLst>
              <a:ext uri="{FF2B5EF4-FFF2-40B4-BE49-F238E27FC236}">
                <a16:creationId xmlns:a16="http://schemas.microsoft.com/office/drawing/2014/main" id="{E0EFD2D4-AE12-4006-966D-4A2A78F14AFF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证据：Git记录、运行界面与5条用户测评反馈；诊断有效率为既有记录，不作为新增硬件测评结果。</a:t>
            </a:r>
            <a:endParaRPr/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D8FEFA56-222D-4862-AAEC-324F2ACFFF7F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07 / 20</a:t>
            </a:r>
            <a:endParaRPr/>
          </a:p>
        </p:txBody>
      </p:sp>
      <p:graphicFrame>
        <p:nvGraphicFramePr>
          <p:cNvPr id="362" name="表格 361"/>
          <p:cNvGraphicFramePr/>
          <p:nvPr/>
        </p:nvGraphicFramePr>
        <p:xfrm>
          <a:off x="571500" y="1152525"/>
          <a:ext cx="11049000" cy="1866900"/>
        </p:xfrm>
        <a:graphic>
          <a:graphicData uri="http://schemas.openxmlformats.org/drawingml/2006/table">
            <a:tbl>
              <a:tblPr/>
              <a:tblGrid>
                <a:gridCol w="52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与原计划相比，主动改变了什么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行动与交付结果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单轮解释 → 有上下文的工具调用闭环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8/7开展 Harness 研究；8/25形成PID Agent与发布文档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先等实物 → 先做低成本仿真验证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沉淀51份波形资产、12项自测；真实参数写回继续补齐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团队内部演示 → 可安装、可复用的开放交付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v1.1.0安装包、MIT许可与文档；反馈记录称安装上手更容易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6" name="矩形 345">
            <a:extLst>
              <a:ext uri="{FF2B5EF4-FFF2-40B4-BE49-F238E27FC236}">
                <a16:creationId xmlns:a16="http://schemas.microsoft.com/office/drawing/2014/main" id="{383BDE7E-B99E-4E21-8009-A999007AE176}"/>
              </a:ext>
            </a:extLst>
          </p:cNvPr>
          <p:cNvSpPr>
            <a:spLocks noGrp="1"/>
          </p:cNvSpPr>
          <p:nvPr/>
        </p:nvSpPr>
        <p:spPr>
          <a:xfrm>
            <a:off x="571500" y="3209925"/>
            <a:ext cx="52387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真实行动证据｜Git提交时间线</a:t>
            </a:r>
          </a:p>
        </p:txBody>
      </p:sp>
      <p:pic>
        <p:nvPicPr>
          <p:cNvPr id="364" name="图片 36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3648989"/>
            <a:ext cx="5286375" cy="2046048"/>
          </a:xfrm>
          <a:prstGeom prst="rect">
            <a:avLst/>
          </a:prstGeom>
        </p:spPr>
      </p:pic>
      <p:sp>
        <p:nvSpPr>
          <p:cNvPr id="348" name="矩形 347">
            <a:extLst>
              <a:ext uri="{FF2B5EF4-FFF2-40B4-BE49-F238E27FC236}">
                <a16:creationId xmlns:a16="http://schemas.microsoft.com/office/drawing/2014/main" id="{911C6A46-1447-46BD-9B95-D4E364706F33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8/7：研究 → 8/24：解耦 → 8/25：Agent、文档与安装包</a:t>
            </a: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174B245A-B060-41F7-802C-979A5C0F6A4C}"/>
              </a:ext>
            </a:extLst>
          </p:cNvPr>
          <p:cNvSpPr>
            <a:spLocks noGrp="1"/>
          </p:cNvSpPr>
          <p:nvPr/>
        </p:nvSpPr>
        <p:spPr>
          <a:xfrm>
            <a:off x="6238875" y="3209925"/>
            <a:ext cx="53816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行动前后｜诊断有效率与实际运行界面</a:t>
            </a:r>
          </a:p>
        </p:txBody>
      </p:sp>
      <p:graphicFrame>
        <p:nvGraphicFramePr>
          <p:cNvPr id="367" name="Chart"/>
          <p:cNvGraphicFramePr/>
          <p:nvPr/>
        </p:nvGraphicFramePr>
        <p:xfrm>
          <a:off x="6191250" y="3552825"/>
          <a:ext cx="2428875" cy="201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68" name="图片 36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19155" y="3600450"/>
            <a:ext cx="2592816" cy="1895475"/>
          </a:xfrm>
          <a:prstGeom prst="rect">
            <a:avLst/>
          </a:prstGeom>
        </p:spPr>
      </p:pic>
      <p:sp>
        <p:nvSpPr>
          <p:cNvPr id="352" name="矩形 351">
            <a:extLst>
              <a:ext uri="{FF2B5EF4-FFF2-40B4-BE49-F238E27FC236}">
                <a16:creationId xmlns:a16="http://schemas.microsoft.com/office/drawing/2014/main" id="{FBD7142F-5C88-42B7-B119-F9390D6B0AE0}"/>
              </a:ext>
            </a:extLst>
          </p:cNvPr>
          <p:cNvSpPr>
            <a:spLocks noGrp="1"/>
          </p:cNvSpPr>
          <p:nvPr/>
        </p:nvSpPr>
        <p:spPr>
          <a:xfrm>
            <a:off x="6238875" y="5753100"/>
            <a:ext cx="5381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050" b="0">
                <a:solidFill>
                  <a:srgbClr val="53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7"/>
                </a:solidFill>
                <a:latin typeface="Arial"/>
                <a:ea typeface="Arial"/>
                <a:cs typeface="Arial"/>
              </a:rPr>
              <a:t>有效率改善＋45个百分点；右侧为真实PID仿真界面</a:t>
            </a:r>
          </a:p>
        </p:txBody>
      </p:sp>
    </p:spTree>
    <p:extLst>
      <p:ext uri="{BB962C8B-B14F-4D97-AF65-F5344CB8AC3E}">
        <p14:creationId xmlns:p14="http://schemas.microsoft.com/office/powerpoint/2010/main" val="2097916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345">
            <a:extLst>
              <a:ext uri="{FF2B5EF4-FFF2-40B4-BE49-F238E27FC236}">
                <a16:creationId xmlns:a16="http://schemas.microsoft.com/office/drawing/2014/main" id="{989F02E8-8F15-4E18-96C8-BAF08C1D39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C6C15010-B46A-489D-9F05-FC05DDD2DF00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应对上下文失真与硬件风险：预设底线＋触发＋降级</a:t>
            </a:r>
            <a:endParaRPr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B2D59D1C-AD63-4A07-B611-572780F07BEF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39CD4FA0-537B-4C69-B39C-0E1BCF1CEFC5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086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61F32"/>
                </a:solidFill>
                <a:latin typeface="Arial"/>
                <a:ea typeface="Arial"/>
                <a:cs typeface="Arial"/>
              </a:rPr>
              <a:t>三要素</a:t>
            </a:r>
            <a:endParaRPr/>
          </a:p>
        </p:txBody>
      </p: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DEA6278F-1FA4-4671-9FFF-EFD04B7D445E}"/>
              </a:ext>
            </a:extLst>
          </p:cNvPr>
          <p:cNvSpPr>
            <a:spLocks noGrp="1"/>
          </p:cNvSpPr>
          <p:nvPr/>
        </p:nvSpPr>
        <p:spPr>
          <a:xfrm>
            <a:off x="571500" y="2295525"/>
            <a:ext cx="508635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79" name="图形 3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2438400"/>
            <a:ext cx="285750" cy="285750"/>
          </a:xfrm>
          <a:prstGeom prst="rect">
            <a:avLst/>
          </a:prstGeom>
        </p:spPr>
      </p:pic>
      <p:sp>
        <p:nvSpPr>
          <p:cNvPr id="352" name="文本框 351">
            <a:extLst>
              <a:ext uri="{FF2B5EF4-FFF2-40B4-BE49-F238E27FC236}">
                <a16:creationId xmlns:a16="http://schemas.microsoft.com/office/drawing/2014/main" id="{484458AF-4B42-4A3B-952E-88337D850231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4343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预设底线</a:t>
            </a:r>
            <a:endParaRPr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31990703-B73D-431E-A420-925DF50AAABD}"/>
              </a:ext>
            </a:extLst>
          </p:cNvPr>
          <p:cNvSpPr>
            <a:spLocks noGrp="1"/>
          </p:cNvSpPr>
          <p:nvPr/>
        </p:nvSpPr>
        <p:spPr>
          <a:xfrm>
            <a:off x="1143000" y="2695575"/>
            <a:ext cx="434340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反馈不足 5 份→备选招募；Kp 超过 20 或超范围→护栏裁剪+单步增幅拦截</a:t>
            </a:r>
            <a:endParaRPr/>
          </a:p>
        </p:txBody>
      </p:sp>
      <p:sp>
        <p:nvSpPr>
          <p:cNvPr id="354" name="矩形: 圆角 353">
            <a:extLst>
              <a:ext uri="{FF2B5EF4-FFF2-40B4-BE49-F238E27FC236}">
                <a16:creationId xmlns:a16="http://schemas.microsoft.com/office/drawing/2014/main" id="{162D6E81-188C-447A-8622-48B3E166FEFA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508635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83" name="图形 3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4048125"/>
            <a:ext cx="285750" cy="285750"/>
          </a:xfrm>
          <a:prstGeom prst="rect">
            <a:avLst/>
          </a:prstGeom>
        </p:spPr>
      </p:pic>
      <p:sp>
        <p:nvSpPr>
          <p:cNvPr id="356" name="文本框 355">
            <a:extLst>
              <a:ext uri="{FF2B5EF4-FFF2-40B4-BE49-F238E27FC236}">
                <a16:creationId xmlns:a16="http://schemas.microsoft.com/office/drawing/2014/main" id="{9CADC4A5-1F1D-488C-96AF-3D9944C28A10}"/>
              </a:ext>
            </a:extLst>
          </p:cNvPr>
          <p:cNvSpPr>
            <a:spLocks noGrp="1"/>
          </p:cNvSpPr>
          <p:nvPr/>
        </p:nvSpPr>
        <p:spPr>
          <a:xfrm>
            <a:off x="1162050" y="4048125"/>
            <a:ext cx="38195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触发与执行</a:t>
            </a:r>
            <a:endParaRPr/>
          </a:p>
        </p:txBody>
      </p:sp>
      <p:sp>
        <p:nvSpPr>
          <p:cNvPr id="357" name="文本框 356">
            <a:extLst>
              <a:ext uri="{FF2B5EF4-FFF2-40B4-BE49-F238E27FC236}">
                <a16:creationId xmlns:a16="http://schemas.microsoft.com/office/drawing/2014/main" id="{63AB34A1-1931-4F18-B963-FCCE13C217B8}"/>
              </a:ext>
            </a:extLst>
          </p:cNvPr>
          <p:cNvSpPr>
            <a:spLocks noGrp="1"/>
          </p:cNvSpPr>
          <p:nvPr/>
        </p:nvSpPr>
        <p:spPr>
          <a:xfrm>
            <a:off x="1162050" y="4305300"/>
            <a:ext cx="38195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数据超过 50KB→上下文自动压缩；硬件超期→降级路径切换</a:t>
            </a:r>
            <a:endParaRPr/>
          </a:p>
        </p:txBody>
      </p:sp>
      <p:sp>
        <p:nvSpPr>
          <p:cNvPr id="358" name="矩形: 圆角 357">
            <a:extLst>
              <a:ext uri="{FF2B5EF4-FFF2-40B4-BE49-F238E27FC236}">
                <a16:creationId xmlns:a16="http://schemas.microsoft.com/office/drawing/2014/main" id="{8835675E-911B-486F-B2AF-9353CC7DCE39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508635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387" name="图形 3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5648325"/>
            <a:ext cx="285750" cy="285750"/>
          </a:xfrm>
          <a:prstGeom prst="rect">
            <a:avLst/>
          </a:prstGeom>
        </p:spPr>
      </p:pic>
      <p:sp>
        <p:nvSpPr>
          <p:cNvPr id="360" name="文本框 359">
            <a:extLst>
              <a:ext uri="{FF2B5EF4-FFF2-40B4-BE49-F238E27FC236}">
                <a16:creationId xmlns:a16="http://schemas.microsoft.com/office/drawing/2014/main" id="{7262EC38-6F47-47DB-933D-B5ED130D142C}"/>
              </a:ext>
            </a:extLst>
          </p:cNvPr>
          <p:cNvSpPr>
            <a:spLocks noGrp="1"/>
          </p:cNvSpPr>
          <p:nvPr/>
        </p:nvSpPr>
        <p:spPr>
          <a:xfrm>
            <a:off x="1162050" y="5648325"/>
            <a:ext cx="3209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降级路径</a:t>
            </a:r>
            <a:endParaRPr/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2AD0277A-E767-49C8-B62E-92BF42919787}"/>
              </a:ext>
            </a:extLst>
          </p:cNvPr>
          <p:cNvSpPr>
            <a:spLocks noGrp="1"/>
          </p:cNvSpPr>
          <p:nvPr/>
        </p:nvSpPr>
        <p:spPr>
          <a:xfrm>
            <a:off x="1162050" y="5905500"/>
            <a:ext cx="32099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仿真验收 + 通信层/指令集就绪，结题交付不受阻塞</a:t>
            </a:r>
            <a:endParaRPr/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59341087-59D4-4525-AA3B-9C79E93E762D}"/>
              </a:ext>
            </a:extLst>
          </p:cNvPr>
          <p:cNvSpPr>
            <a:spLocks noGrp="1"/>
          </p:cNvSpPr>
          <p:nvPr/>
        </p:nvSpPr>
        <p:spPr>
          <a:xfrm>
            <a:off x="6000750" y="1181100"/>
            <a:ext cx="56197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8A6F6"/>
                </a:solidFill>
                <a:latin typeface="Arial"/>
                <a:ea typeface="Arial"/>
                <a:cs typeface="Arial"/>
              </a:rPr>
              <a:t>真实案例（已触发）</a:t>
            </a:r>
            <a:endParaRPr/>
          </a:p>
        </p:txBody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275ED199-4CD5-4EFF-BDD8-0A5324F1D077}"/>
              </a:ext>
            </a:extLst>
          </p:cNvPr>
          <p:cNvSpPr>
            <a:spLocks noGrp="1"/>
          </p:cNvSpPr>
          <p:nvPr/>
        </p:nvSpPr>
        <p:spPr>
          <a:xfrm>
            <a:off x="6000750" y="1409700"/>
            <a:ext cx="5657850" cy="2409825"/>
          </a:xfrm>
          <a:custGeom>
            <a:avLst/>
            <a:gdLst/>
            <a:ahLst/>
            <a:cxnLst/>
            <a:rect l="0" t="0" r="0" b="0"/>
            <a:pathLst>
              <a:path w="594" h="253">
                <a:moveTo>
                  <a:pt x="0" y="0"/>
                </a:moveTo>
                <a:lnTo>
                  <a:pt x="4" y="0"/>
                </a:lnTo>
                <a:lnTo>
                  <a:pt x="4" y="253"/>
                </a:lnTo>
                <a:lnTo>
                  <a:pt x="0" y="25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F5E6351D-9E1E-4AFB-8E64-850472564AF9}"/>
              </a:ext>
            </a:extLst>
          </p:cNvPr>
          <p:cNvSpPr>
            <a:spLocks noGrp="1"/>
          </p:cNvSpPr>
          <p:nvPr/>
        </p:nvSpPr>
        <p:spPr>
          <a:xfrm>
            <a:off x="6210300" y="2181225"/>
            <a:ext cx="54102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案例 A · 开发期</a:t>
            </a:r>
            <a:endParaRPr/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3FA09E97-4955-4222-BC5F-9410681E7E5D}"/>
              </a:ext>
            </a:extLst>
          </p:cNvPr>
          <p:cNvSpPr>
            <a:spLocks noGrp="1"/>
          </p:cNvSpPr>
          <p:nvPr/>
        </p:nvSpPr>
        <p:spPr>
          <a:xfrm>
            <a:off x="6210300" y="2505075"/>
            <a:ext cx="5410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AI 上下文过长→诊断失真→触发“上下文压缩”熔断（阈值 50KB、仅压数据块、保留尾部 3 条）→ 对话恢复聚焦。数据：compaction.mjs</a:t>
            </a:r>
            <a:endParaRPr/>
          </a:p>
        </p:txBody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831B578-A3C3-414F-A9C6-0AD2FD254F5A}"/>
              </a:ext>
            </a:extLst>
          </p:cNvPr>
          <p:cNvSpPr>
            <a:spLocks noGrp="1"/>
          </p:cNvSpPr>
          <p:nvPr/>
        </p:nvSpPr>
        <p:spPr>
          <a:xfrm>
            <a:off x="6000750" y="3819525"/>
            <a:ext cx="5657850" cy="2400300"/>
          </a:xfrm>
          <a:custGeom>
            <a:avLst/>
            <a:gdLst/>
            <a:ahLst/>
            <a:cxnLst/>
            <a:rect l="0" t="0" r="0" b="0"/>
            <a:pathLst>
              <a:path w="594" h="252">
                <a:moveTo>
                  <a:pt x="0" y="0"/>
                </a:moveTo>
                <a:lnTo>
                  <a:pt x="4" y="0"/>
                </a:lnTo>
                <a:lnTo>
                  <a:pt x="4" y="252"/>
                </a:lnTo>
                <a:lnTo>
                  <a:pt x="0" y="252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DC5B3AE7-A412-4C99-B9EB-77722816DAD0}"/>
              </a:ext>
            </a:extLst>
          </p:cNvPr>
          <p:cNvSpPr>
            <a:spLocks noGrp="1"/>
          </p:cNvSpPr>
          <p:nvPr/>
        </p:nvSpPr>
        <p:spPr>
          <a:xfrm>
            <a:off x="6210300" y="4581525"/>
            <a:ext cx="54102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案例 B · 计划期</a:t>
            </a:r>
            <a:endParaRPr/>
          </a:p>
        </p:txBody>
      </p:sp>
      <p:sp>
        <p:nvSpPr>
          <p:cNvPr id="368" name="文本框 367">
            <a:extLst>
              <a:ext uri="{FF2B5EF4-FFF2-40B4-BE49-F238E27FC236}">
                <a16:creationId xmlns:a16="http://schemas.microsoft.com/office/drawing/2014/main" id="{A0251E97-5C52-4756-A1EF-E3E762E0F26E}"/>
              </a:ext>
            </a:extLst>
          </p:cNvPr>
          <p:cNvSpPr>
            <a:spLocks noGrp="1"/>
          </p:cNvSpPr>
          <p:nvPr/>
        </p:nvSpPr>
        <p:spPr>
          <a:xfrm>
            <a:off x="6210300" y="4905375"/>
            <a:ext cx="5410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中期“8/3 完成硬件联调”未达成→触发计划降级熔断→改为三策略仿真线上实测 + 通信层/指令集就绪→结题交付不受阻塞</a:t>
            </a:r>
            <a:endParaRPr/>
          </a:p>
        </p:txBody>
      </p:sp>
      <p:sp>
        <p:nvSpPr>
          <p:cNvPr id="369" name="文本框 368">
            <a:extLst>
              <a:ext uri="{FF2B5EF4-FFF2-40B4-BE49-F238E27FC236}">
                <a16:creationId xmlns:a16="http://schemas.microsoft.com/office/drawing/2014/main" id="{C19B18A2-A19C-4612-BAE1-1838647EEF94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承接破局行动：以熔断与人工确认约束AI上下文失真和硬件联调风险；机制、案例与时间戳证据保持原记录。</a:t>
            </a:r>
            <a:endParaRPr/>
          </a:p>
        </p:txBody>
      </p:sp>
      <p:sp>
        <p:nvSpPr>
          <p:cNvPr id="370" name="文本框 369">
            <a:extLst>
              <a:ext uri="{FF2B5EF4-FFF2-40B4-BE49-F238E27FC236}">
                <a16:creationId xmlns:a16="http://schemas.microsoft.com/office/drawing/2014/main" id="{9232EC01-849B-4680-9B5F-AEB371471890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08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530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矩形 371">
            <a:extLst>
              <a:ext uri="{FF2B5EF4-FFF2-40B4-BE49-F238E27FC236}">
                <a16:creationId xmlns:a16="http://schemas.microsoft.com/office/drawing/2014/main" id="{DDB9DBC0-4143-48B1-B8EA-F3C9959DEC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7DA41FB7-CB78-4C7E-9A28-C3BF0B29D561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时间戳证据链：预警→决策→回升，0 次线上事故</a:t>
            </a:r>
            <a:endParaRPr/>
          </a:p>
        </p:txBody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AE3C4D62-3B90-4D1C-A618-638DE2A9021D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75" name="矩形: 圆角 374">
            <a:extLst>
              <a:ext uri="{FF2B5EF4-FFF2-40B4-BE49-F238E27FC236}">
                <a16:creationId xmlns:a16="http://schemas.microsoft.com/office/drawing/2014/main" id="{CC7CA85B-50A8-42CB-8715-E3CF49839C30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609975" cy="1238250"/>
          </a:xfrm>
          <a:prstGeom prst="roundRect">
            <a:avLst>
              <a:gd name="adj" fmla="val 615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CAF89CD9-7895-4916-BB5F-C995D60E60A8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609975" cy="1238250"/>
          </a:xfrm>
          <a:custGeom>
            <a:avLst/>
            <a:gdLst/>
            <a:ahLst/>
            <a:cxnLst/>
            <a:rect l="0" t="0" r="0" b="0"/>
            <a:pathLst>
              <a:path w="379" h="130">
                <a:moveTo>
                  <a:pt x="371" y="0"/>
                </a:moveTo>
                <a:cubicBezTo>
                  <a:pt x="375" y="0"/>
                  <a:pt x="378" y="3"/>
                  <a:pt x="379" y="7"/>
                </a:cubicBezTo>
                <a:cubicBezTo>
                  <a:pt x="378" y="5"/>
                  <a:pt x="377" y="4"/>
                  <a:pt x="375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71" y="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7EAD124B-6638-4FF4-9372-29398F058FB2}"/>
              </a:ext>
            </a:extLst>
          </p:cNvPr>
          <p:cNvSpPr>
            <a:spLocks noGrp="1"/>
          </p:cNvSpPr>
          <p:nvPr/>
        </p:nvSpPr>
        <p:spPr>
          <a:xfrm>
            <a:off x="762000" y="1390650"/>
            <a:ext cx="32289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预警 · 诊断 40%</a:t>
            </a:r>
            <a:endParaRPr/>
          </a:p>
        </p:txBody>
      </p:sp>
      <p:sp>
        <p:nvSpPr>
          <p:cNvPr id="378" name="文本框 377">
            <a:extLst>
              <a:ext uri="{FF2B5EF4-FFF2-40B4-BE49-F238E27FC236}">
                <a16:creationId xmlns:a16="http://schemas.microsoft.com/office/drawing/2014/main" id="{A3355F92-1188-4782-A550-30D81988A801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32289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PID 仿真震荡 + AI 上下文失真，诊断有效率跌至 40%</a:t>
            </a:r>
            <a:endParaRPr/>
          </a:p>
        </p:txBody>
      </p:sp>
      <p:sp>
        <p:nvSpPr>
          <p:cNvPr id="379" name="矩形: 圆角 378">
            <a:extLst>
              <a:ext uri="{FF2B5EF4-FFF2-40B4-BE49-F238E27FC236}">
                <a16:creationId xmlns:a16="http://schemas.microsoft.com/office/drawing/2014/main" id="{ACF3EF2B-2683-41B7-8051-C286C3B5DA0E}"/>
              </a:ext>
            </a:extLst>
          </p:cNvPr>
          <p:cNvSpPr>
            <a:spLocks noGrp="1"/>
          </p:cNvSpPr>
          <p:nvPr/>
        </p:nvSpPr>
        <p:spPr>
          <a:xfrm>
            <a:off x="4295775" y="1219200"/>
            <a:ext cx="3600450" cy="1238250"/>
          </a:xfrm>
          <a:prstGeom prst="roundRect">
            <a:avLst>
              <a:gd name="adj" fmla="val 615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369A3D0D-ECAD-4603-87BC-6D13FD3A1246}"/>
              </a:ext>
            </a:extLst>
          </p:cNvPr>
          <p:cNvSpPr>
            <a:spLocks noGrp="1"/>
          </p:cNvSpPr>
          <p:nvPr/>
        </p:nvSpPr>
        <p:spPr>
          <a:xfrm>
            <a:off x="4295775" y="1219200"/>
            <a:ext cx="3600450" cy="1238250"/>
          </a:xfrm>
          <a:custGeom>
            <a:avLst/>
            <a:gdLst/>
            <a:ahLst/>
            <a:cxnLst/>
            <a:rect l="0" t="0" r="0" b="0"/>
            <a:pathLst>
              <a:path w="378" h="130">
                <a:moveTo>
                  <a:pt x="370" y="0"/>
                </a:moveTo>
                <a:cubicBezTo>
                  <a:pt x="374" y="0"/>
                  <a:pt x="377" y="3"/>
                  <a:pt x="378" y="7"/>
                </a:cubicBezTo>
                <a:cubicBezTo>
                  <a:pt x="377" y="5"/>
                  <a:pt x="376" y="4"/>
                  <a:pt x="374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70" y="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466BA8D0-7E82-4520-BD74-31BBB819715B}"/>
              </a:ext>
            </a:extLst>
          </p:cNvPr>
          <p:cNvSpPr>
            <a:spLocks noGrp="1"/>
          </p:cNvSpPr>
          <p:nvPr/>
        </p:nvSpPr>
        <p:spPr>
          <a:xfrm>
            <a:off x="4486275" y="1390650"/>
            <a:ext cx="3219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决策 · 引入护栏+压缩</a:t>
            </a:r>
            <a:endParaRPr/>
          </a:p>
        </p:txBody>
      </p:sp>
      <p:sp>
        <p:nvSpPr>
          <p:cNvPr id="382" name="文本框 381">
            <a:extLst>
              <a:ext uri="{FF2B5EF4-FFF2-40B4-BE49-F238E27FC236}">
                <a16:creationId xmlns:a16="http://schemas.microsoft.com/office/drawing/2014/main" id="{BDCD54B0-9EF2-4C9C-953B-23C237222137}"/>
              </a:ext>
            </a:extLst>
          </p:cNvPr>
          <p:cNvSpPr>
            <a:spLocks noGrp="1"/>
          </p:cNvSpPr>
          <p:nvPr/>
        </p:nvSpPr>
        <p:spPr>
          <a:xfrm>
            <a:off x="4486275" y="1695450"/>
            <a:ext cx="32194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2026/07/23–24 问题反馈.md 记录：加参数安全边界 + 自动回退 + 上下文压缩</a:t>
            </a:r>
            <a:endParaRPr/>
          </a:p>
        </p:txBody>
      </p:sp>
      <p:sp>
        <p:nvSpPr>
          <p:cNvPr id="383" name="矩形: 圆角 382">
            <a:extLst>
              <a:ext uri="{FF2B5EF4-FFF2-40B4-BE49-F238E27FC236}">
                <a16:creationId xmlns:a16="http://schemas.microsoft.com/office/drawing/2014/main" id="{B0C75B47-CAB1-47C8-A30C-CE82DEE108D3}"/>
              </a:ext>
            </a:extLst>
          </p:cNvPr>
          <p:cNvSpPr>
            <a:spLocks noGrp="1"/>
          </p:cNvSpPr>
          <p:nvPr/>
        </p:nvSpPr>
        <p:spPr>
          <a:xfrm>
            <a:off x="8010525" y="1219200"/>
            <a:ext cx="3609975" cy="1238250"/>
          </a:xfrm>
          <a:prstGeom prst="roundRect">
            <a:avLst>
              <a:gd name="adj" fmla="val 615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06F5B389-C87C-443C-A7CF-C12E504C36A4}"/>
              </a:ext>
            </a:extLst>
          </p:cNvPr>
          <p:cNvSpPr>
            <a:spLocks noGrp="1"/>
          </p:cNvSpPr>
          <p:nvPr/>
        </p:nvSpPr>
        <p:spPr>
          <a:xfrm>
            <a:off x="8010525" y="1219200"/>
            <a:ext cx="3609975" cy="1238250"/>
          </a:xfrm>
          <a:custGeom>
            <a:avLst/>
            <a:gdLst/>
            <a:ahLst/>
            <a:cxnLst/>
            <a:rect l="0" t="0" r="0" b="0"/>
            <a:pathLst>
              <a:path w="379" h="130">
                <a:moveTo>
                  <a:pt x="371" y="0"/>
                </a:moveTo>
                <a:cubicBezTo>
                  <a:pt x="375" y="0"/>
                  <a:pt x="378" y="3"/>
                  <a:pt x="379" y="7"/>
                </a:cubicBezTo>
                <a:cubicBezTo>
                  <a:pt x="378" y="5"/>
                  <a:pt x="377" y="4"/>
                  <a:pt x="375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71" y="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19A5350C-149D-4F70-975B-571E3A95377E}"/>
              </a:ext>
            </a:extLst>
          </p:cNvPr>
          <p:cNvSpPr>
            <a:spLocks noGrp="1"/>
          </p:cNvSpPr>
          <p:nvPr/>
        </p:nvSpPr>
        <p:spPr>
          <a:xfrm>
            <a:off x="8201025" y="1390650"/>
            <a:ext cx="32289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回升 · 诊断 85%</a:t>
            </a:r>
            <a:endParaRPr/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36364983-517E-41FE-9C3B-486D48EF115B}"/>
              </a:ext>
            </a:extLst>
          </p:cNvPr>
          <p:cNvSpPr>
            <a:spLocks noGrp="1"/>
          </p:cNvSpPr>
          <p:nvPr/>
        </p:nvSpPr>
        <p:spPr>
          <a:xfrm>
            <a:off x="8201025" y="1695450"/>
            <a:ext cx="32289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调参 Agent 安全回退自动触发正常，结题三策略实测通过</a:t>
            </a:r>
            <a:endParaRPr/>
          </a:p>
        </p:txBody>
      </p:sp>
      <p:sp>
        <p:nvSpPr>
          <p:cNvPr id="387" name="矩形: 圆角 386">
            <a:extLst>
              <a:ext uri="{FF2B5EF4-FFF2-40B4-BE49-F238E27FC236}">
                <a16:creationId xmlns:a16="http://schemas.microsoft.com/office/drawing/2014/main" id="{0091FB05-33EC-4168-812F-D2889AC21A67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3552825" cy="714375"/>
          </a:xfrm>
          <a:prstGeom prst="roundRect">
            <a:avLst>
              <a:gd name="adj" fmla="val 10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pic>
        <p:nvPicPr>
          <p:cNvPr id="420" name="图形 38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5724525"/>
            <a:ext cx="285750" cy="285750"/>
          </a:xfrm>
          <a:prstGeom prst="rect">
            <a:avLst/>
          </a:prstGeom>
        </p:spPr>
      </p:pic>
      <p:sp>
        <p:nvSpPr>
          <p:cNvPr id="389" name="文本框 388">
            <a:extLst>
              <a:ext uri="{FF2B5EF4-FFF2-40B4-BE49-F238E27FC236}">
                <a16:creationId xmlns:a16="http://schemas.microsoft.com/office/drawing/2014/main" id="{7BC26ABF-22BB-4C93-88C8-5432BA34A75F}"/>
              </a:ext>
            </a:extLst>
          </p:cNvPr>
          <p:cNvSpPr>
            <a:spLocks noGrp="1"/>
          </p:cNvSpPr>
          <p:nvPr/>
        </p:nvSpPr>
        <p:spPr>
          <a:xfrm>
            <a:off x="1133475" y="5657850"/>
            <a:ext cx="2819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安全回退</a:t>
            </a:r>
            <a:endParaRPr/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F404317E-CF64-452D-9539-4AD75A91E921}"/>
              </a:ext>
            </a:extLst>
          </p:cNvPr>
          <p:cNvSpPr>
            <a:spLocks noGrp="1"/>
          </p:cNvSpPr>
          <p:nvPr/>
        </p:nvSpPr>
        <p:spPr>
          <a:xfrm>
            <a:off x="1133475" y="5905500"/>
            <a:ext cx="28194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99BDED"/>
                </a:solidFill>
                <a:latin typeface="Arial"/>
                <a:ea typeface="Arial"/>
                <a:cs typeface="Arial"/>
              </a:rPr>
              <a:t>自动触发正常（pid-agent-safety-compact.mjs 覆盖）</a:t>
            </a:r>
            <a:endParaRPr/>
          </a:p>
        </p:txBody>
      </p:sp>
      <p:sp>
        <p:nvSpPr>
          <p:cNvPr id="391" name="矩形: 圆角 390">
            <a:extLst>
              <a:ext uri="{FF2B5EF4-FFF2-40B4-BE49-F238E27FC236}">
                <a16:creationId xmlns:a16="http://schemas.microsoft.com/office/drawing/2014/main" id="{A9B8A924-5A8D-44E7-A6F7-0B8CC39D1192}"/>
              </a:ext>
            </a:extLst>
          </p:cNvPr>
          <p:cNvSpPr>
            <a:spLocks noGrp="1"/>
          </p:cNvSpPr>
          <p:nvPr/>
        </p:nvSpPr>
        <p:spPr>
          <a:xfrm>
            <a:off x="4314825" y="5505450"/>
            <a:ext cx="3562350" cy="714375"/>
          </a:xfrm>
          <a:prstGeom prst="roundRect">
            <a:avLst>
              <a:gd name="adj" fmla="val 10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pic>
        <p:nvPicPr>
          <p:cNvPr id="424" name="图形 39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275" y="5724525"/>
            <a:ext cx="285750" cy="285750"/>
          </a:xfrm>
          <a:prstGeom prst="rect">
            <a:avLst/>
          </a:prstGeom>
        </p:spPr>
      </p:pic>
      <p:sp>
        <p:nvSpPr>
          <p:cNvPr id="393" name="文本框 392">
            <a:extLst>
              <a:ext uri="{FF2B5EF4-FFF2-40B4-BE49-F238E27FC236}">
                <a16:creationId xmlns:a16="http://schemas.microsoft.com/office/drawing/2014/main" id="{858D0375-0F6D-4720-8915-110990E6E903}"/>
              </a:ext>
            </a:extLst>
          </p:cNvPr>
          <p:cNvSpPr>
            <a:spLocks noGrp="1"/>
          </p:cNvSpPr>
          <p:nvPr/>
        </p:nvSpPr>
        <p:spPr>
          <a:xfrm>
            <a:off x="4905375" y="5657850"/>
            <a:ext cx="1333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项测试</a:t>
            </a:r>
            <a:endParaRPr/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AC77FAF1-FF3D-4250-840F-9F6EE15229FA}"/>
              </a:ext>
            </a:extLst>
          </p:cNvPr>
          <p:cNvSpPr>
            <a:spLocks noGrp="1"/>
          </p:cNvSpPr>
          <p:nvPr/>
        </p:nvSpPr>
        <p:spPr>
          <a:xfrm>
            <a:off x="4905375" y="5905500"/>
            <a:ext cx="1333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99BDED"/>
                </a:solidFill>
                <a:latin typeface="Arial"/>
                <a:ea typeface="Arial"/>
                <a:cs typeface="Arial"/>
              </a:rPr>
              <a:t>全部自测全绿，可复现</a:t>
            </a:r>
            <a:endParaRPr/>
          </a:p>
        </p:txBody>
      </p:sp>
      <p:sp>
        <p:nvSpPr>
          <p:cNvPr id="395" name="矩形: 圆角 394">
            <a:extLst>
              <a:ext uri="{FF2B5EF4-FFF2-40B4-BE49-F238E27FC236}">
                <a16:creationId xmlns:a16="http://schemas.microsoft.com/office/drawing/2014/main" id="{F702B684-4D45-43D1-BF65-CA058535BC2C}"/>
              </a:ext>
            </a:extLst>
          </p:cNvPr>
          <p:cNvSpPr>
            <a:spLocks noGrp="1"/>
          </p:cNvSpPr>
          <p:nvPr/>
        </p:nvSpPr>
        <p:spPr>
          <a:xfrm>
            <a:off x="8067675" y="5505450"/>
            <a:ext cx="3552825" cy="714375"/>
          </a:xfrm>
          <a:prstGeom prst="roundRect">
            <a:avLst>
              <a:gd name="adj" fmla="val 10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pic>
        <p:nvPicPr>
          <p:cNvPr id="428" name="图形 3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9125" y="5724525"/>
            <a:ext cx="285750" cy="285750"/>
          </a:xfrm>
          <a:prstGeom prst="rect">
            <a:avLst/>
          </a:prstGeom>
        </p:spPr>
      </p:pic>
      <p:sp>
        <p:nvSpPr>
          <p:cNvPr id="397" name="文本框 396">
            <a:extLst>
              <a:ext uri="{FF2B5EF4-FFF2-40B4-BE49-F238E27FC236}">
                <a16:creationId xmlns:a16="http://schemas.microsoft.com/office/drawing/2014/main" id="{540D9CB9-512D-48E3-9D88-A0ADC2B0DBA4}"/>
              </a:ext>
            </a:extLst>
          </p:cNvPr>
          <p:cNvSpPr>
            <a:spLocks noGrp="1"/>
          </p:cNvSpPr>
          <p:nvPr/>
        </p:nvSpPr>
        <p:spPr>
          <a:xfrm>
            <a:off x="8658225" y="5657850"/>
            <a:ext cx="1409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次线上事故</a:t>
            </a:r>
            <a:endParaRPr/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239107FE-EFB7-4BB8-BA1C-7D96529F8C5C}"/>
              </a:ext>
            </a:extLst>
          </p:cNvPr>
          <p:cNvSpPr>
            <a:spLocks noGrp="1"/>
          </p:cNvSpPr>
          <p:nvPr/>
        </p:nvSpPr>
        <p:spPr>
          <a:xfrm>
            <a:off x="8658225" y="5905500"/>
            <a:ext cx="1409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99BDED"/>
                </a:solidFill>
                <a:latin typeface="Arial"/>
                <a:ea typeface="Arial"/>
                <a:cs typeface="Arial"/>
              </a:rPr>
              <a:t>Git 时间线佐证，无回滚</a:t>
            </a:r>
            <a:endParaRPr/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4C33EA01-A715-4699-AB23-2ACD695DAA4C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5276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Source：问题反馈.md（20260723–24）· tests/pid-agent-safety-compact.mjs · Git 时间线</a:t>
            </a:r>
            <a:endParaRPr/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77EC4B13-1D79-4DAC-97D9-25E49141A925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09 / 20</a:t>
            </a:r>
            <a:endParaRPr/>
          </a:p>
        </p:txBody>
      </p:sp>
      <p:sp>
        <p:nvSpPr>
          <p:cNvPr id="429" name="Rectangle 428"/>
          <p:cNvSpPr/>
          <p:nvPr/>
        </p:nvSpPr>
        <p:spPr>
          <a:xfrm>
            <a:off x="548640" y="4663440"/>
            <a:ext cx="11094720" cy="7315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170432" y="4544568"/>
            <a:ext cx="310896" cy="310896"/>
          </a:xfrm>
          <a:prstGeom prst="ellipse">
            <a:avLst/>
          </a:prstGeom>
          <a:solidFill>
            <a:srgbClr val="F53F5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548640" y="41605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53F5A"/>
                </a:solidFill>
                <a:latin typeface="微软雅黑"/>
                <a:ea typeface="微软雅黑"/>
              </a:rPr>
              <a:t>07-23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548640" y="43891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预警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548640" y="498348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诊断有效率
跌至 40%</a:t>
            </a:r>
          </a:p>
        </p:txBody>
      </p:sp>
      <p:sp>
        <p:nvSpPr>
          <p:cNvPr id="434" name="Oval 433"/>
          <p:cNvSpPr/>
          <p:nvPr/>
        </p:nvSpPr>
        <p:spPr>
          <a:xfrm>
            <a:off x="3555492" y="4544568"/>
            <a:ext cx="310896" cy="310896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2933700" y="41605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7A45"/>
                </a:solidFill>
                <a:latin typeface="微软雅黑"/>
                <a:ea typeface="微软雅黑"/>
              </a:rPr>
              <a:t>07-23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2933700" y="43891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决策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2933700" y="498348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引入护栏+
自动回退</a:t>
            </a:r>
          </a:p>
        </p:txBody>
      </p:sp>
      <p:sp>
        <p:nvSpPr>
          <p:cNvPr id="438" name="Oval 437"/>
          <p:cNvSpPr/>
          <p:nvPr/>
        </p:nvSpPr>
        <p:spPr>
          <a:xfrm>
            <a:off x="5940552" y="4544568"/>
            <a:ext cx="310896" cy="310896"/>
          </a:xfrm>
          <a:prstGeom prst="ellipse">
            <a:avLst/>
          </a:prstGeom>
          <a:solidFill>
            <a:srgbClr val="1A73E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5318760" y="41605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微软雅黑"/>
                <a:ea typeface="微软雅黑"/>
              </a:rPr>
              <a:t>07-24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5318760" y="43891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执行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5318760" y="498348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上下文压缩
50KB阈值</a:t>
            </a:r>
          </a:p>
        </p:txBody>
      </p:sp>
      <p:sp>
        <p:nvSpPr>
          <p:cNvPr id="442" name="Oval 441"/>
          <p:cNvSpPr/>
          <p:nvPr/>
        </p:nvSpPr>
        <p:spPr>
          <a:xfrm>
            <a:off x="8325612" y="4544568"/>
            <a:ext cx="310896" cy="310896"/>
          </a:xfrm>
          <a:prstGeom prst="ellipse">
            <a:avLst/>
          </a:prstGeom>
          <a:solidFill>
            <a:srgbClr val="00C48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7703820" y="41605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08-25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7703820" y="43891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回升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7703820" y="498348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三策略实测
通过</a:t>
            </a:r>
          </a:p>
        </p:txBody>
      </p:sp>
      <p:sp>
        <p:nvSpPr>
          <p:cNvPr id="446" name="Oval 445"/>
          <p:cNvSpPr/>
          <p:nvPr/>
        </p:nvSpPr>
        <p:spPr>
          <a:xfrm>
            <a:off x="10710672" y="4544568"/>
            <a:ext cx="310896" cy="310896"/>
          </a:xfrm>
          <a:prstGeom prst="ellipse">
            <a:avLst/>
          </a:prstGeom>
          <a:solidFill>
            <a:srgbClr val="00C48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10088880" y="41605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持续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0088880" y="43891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验证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0088880" y="498348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12项自测
0事故</a:t>
            </a:r>
          </a:p>
        </p:txBody>
      </p:sp>
      <p:sp>
        <p:nvSpPr>
          <p:cNvPr id="450" name="Rounded Rectangle 449"/>
          <p:cNvSpPr/>
          <p:nvPr/>
        </p:nvSpPr>
        <p:spPr>
          <a:xfrm>
            <a:off x="548640" y="5760720"/>
            <a:ext cx="3576320" cy="86868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548640" y="5760720"/>
            <a:ext cx="73152" cy="868680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777240" y="5852160"/>
            <a:ext cx="330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C48D"/>
                </a:solidFill>
                <a:latin typeface="微软雅黑"/>
                <a:ea typeface="微软雅黑"/>
              </a:rPr>
              <a:t>40% → 85%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6263640"/>
            <a:ext cx="330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微软雅黑"/>
                <a:ea typeface="微软雅黑"/>
              </a:rPr>
              <a:t>诊断有效率提升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777240" y="6446520"/>
            <a:ext cx="330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  <a:latin typeface="微软雅黑"/>
                <a:ea typeface="微软雅黑"/>
              </a:rPr>
              <a:t>+45 个百分点</a:t>
            </a:r>
          </a:p>
        </p:txBody>
      </p:sp>
      <p:sp>
        <p:nvSpPr>
          <p:cNvPr id="455" name="Rounded Rectangle 454"/>
          <p:cNvSpPr/>
          <p:nvPr/>
        </p:nvSpPr>
        <p:spPr>
          <a:xfrm>
            <a:off x="4307840" y="5760720"/>
            <a:ext cx="3576320" cy="86868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4307840" y="5760720"/>
            <a:ext cx="73152" cy="868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4536440" y="5852160"/>
            <a:ext cx="330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73E8"/>
                </a:solidFill>
                <a:latin typeface="微软雅黑"/>
                <a:ea typeface="微软雅黑"/>
              </a:rPr>
              <a:t>12 / 12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4536440" y="6263640"/>
            <a:ext cx="330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微软雅黑"/>
                <a:ea typeface="微软雅黑"/>
              </a:rPr>
              <a:t>算法自测全绿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4536440" y="6446520"/>
            <a:ext cx="330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  <a:latin typeface="微软雅黑"/>
                <a:ea typeface="微软雅黑"/>
              </a:rPr>
              <a:t>测试可复现</a:t>
            </a:r>
          </a:p>
        </p:txBody>
      </p:sp>
      <p:sp>
        <p:nvSpPr>
          <p:cNvPr id="460" name="Rounded Rectangle 459"/>
          <p:cNvSpPr/>
          <p:nvPr/>
        </p:nvSpPr>
        <p:spPr>
          <a:xfrm>
            <a:off x="8067040" y="5760720"/>
            <a:ext cx="3576320" cy="86868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8067040" y="5760720"/>
            <a:ext cx="73152" cy="86868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8295640" y="5852160"/>
            <a:ext cx="330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7A45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8295640" y="6263640"/>
            <a:ext cx="330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微软雅黑"/>
                <a:ea typeface="微软雅黑"/>
              </a:rPr>
              <a:t>回退误伤事故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8295640" y="6446520"/>
            <a:ext cx="330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  <a:latin typeface="微软雅黑"/>
                <a:ea typeface="微软雅黑"/>
              </a:rPr>
              <a:t>安全护栏可控</a:t>
            </a:r>
          </a:p>
        </p:txBody>
      </p:sp>
    </p:spTree>
    <p:extLst>
      <p:ext uri="{BB962C8B-B14F-4D97-AF65-F5344CB8AC3E}">
        <p14:creationId xmlns:p14="http://schemas.microsoft.com/office/powerpoint/2010/main" val="136445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矩形 401">
            <a:extLst>
              <a:ext uri="{FF2B5EF4-FFF2-40B4-BE49-F238E27FC236}">
                <a16:creationId xmlns:a16="http://schemas.microsoft.com/office/drawing/2014/main" id="{89ADA83A-2F99-41D3-A30E-212F33E98C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6E84DFDC-C12D-4FA1-91B5-874CDF6FCEB0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从上下文失真到自主闭环：体验式学习的四次认知跃迁</a:t>
            </a:r>
            <a:endParaRPr/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BCD7EFB9-993A-4B42-96FC-B8B3B0A90655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05" name="矩形: 圆角 404">
            <a:extLst>
              <a:ext uri="{FF2B5EF4-FFF2-40B4-BE49-F238E27FC236}">
                <a16:creationId xmlns:a16="http://schemas.microsoft.com/office/drawing/2014/main" id="{087826F4-7696-4A10-8C82-545278D49AD4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2695575" cy="1495425"/>
          </a:xfrm>
          <a:prstGeom prst="roundRect">
            <a:avLst>
              <a:gd name="adj" fmla="val 509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406" name="文本框 405">
            <a:extLst>
              <a:ext uri="{FF2B5EF4-FFF2-40B4-BE49-F238E27FC236}">
                <a16:creationId xmlns:a16="http://schemas.microsoft.com/office/drawing/2014/main" id="{68D42578-A267-4722-B096-03EB2AE69734}"/>
              </a:ext>
            </a:extLst>
          </p:cNvPr>
          <p:cNvSpPr>
            <a:spLocks noGrp="1"/>
          </p:cNvSpPr>
          <p:nvPr/>
        </p:nvSpPr>
        <p:spPr>
          <a:xfrm>
            <a:off x="742950" y="1352550"/>
            <a:ext cx="2352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V-A</a:t>
            </a:r>
            <a:endParaRPr/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6D669DE0-AEDC-4000-9BCE-3F90FAB59135}"/>
              </a:ext>
            </a:extLst>
          </p:cNvPr>
          <p:cNvSpPr>
            <a:spLocks noGrp="1"/>
          </p:cNvSpPr>
          <p:nvPr/>
        </p:nvSpPr>
        <p:spPr>
          <a:xfrm>
            <a:off x="742950" y="1685925"/>
            <a:ext cx="23526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44546A"/>
                </a:solidFill>
                <a:latin typeface="Arial"/>
                <a:ea typeface="Arial"/>
                <a:cs typeface="Arial"/>
              </a:rPr>
              <a:t>波形只能看</a:t>
            </a:r>
            <a:endParaRPr/>
          </a:p>
        </p:txBody>
      </p:sp>
      <p:sp>
        <p:nvSpPr>
          <p:cNvPr id="408" name="文本框 407">
            <a:extLst>
              <a:ext uri="{FF2B5EF4-FFF2-40B4-BE49-F238E27FC236}">
                <a16:creationId xmlns:a16="http://schemas.microsoft.com/office/drawing/2014/main" id="{275B7A4A-A194-4E26-9879-2754D8334884}"/>
              </a:ext>
            </a:extLst>
          </p:cNvPr>
          <p:cNvSpPr>
            <a:spLocks noGrp="1"/>
          </p:cNvSpPr>
          <p:nvPr/>
        </p:nvSpPr>
        <p:spPr>
          <a:xfrm>
            <a:off x="742950" y="1990725"/>
            <a:ext cx="2352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被动观测，无法指导调参</a:t>
            </a:r>
            <a:endParaRPr/>
          </a:p>
        </p:txBody>
      </p:sp>
      <p:sp>
        <p:nvSpPr>
          <p:cNvPr id="409" name="矩形: 圆角 408">
            <a:extLst>
              <a:ext uri="{FF2B5EF4-FFF2-40B4-BE49-F238E27FC236}">
                <a16:creationId xmlns:a16="http://schemas.microsoft.com/office/drawing/2014/main" id="{F1036C95-A6AC-405B-840A-DD3DB47DC075}"/>
              </a:ext>
            </a:extLst>
          </p:cNvPr>
          <p:cNvSpPr>
            <a:spLocks noGrp="1"/>
          </p:cNvSpPr>
          <p:nvPr/>
        </p:nvSpPr>
        <p:spPr>
          <a:xfrm>
            <a:off x="3362325" y="1181100"/>
            <a:ext cx="2686050" cy="1495425"/>
          </a:xfrm>
          <a:prstGeom prst="roundRect">
            <a:avLst>
              <a:gd name="adj" fmla="val 509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410" name="文本框 409">
            <a:extLst>
              <a:ext uri="{FF2B5EF4-FFF2-40B4-BE49-F238E27FC236}">
                <a16:creationId xmlns:a16="http://schemas.microsoft.com/office/drawing/2014/main" id="{7A033BD3-7465-4E6B-9B79-47C3F27055F5}"/>
              </a:ext>
            </a:extLst>
          </p:cNvPr>
          <p:cNvSpPr>
            <a:spLocks noGrp="1"/>
          </p:cNvSpPr>
          <p:nvPr/>
        </p:nvSpPr>
        <p:spPr>
          <a:xfrm>
            <a:off x="3533775" y="1352550"/>
            <a:ext cx="2343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V-B</a:t>
            </a:r>
            <a:endParaRPr/>
          </a:p>
        </p:txBody>
      </p:sp>
      <p:sp>
        <p:nvSpPr>
          <p:cNvPr id="411" name="文本框 410">
            <a:extLst>
              <a:ext uri="{FF2B5EF4-FFF2-40B4-BE49-F238E27FC236}">
                <a16:creationId xmlns:a16="http://schemas.microsoft.com/office/drawing/2014/main" id="{E4A47167-39CF-4154-99F3-5C53C1F05F8A}"/>
              </a:ext>
            </a:extLst>
          </p:cNvPr>
          <p:cNvSpPr>
            <a:spLocks noGrp="1"/>
          </p:cNvSpPr>
          <p:nvPr/>
        </p:nvSpPr>
        <p:spPr>
          <a:xfrm>
            <a:off x="3533775" y="1685925"/>
            <a:ext cx="23431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44546A"/>
                </a:solidFill>
                <a:latin typeface="Arial"/>
                <a:ea typeface="Arial"/>
                <a:cs typeface="Arial"/>
              </a:rPr>
              <a:t>分析可计算</a:t>
            </a:r>
            <a:endParaRPr/>
          </a:p>
        </p:txBody>
      </p:sp>
      <p:sp>
        <p:nvSpPr>
          <p:cNvPr id="412" name="文本框 411">
            <a:extLst>
              <a:ext uri="{FF2B5EF4-FFF2-40B4-BE49-F238E27FC236}">
                <a16:creationId xmlns:a16="http://schemas.microsoft.com/office/drawing/2014/main" id="{285D51A0-04CF-4F7E-A5A1-54C818C8D739}"/>
              </a:ext>
            </a:extLst>
          </p:cNvPr>
          <p:cNvSpPr>
            <a:spLocks noGrp="1"/>
          </p:cNvSpPr>
          <p:nvPr/>
        </p:nvSpPr>
        <p:spPr>
          <a:xfrm>
            <a:off x="3533775" y="1990725"/>
            <a:ext cx="2343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用确定性代码算指标，替代人工盲调</a:t>
            </a:r>
            <a:endParaRPr/>
          </a:p>
        </p:txBody>
      </p:sp>
      <p:sp>
        <p:nvSpPr>
          <p:cNvPr id="413" name="矩形: 圆角 412">
            <a:extLst>
              <a:ext uri="{FF2B5EF4-FFF2-40B4-BE49-F238E27FC236}">
                <a16:creationId xmlns:a16="http://schemas.microsoft.com/office/drawing/2014/main" id="{153D5397-AA50-4803-AA2C-B2A7850E80C2}"/>
              </a:ext>
            </a:extLst>
          </p:cNvPr>
          <p:cNvSpPr>
            <a:spLocks noGrp="1"/>
          </p:cNvSpPr>
          <p:nvPr/>
        </p:nvSpPr>
        <p:spPr>
          <a:xfrm>
            <a:off x="6143625" y="1181100"/>
            <a:ext cx="2695575" cy="1495425"/>
          </a:xfrm>
          <a:prstGeom prst="roundRect">
            <a:avLst>
              <a:gd name="adj" fmla="val 509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B2C58A99-1FDC-4EBC-A5C7-ACB2297B7C06}"/>
              </a:ext>
            </a:extLst>
          </p:cNvPr>
          <p:cNvSpPr>
            <a:spLocks noGrp="1"/>
          </p:cNvSpPr>
          <p:nvPr/>
        </p:nvSpPr>
        <p:spPr>
          <a:xfrm>
            <a:off x="6315075" y="1352550"/>
            <a:ext cx="2352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V-C</a:t>
            </a:r>
            <a:endParaRPr/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37E6DA87-24F5-487E-9BB7-D89FCBE9E8CE}"/>
              </a:ext>
            </a:extLst>
          </p:cNvPr>
          <p:cNvSpPr>
            <a:spLocks noGrp="1"/>
          </p:cNvSpPr>
          <p:nvPr/>
        </p:nvSpPr>
        <p:spPr>
          <a:xfrm>
            <a:off x="6315075" y="1685925"/>
            <a:ext cx="23526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44546A"/>
                </a:solidFill>
                <a:latin typeface="Arial"/>
                <a:ea typeface="Arial"/>
                <a:cs typeface="Arial"/>
              </a:rPr>
              <a:t>AI 不越界</a:t>
            </a:r>
            <a:endParaRPr/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CC78333B-208E-4E71-99F6-618D1E8512F4}"/>
              </a:ext>
            </a:extLst>
          </p:cNvPr>
          <p:cNvSpPr>
            <a:spLocks noGrp="1"/>
          </p:cNvSpPr>
          <p:nvPr/>
        </p:nvSpPr>
        <p:spPr>
          <a:xfrm>
            <a:off x="6315075" y="1990725"/>
            <a:ext cx="23526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解释可以，乱改不行——安全护栏机制化</a:t>
            </a:r>
            <a:endParaRPr/>
          </a:p>
        </p:txBody>
      </p:sp>
      <p:sp>
        <p:nvSpPr>
          <p:cNvPr id="417" name="矩形: 圆角 416">
            <a:extLst>
              <a:ext uri="{FF2B5EF4-FFF2-40B4-BE49-F238E27FC236}">
                <a16:creationId xmlns:a16="http://schemas.microsoft.com/office/drawing/2014/main" id="{BED464FF-48D1-4E46-99B1-C53A0D8E4039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2686050" cy="1495425"/>
          </a:xfrm>
          <a:prstGeom prst="roundRect">
            <a:avLst>
              <a:gd name="adj" fmla="val 5096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11460DCD-E9BD-42AE-B99E-BCD8FCD1B034}"/>
              </a:ext>
            </a:extLst>
          </p:cNvPr>
          <p:cNvSpPr>
            <a:spLocks noGrp="1"/>
          </p:cNvSpPr>
          <p:nvPr/>
        </p:nvSpPr>
        <p:spPr>
          <a:xfrm>
            <a:off x="9105900" y="1352550"/>
            <a:ext cx="3524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V-D</a:t>
            </a:r>
            <a:endParaRPr/>
          </a:p>
        </p:txBody>
      </p:sp>
      <p:sp>
        <p:nvSpPr>
          <p:cNvPr id="419" name="矩形: 圆角 418">
            <a:extLst>
              <a:ext uri="{FF2B5EF4-FFF2-40B4-BE49-F238E27FC236}">
                <a16:creationId xmlns:a16="http://schemas.microsoft.com/office/drawing/2014/main" id="{530E4F5F-5B38-4A1F-9783-301EFDFBF7D7}"/>
              </a:ext>
            </a:extLst>
          </p:cNvPr>
          <p:cNvSpPr>
            <a:spLocks noGrp="1"/>
          </p:cNvSpPr>
          <p:nvPr/>
        </p:nvSpPr>
        <p:spPr>
          <a:xfrm>
            <a:off x="9534525" y="1390650"/>
            <a:ext cx="638175" cy="180975"/>
          </a:xfrm>
          <a:prstGeom prst="roundRect">
            <a:avLst>
              <a:gd name="adj" fmla="val 21053"/>
            </a:avLst>
          </a:pr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420" name="文本框 419">
            <a:extLst>
              <a:ext uri="{FF2B5EF4-FFF2-40B4-BE49-F238E27FC236}">
                <a16:creationId xmlns:a16="http://schemas.microsoft.com/office/drawing/2014/main" id="{7F6E681F-84E2-4CB7-BDF1-3BB0036AC995}"/>
              </a:ext>
            </a:extLst>
          </p:cNvPr>
          <p:cNvSpPr>
            <a:spLocks noGrp="1"/>
          </p:cNvSpPr>
          <p:nvPr/>
        </p:nvSpPr>
        <p:spPr>
          <a:xfrm>
            <a:off x="9534525" y="1390650"/>
            <a:ext cx="638175" cy="180975"/>
          </a:xfrm>
          <a:prstGeom prst="rect">
            <a:avLst/>
          </a:prstGeom>
        </p:spPr>
        <p:txBody>
          <a:bodyPr wrap="none" lIns="57150" tIns="14288" rIns="57150" bIns="14288"/>
          <a:lstStyle/>
          <a:p>
            <a:pPr>
              <a:lnSpc>
                <a:spcPct val="100000"/>
              </a:lnSpc>
              <a:buNone/>
            </a:pPr>
            <a:r>
              <a:rPr sz="900">
                <a:solidFill>
                  <a:srgbClr val="061F32"/>
                </a:solidFill>
                <a:highlight>
                  <a:srgbClr val="08A6F6"/>
                </a:highlight>
                <a:latin typeface="Arial"/>
                <a:ea typeface="Arial"/>
                <a:cs typeface="Arial"/>
              </a:rPr>
              <a:t>8/25 最终</a:t>
            </a:r>
            <a:endParaRPr/>
          </a:p>
        </p:txBody>
      </p:sp>
      <p:sp>
        <p:nvSpPr>
          <p:cNvPr id="421" name="文本框 420">
            <a:extLst>
              <a:ext uri="{FF2B5EF4-FFF2-40B4-BE49-F238E27FC236}">
                <a16:creationId xmlns:a16="http://schemas.microsoft.com/office/drawing/2014/main" id="{61C7D280-3F41-49C3-8495-884CCC794A79}"/>
              </a:ext>
            </a:extLst>
          </p:cNvPr>
          <p:cNvSpPr>
            <a:spLocks noGrp="1"/>
          </p:cNvSpPr>
          <p:nvPr/>
        </p:nvSpPr>
        <p:spPr>
          <a:xfrm>
            <a:off x="9105900" y="1685925"/>
            <a:ext cx="23431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智能体自主闭环</a:t>
            </a:r>
            <a:endParaRPr/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331A68BC-9DD2-4708-92BA-BFCAD75037A1}"/>
              </a:ext>
            </a:extLst>
          </p:cNvPr>
          <p:cNvSpPr>
            <a:spLocks noGrp="1"/>
          </p:cNvSpPr>
          <p:nvPr/>
        </p:nvSpPr>
        <p:spPr>
          <a:xfrm>
            <a:off x="9105900" y="1990725"/>
            <a:ext cx="23431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99BDED"/>
                </a:solidFill>
                <a:latin typeface="Arial"/>
                <a:ea typeface="Arial"/>
                <a:cs typeface="Arial"/>
              </a:rPr>
              <a:t>对话式 Agent + 上下文压缩，自主调参上线</a:t>
            </a:r>
            <a:endParaRPr/>
          </a:p>
        </p:txBody>
      </p:sp>
      <p:sp>
        <p:nvSpPr>
          <p:cNvPr id="423" name="矩形: 圆角 422">
            <a:extLst>
              <a:ext uri="{FF2B5EF4-FFF2-40B4-BE49-F238E27FC236}">
                <a16:creationId xmlns:a16="http://schemas.microsoft.com/office/drawing/2014/main" id="{4A4209E2-641F-4921-8C66-746D2DD2A5DD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1049000" cy="600075"/>
          </a:xfrm>
          <a:prstGeom prst="roundRect">
            <a:avLst>
              <a:gd name="adj" fmla="val 12698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451" name="图形 4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" y="5781675"/>
            <a:ext cx="285750" cy="285750"/>
          </a:xfrm>
          <a:prstGeom prst="rect">
            <a:avLst/>
          </a:prstGeom>
        </p:spPr>
      </p:pic>
      <p:sp>
        <p:nvSpPr>
          <p:cNvPr id="425" name="文本框 424">
            <a:extLst>
              <a:ext uri="{FF2B5EF4-FFF2-40B4-BE49-F238E27FC236}">
                <a16:creationId xmlns:a16="http://schemas.microsoft.com/office/drawing/2014/main" id="{257CF2F4-AD2E-42E6-8052-CFC05F98DC7E}"/>
              </a:ext>
            </a:extLst>
          </p:cNvPr>
          <p:cNvSpPr>
            <a:spLocks noGrp="1"/>
          </p:cNvSpPr>
          <p:nvPr/>
        </p:nvSpPr>
        <p:spPr>
          <a:xfrm>
            <a:off x="1219200" y="5734050"/>
            <a:ext cx="10191750" cy="400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  <a:defRPr sz="1425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把上下文失真与联调受阻的教训，沉淀为可复用方法；以问题反馈与提交记录追踪两次认知迭代。</a:t>
            </a:r>
            <a:endParaRPr/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4DFBA474-F6B2-4158-BA02-5A629E83EB10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Source：docs/（Pi-agent 调研·PID 策略·UI 评审）· git log 31 commits · V1.0/V2.0 功能对比</a:t>
            </a:r>
            <a:endParaRPr/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80E1511B-C09D-4F97-9E99-0E109E2CD4E0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10 / 20</a:t>
            </a:r>
            <a:endParaRPr/>
          </a:p>
        </p:txBody>
      </p:sp>
      <p:sp>
        <p:nvSpPr>
          <p:cNvPr id="452" name="Chevron 451"/>
          <p:cNvSpPr/>
          <p:nvPr/>
        </p:nvSpPr>
        <p:spPr>
          <a:xfrm>
            <a:off x="548640" y="4023360"/>
            <a:ext cx="2705100" cy="1097280"/>
          </a:xfrm>
          <a:prstGeom prst="chevron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548640" y="416052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V-A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548640" y="4526280"/>
            <a:ext cx="2476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波形只能看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548640" y="475488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被动观测
无法指导调参</a:t>
            </a:r>
          </a:p>
        </p:txBody>
      </p:sp>
      <p:sp>
        <p:nvSpPr>
          <p:cNvPr id="456" name="Right Arrow 455"/>
          <p:cNvSpPr/>
          <p:nvPr/>
        </p:nvSpPr>
        <p:spPr>
          <a:xfrm>
            <a:off x="3208020" y="4462272"/>
            <a:ext cx="182880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Chevron 456"/>
          <p:cNvSpPr/>
          <p:nvPr/>
        </p:nvSpPr>
        <p:spPr>
          <a:xfrm>
            <a:off x="3345180" y="4023360"/>
            <a:ext cx="2705100" cy="1097280"/>
          </a:xfrm>
          <a:prstGeom prst="chevron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345180" y="416052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V-B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3345180" y="4526280"/>
            <a:ext cx="2476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分析可计算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3345180" y="475488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确定性代码
替代人工盲调</a:t>
            </a:r>
          </a:p>
        </p:txBody>
      </p:sp>
      <p:sp>
        <p:nvSpPr>
          <p:cNvPr id="461" name="Right Arrow 460"/>
          <p:cNvSpPr/>
          <p:nvPr/>
        </p:nvSpPr>
        <p:spPr>
          <a:xfrm>
            <a:off x="6004560" y="4462272"/>
            <a:ext cx="182880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Chevron 461"/>
          <p:cNvSpPr/>
          <p:nvPr/>
        </p:nvSpPr>
        <p:spPr>
          <a:xfrm>
            <a:off x="6141720" y="4023360"/>
            <a:ext cx="2705100" cy="1097280"/>
          </a:xfrm>
          <a:prstGeom prst="chevron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6141720" y="416052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V-C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6141720" y="4526280"/>
            <a:ext cx="2476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AI不越界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6141720" y="475488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安全护栏
由代码机制化</a:t>
            </a:r>
          </a:p>
        </p:txBody>
      </p:sp>
      <p:sp>
        <p:nvSpPr>
          <p:cNvPr id="466" name="Right Arrow 465"/>
          <p:cNvSpPr/>
          <p:nvPr/>
        </p:nvSpPr>
        <p:spPr>
          <a:xfrm>
            <a:off x="8801100" y="4462272"/>
            <a:ext cx="182880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Chevron 466"/>
          <p:cNvSpPr/>
          <p:nvPr/>
        </p:nvSpPr>
        <p:spPr>
          <a:xfrm>
            <a:off x="8938260" y="4023360"/>
            <a:ext cx="2705100" cy="1097280"/>
          </a:xfrm>
          <a:prstGeom prst="chevron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8938260" y="416052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V-D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8938260" y="4526280"/>
            <a:ext cx="2476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自主闭环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8938260" y="4754880"/>
            <a:ext cx="2476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对话式Agent
双层循环上线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548640" y="5303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代码与验证资产随认知跃迁增长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548640" y="5623560"/>
            <a:ext cx="360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B8D"/>
                </a:solidFill>
                <a:latin typeface="微软雅黑"/>
                <a:ea typeface="微软雅黑"/>
              </a:rPr>
              <a:t>代码行数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548640" y="5669280"/>
            <a:ext cx="360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微软雅黑"/>
                <a:ea typeface="微软雅黑"/>
              </a:rPr>
              <a:t>8,422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731520" y="6775704"/>
            <a:ext cx="778256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564640" y="6708051"/>
            <a:ext cx="778256" cy="104229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518920" y="6506883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A73E8"/>
                </a:solidFill>
                <a:latin typeface="微软雅黑"/>
                <a:ea typeface="微软雅黑"/>
              </a:rPr>
              <a:t>1200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2397760" y="6421418"/>
            <a:ext cx="778256" cy="39086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2352040" y="6220250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A73E8"/>
                </a:solidFill>
                <a:latin typeface="微软雅黑"/>
                <a:ea typeface="微软雅黑"/>
              </a:rPr>
              <a:t>4500</a:t>
            </a:r>
          </a:p>
        </p:txBody>
      </p:sp>
      <p:sp>
        <p:nvSpPr>
          <p:cNvPr id="479" name="Rectangle 478"/>
          <p:cNvSpPr/>
          <p:nvPr/>
        </p:nvSpPr>
        <p:spPr>
          <a:xfrm>
            <a:off x="3230880" y="6080760"/>
            <a:ext cx="778256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3185160" y="5879592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A73E8"/>
                </a:solidFill>
                <a:latin typeface="微软雅黑"/>
                <a:ea typeface="微软雅黑"/>
              </a:rPr>
              <a:t>8422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68580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V-A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51892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V-B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235204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V-C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318516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V-D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246880" y="5623560"/>
            <a:ext cx="360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B8D"/>
                </a:solidFill>
                <a:latin typeface="微软雅黑"/>
                <a:ea typeface="微软雅黑"/>
              </a:rPr>
              <a:t>测试文件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4246880" y="5669280"/>
            <a:ext cx="360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C48D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487" name="Rectangle 486"/>
          <p:cNvSpPr/>
          <p:nvPr/>
        </p:nvSpPr>
        <p:spPr>
          <a:xfrm>
            <a:off x="4429760" y="6775704"/>
            <a:ext cx="778256" cy="36576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5262880" y="6731000"/>
            <a:ext cx="778256" cy="81280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5217160" y="6529832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C48D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490" name="Rectangle 489"/>
          <p:cNvSpPr/>
          <p:nvPr/>
        </p:nvSpPr>
        <p:spPr>
          <a:xfrm>
            <a:off x="6096000" y="6487160"/>
            <a:ext cx="778256" cy="325120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6050280" y="6285992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C48D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492" name="Rectangle 491"/>
          <p:cNvSpPr/>
          <p:nvPr/>
        </p:nvSpPr>
        <p:spPr>
          <a:xfrm>
            <a:off x="6929120" y="6080760"/>
            <a:ext cx="778256" cy="731520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TextBox 492"/>
          <p:cNvSpPr txBox="1"/>
          <p:nvPr/>
        </p:nvSpPr>
        <p:spPr>
          <a:xfrm>
            <a:off x="6883400" y="5879592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C48D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438404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V-A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521716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V-B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605028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V-C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688340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V-D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7945120" y="5623560"/>
            <a:ext cx="360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B8D"/>
                </a:solidFill>
                <a:latin typeface="微软雅黑"/>
                <a:ea typeface="微软雅黑"/>
              </a:rPr>
              <a:t>波形资产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7945120" y="5669280"/>
            <a:ext cx="360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7A45"/>
                </a:solidFill>
                <a:latin typeface="微软雅黑"/>
                <a:ea typeface="微软雅黑"/>
              </a:rPr>
              <a:t>51</a:t>
            </a:r>
          </a:p>
        </p:txBody>
      </p:sp>
      <p:sp>
        <p:nvSpPr>
          <p:cNvPr id="500" name="Rectangle 499"/>
          <p:cNvSpPr/>
          <p:nvPr/>
        </p:nvSpPr>
        <p:spPr>
          <a:xfrm>
            <a:off x="8128000" y="6775704"/>
            <a:ext cx="778256" cy="36576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8961120" y="6775704"/>
            <a:ext cx="778256" cy="36576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9794240" y="6640158"/>
            <a:ext cx="778256" cy="172122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9748520" y="6438990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7A45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04" name="Rectangle 503"/>
          <p:cNvSpPr/>
          <p:nvPr/>
        </p:nvSpPr>
        <p:spPr>
          <a:xfrm>
            <a:off x="10627360" y="6080760"/>
            <a:ext cx="778256" cy="7315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10581640" y="5879592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7A45"/>
                </a:solidFill>
                <a:latin typeface="微软雅黑"/>
                <a:ea typeface="微软雅黑"/>
              </a:rPr>
              <a:t>51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08228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V-A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91540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V-B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974852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V-C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0581640" y="6830568"/>
            <a:ext cx="92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V-D</a:t>
            </a:r>
          </a:p>
        </p:txBody>
      </p:sp>
    </p:spTree>
    <p:extLst>
      <p:ext uri="{BB962C8B-B14F-4D97-AF65-F5344CB8AC3E}">
        <p14:creationId xmlns:p14="http://schemas.microsoft.com/office/powerpoint/2010/main" val="182859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9085E9-8B0C-4A1D-9A68-F5DB25B4F8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DE3DF2-EB40-4087-95DB-F04380EA03EC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两次失败催生两条新指标：诊断 40%→85%、dev 一键可用</a:t>
            </a: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9CE6A7-5DF3-40C4-9832-C5BF73F9B634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913312-2C83-42EC-BD51-8C7EC33D6764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372100" cy="5038725"/>
          </a:xfrm>
          <a:prstGeom prst="roundRect">
            <a:avLst>
              <a:gd name="adj" fmla="val 189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7A1845-D103-4F13-8A61-75311D1870EE}"/>
              </a:ext>
            </a:extLst>
          </p:cNvPr>
          <p:cNvSpPr>
            <a:spLocks noGrp="1"/>
          </p:cNvSpPr>
          <p:nvPr/>
        </p:nvSpPr>
        <p:spPr>
          <a:xfrm>
            <a:off x="800100" y="1390650"/>
            <a:ext cx="4914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失败 1 · PID 仿真震荡 + 上下文失真</a:t>
            </a: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58A273-AD61-4884-A7B4-E27C93470F5D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5Why 归因：为什么 40%？→ 上下文过长 → 无护栏 → 无压缩</a:t>
            </a:r>
            <a:endParaRPr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235BEF-C393-4230-ABD6-A6CAA43543E1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F0D952-9442-4AE8-B4C9-A0393D0430D8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610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认知：安全不能靠提示词，要机制化</a:t>
            </a: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BC2776-06CE-4653-A769-A3C4B2FEDC0E}"/>
              </a:ext>
            </a:extLst>
          </p:cNvPr>
          <p:cNvSpPr>
            <a:spLocks noGrp="1"/>
          </p:cNvSpPr>
          <p:nvPr/>
        </p:nvSpPr>
        <p:spPr>
          <a:xfrm>
            <a:off x="800100" y="5705475"/>
            <a:ext cx="4286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新指标</a:t>
            </a: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CB1C3F-A702-423A-9D13-A4CECDDD1E76}"/>
              </a:ext>
            </a:extLst>
          </p:cNvPr>
          <p:cNvSpPr>
            <a:spLocks noGrp="1"/>
          </p:cNvSpPr>
          <p:nvPr/>
        </p:nvSpPr>
        <p:spPr>
          <a:xfrm>
            <a:off x="1323975" y="5705475"/>
            <a:ext cx="3295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诊断 40%→85% · 回退 0 误伤</a:t>
            </a:r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AEDAF15-F205-4919-814C-5423EE194010}"/>
              </a:ext>
            </a:extLst>
          </p:cNvPr>
          <p:cNvSpPr>
            <a:spLocks noGrp="1"/>
          </p:cNvSpPr>
          <p:nvPr/>
        </p:nvSpPr>
        <p:spPr>
          <a:xfrm>
            <a:off x="6248400" y="1181100"/>
            <a:ext cx="5372100" cy="5038725"/>
          </a:xfrm>
          <a:prstGeom prst="roundRect">
            <a:avLst>
              <a:gd name="adj" fmla="val 189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2D41C10-4298-4F39-9D17-8936282B1A50}"/>
              </a:ext>
            </a:extLst>
          </p:cNvPr>
          <p:cNvSpPr>
            <a:spLocks noGrp="1"/>
          </p:cNvSpPr>
          <p:nvPr/>
        </p:nvSpPr>
        <p:spPr>
          <a:xfrm>
            <a:off x="6477000" y="1390650"/>
            <a:ext cx="4914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失败 2 · Electron 环境三连坑</a:t>
            </a: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355206-ACC1-43C8-BF07-C1AC500C3AFF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ESM 冲突 / 配置名 / ELECTRON_RUN_AS_NODE（详见 debug.md）</a:t>
            </a:r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8F444B9-0698-4F2E-B21C-2E0DC14D8848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6AB32E1-4346-4495-B538-F21F5A0CF2C7}"/>
              </a:ext>
            </a:extLst>
          </p:cNvPr>
          <p:cNvSpPr>
            <a:spLocks noGrp="1"/>
          </p:cNvSpPr>
          <p:nvPr/>
        </p:nvSpPr>
        <p:spPr>
          <a:xfrm>
            <a:off x="6629400" y="3752850"/>
            <a:ext cx="4610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认知：构建链路要包一层启动脚本兜底</a:t>
            </a: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3C05C8-13A5-4806-8FDA-79460DEEDDB5}"/>
              </a:ext>
            </a:extLst>
          </p:cNvPr>
          <p:cNvSpPr>
            <a:spLocks noGrp="1"/>
          </p:cNvSpPr>
          <p:nvPr/>
        </p:nvSpPr>
        <p:spPr>
          <a:xfrm>
            <a:off x="6477000" y="5705475"/>
            <a:ext cx="4286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808080"/>
                </a:solidFill>
                <a:latin typeface="Arial"/>
                <a:ea typeface="Arial"/>
                <a:cs typeface="Arial"/>
              </a:rPr>
              <a:t>新指标</a:t>
            </a: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1ABAE07-8691-41C4-AAF3-B817DC637EF7}"/>
              </a:ext>
            </a:extLst>
          </p:cNvPr>
          <p:cNvSpPr>
            <a:spLocks noGrp="1"/>
          </p:cNvSpPr>
          <p:nvPr/>
        </p:nvSpPr>
        <p:spPr>
          <a:xfrm>
            <a:off x="7000875" y="5705475"/>
            <a:ext cx="2552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npm run dev 一键可用</a:t>
            </a: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F075CFC-1B74-46AE-A6F4-F6E041FCFD99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434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Source：问题反馈.md（两轮）· debug.md · V1.0/V2.0 界面迭代 3 轮截图</a:t>
            </a: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0649056-CFBD-4CE4-857C-C7BCE7EB017C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11 / 20</a:t>
            </a: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1605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3F5A"/>
                </a:solidFill>
                <a:latin typeface="微软雅黑"/>
                <a:ea typeface="微软雅黑"/>
              </a:rPr>
              <a:t>失败 1 · 诊断有效率修复效果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07992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优化前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4526280"/>
            <a:ext cx="3840480" cy="347472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63040" y="4526280"/>
            <a:ext cx="1536192" cy="347472"/>
          </a:xfrm>
          <a:prstGeom prst="rect">
            <a:avLst/>
          </a:prstGeom>
          <a:solidFill>
            <a:srgbClr val="F5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459028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10912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优化后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5029200"/>
            <a:ext cx="3840480" cy="347472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63040" y="5029200"/>
            <a:ext cx="3264408" cy="347472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509320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85%（+45 个百分点）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160520"/>
            <a:ext cx="6065520" cy="16916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77840" y="4160520"/>
            <a:ext cx="73152" cy="1691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4270248"/>
            <a:ext cx="569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  <a:ea typeface="微软雅黑"/>
              </a:rPr>
              <a:t>失败 2 · Electron 构建链三连坑修复</a:t>
            </a:r>
          </a:p>
        </p:txBody>
      </p:sp>
      <p:sp>
        <p:nvSpPr>
          <p:cNvPr id="43" name="Oval 42"/>
          <p:cNvSpPr/>
          <p:nvPr/>
        </p:nvSpPr>
        <p:spPr>
          <a:xfrm>
            <a:off x="5833872" y="4645152"/>
            <a:ext cx="182880" cy="182880"/>
          </a:xfrm>
          <a:prstGeom prst="ellipse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654296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654296"/>
            <a:ext cx="5425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/>
                <a:ea typeface="微软雅黑"/>
              </a:rPr>
              <a:t>ESM/CJS 冲突 → 移除 "type":"module"</a:t>
            </a:r>
          </a:p>
        </p:txBody>
      </p:sp>
      <p:sp>
        <p:nvSpPr>
          <p:cNvPr id="46" name="Oval 45"/>
          <p:cNvSpPr/>
          <p:nvPr/>
        </p:nvSpPr>
        <p:spPr>
          <a:xfrm>
            <a:off x="5833872" y="5010912"/>
            <a:ext cx="182880" cy="182880"/>
          </a:xfrm>
          <a:prstGeom prst="ellipse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5020056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020056"/>
            <a:ext cx="5425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/>
                <a:ea typeface="微软雅黑"/>
              </a:rPr>
              <a:t>配置扩展名 → electron.vite.config.mjs</a:t>
            </a:r>
          </a:p>
        </p:txBody>
      </p:sp>
      <p:sp>
        <p:nvSpPr>
          <p:cNvPr id="49" name="Oval 48"/>
          <p:cNvSpPr/>
          <p:nvPr/>
        </p:nvSpPr>
        <p:spPr>
          <a:xfrm>
            <a:off x="5833872" y="5376672"/>
            <a:ext cx="182880" cy="182880"/>
          </a:xfrm>
          <a:prstGeom prst="ellipse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5385816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5385816"/>
            <a:ext cx="5425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/>
                <a:ea typeface="微软雅黑"/>
              </a:rPr>
              <a:t>ELECTRON_RUN_AS_NODE → scripts/dev.js 兜底清除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5486400"/>
            <a:ext cx="569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→ npm run dev 一键可用，开发链路零阻塞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989320"/>
            <a:ext cx="5410200" cy="7772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989320"/>
            <a:ext cx="5410200" cy="54864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099048"/>
            <a:ext cx="513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7A45"/>
                </a:solidFill>
                <a:latin typeface="微软雅黑"/>
                <a:ea typeface="微软雅黑"/>
              </a:rPr>
              <a:t>💡 认知升级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373368"/>
            <a:ext cx="513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安全不能靠提示词——必须由代码机制化兜底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3160" y="5989320"/>
            <a:ext cx="5410200" cy="7772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33160" y="5989320"/>
            <a:ext cx="54102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16040" y="6099048"/>
            <a:ext cx="513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  <a:ea typeface="微软雅黑"/>
              </a:rPr>
              <a:t>💡 认知升级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16040" y="6373368"/>
            <a:ext cx="513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构建链路要包一层启动脚本，保障一键可用</a:t>
            </a:r>
          </a:p>
        </p:txBody>
      </p:sp>
    </p:spTree>
    <p:extLst>
      <p:ext uri="{BB962C8B-B14F-4D97-AF65-F5344CB8AC3E}">
        <p14:creationId xmlns:p14="http://schemas.microsoft.com/office/powerpoint/2010/main" val="659532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1972C56-242D-420A-82FA-BD4C588AE4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119EC58-320E-4D5D-99E9-CED9E0447639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三大挑战下的RACI-V协作：算法主责，前端联调可视化</a:t>
            </a: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5D1C44-92A4-4AF7-A357-978A0B54DBBA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44" name="表格 34"/>
          <p:cNvGraphicFramePr/>
          <p:nvPr/>
        </p:nvGraphicFramePr>
        <p:xfrm>
          <a:off x="571500" y="1162050"/>
          <a:ext cx="11049000" cy="1905000"/>
        </p:xfrm>
        <a:graphic>
          <a:graphicData uri="http://schemas.openxmlformats.org/drawingml/2006/table">
            <a:tbl>
              <a:tblPr/>
              <a:tblGrid>
                <a:gridCol w="2267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1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关键任务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中期（主责）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结题调整说明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智能体化攻坚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规划中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算法主责，重构调参 Agent（双层循环+5工具+安全回退）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前端联调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前端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前端联调 + 调参功能可视化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文档封装 / 发布包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文档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文档封装发布包（v1.1.0 安装包 + 四份文档）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" name="表格 35"/>
          <p:cNvGraphicFramePr/>
          <p:nvPr/>
        </p:nvGraphicFramePr>
        <p:xfrm>
          <a:off x="571500" y="4410075"/>
          <a:ext cx="11048999" cy="1813560"/>
        </p:xfrm>
        <a:graphic>
          <a:graphicData uri="http://schemas.openxmlformats.org/drawingml/2006/table">
            <a:tbl>
              <a:tblPr/>
              <a:tblGrid>
                <a:gridCol w="1114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7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成员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难度系数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完成质量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协作系数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贡献值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+mn-ea"/>
                          <a:ea typeface="+mn-ea"/>
                          <a:cs typeface="+mn-ea"/>
                        </a:rPr>
                        <a:t>刘双瑞</a:t>
                      </a:r>
                      <a:endParaRPr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30"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胡雨杨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吴程龙秀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30">
                          <a:latin typeface="+mn-ea"/>
                          <a:ea typeface="+mn-ea"/>
                          <a:cs typeface="+mn-ea"/>
                        </a:rPr>
                        <a:t>80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公式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贡献值 = 难度系数 × 完成质量 × 协作系数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D86761FA-DE87-4F5B-AAAF-020FAA4B4A77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跨越调研、算法与前端的三大挑战 → 以RACI-V调整分工，用贡献记录和交付率复核协作效果。</a:t>
            </a:r>
            <a:endParaRPr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894798-7714-4330-8B75-C54341320589}"/>
              </a:ext>
            </a:extLst>
          </p:cNvPr>
          <p:cNvSpPr>
            <a:spLocks noGrp="1"/>
          </p:cNvSpPr>
          <p:nvPr/>
        </p:nvSpPr>
        <p:spPr>
          <a:xfrm>
            <a:off x="11220450" y="6353175"/>
            <a:ext cx="40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12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9913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3D66E1DC-E979-4D94-BA8C-93CCDBC2B3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516B805-54FC-464B-AB74-DA241773DC4F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交付率 70%→90%，软件交付里程碑达成</a:t>
            </a:r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396C8A0-AA75-40C3-A881-C0195C489654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D113623-5029-47AE-A5E2-35FD54D51AB9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4419600" cy="1924050"/>
          </a:xfrm>
          <a:prstGeom prst="roundRect">
            <a:avLst>
              <a:gd name="adj" fmla="val 4950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D8FB66-DAFE-4806-966C-0922E09C0466}"/>
              </a:ext>
            </a:extLst>
          </p:cNvPr>
          <p:cNvSpPr>
            <a:spLocks noGrp="1"/>
          </p:cNvSpPr>
          <p:nvPr/>
        </p:nvSpPr>
        <p:spPr>
          <a:xfrm>
            <a:off x="838200" y="1409700"/>
            <a:ext cx="3886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>
                <a:solidFill>
                  <a:srgbClr val="99BDED"/>
                </a:solidFill>
                <a:latin typeface="Arial"/>
                <a:ea typeface="Arial"/>
                <a:cs typeface="Arial"/>
              </a:rPr>
              <a:t>任务按期交付率（既有改进前后）</a:t>
            </a:r>
            <a:endParaRPr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763C35-DE63-4EB8-810C-1C9EC34AEA8B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733425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850">
                <a:solidFill>
                  <a:srgbClr val="808080"/>
                </a:solidFill>
                <a:latin typeface="Arial"/>
                <a:ea typeface="Arial"/>
                <a:cs typeface="Arial"/>
              </a:rPr>
              <a:t>70%</a:t>
            </a:r>
            <a:endParaRPr/>
          </a:p>
        </p:txBody>
      </p:sp>
      <p:pic>
        <p:nvPicPr>
          <p:cNvPr id="85" name="图形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4975" y="1714500"/>
            <a:ext cx="304800" cy="3048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9996E0D9-8245-4315-8848-6B96946C1C13}"/>
              </a:ext>
            </a:extLst>
          </p:cNvPr>
          <p:cNvSpPr>
            <a:spLocks noGrp="1"/>
          </p:cNvSpPr>
          <p:nvPr/>
        </p:nvSpPr>
        <p:spPr>
          <a:xfrm>
            <a:off x="2143125" y="1714500"/>
            <a:ext cx="1533525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90%</a:t>
            </a:r>
            <a:endParaRPr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869F31C-6B57-4185-B30D-0D7AD2772CB2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3886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C9D6E2"/>
                </a:solidFill>
                <a:latin typeface="Arial"/>
                <a:ea typeface="Arial"/>
                <a:cs typeface="Arial"/>
              </a:rPr>
              <a:t>每日立会 + 任务认领看板驱动</a:t>
            </a: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C3E6A36-F9BC-4B40-8FD0-4EF2F43648DB}"/>
              </a:ext>
            </a:extLst>
          </p:cNvPr>
          <p:cNvSpPr>
            <a:spLocks noGrp="1"/>
          </p:cNvSpPr>
          <p:nvPr/>
        </p:nvSpPr>
        <p:spPr>
          <a:xfrm>
            <a:off x="5257800" y="1847850"/>
            <a:ext cx="6362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敏捷看板 · 五泳道全交付</a:t>
            </a:r>
            <a:endParaRPr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0D63E48-9F7D-4D38-8ADC-FB883B2EE1F4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63627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将 Git 31 个提交重排为任务看板：底座 → 分析 → 调参 → 智能体 → 发布</a:t>
            </a:r>
            <a:endParaRPr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CADBE18-BB91-4CA5-9732-C8BA50F60B80}"/>
              </a:ext>
            </a:extLst>
          </p:cNvPr>
          <p:cNvSpPr>
            <a:spLocks noGrp="1"/>
          </p:cNvSpPr>
          <p:nvPr/>
        </p:nvSpPr>
        <p:spPr>
          <a:xfrm>
            <a:off x="571500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EE2A04B-F5EC-4AA4-A59E-22216AC51D82}"/>
              </a:ext>
            </a:extLst>
          </p:cNvPr>
          <p:cNvSpPr>
            <a:spLocks noGrp="1"/>
          </p:cNvSpPr>
          <p:nvPr/>
        </p:nvSpPr>
        <p:spPr>
          <a:xfrm>
            <a:off x="1457325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底座</a:t>
            </a:r>
            <a:endParaRPr/>
          </a:p>
        </p:txBody>
      </p:sp>
      <p:pic>
        <p:nvPicPr>
          <p:cNvPr id="92" name="图形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5895975"/>
            <a:ext cx="171450" cy="171450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24D366A9-B968-4179-B297-09E648ADD161}"/>
              </a:ext>
            </a:extLst>
          </p:cNvPr>
          <p:cNvSpPr>
            <a:spLocks noGrp="1"/>
          </p:cNvSpPr>
          <p:nvPr/>
        </p:nvSpPr>
        <p:spPr>
          <a:xfrm>
            <a:off x="1524000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7E7FD35-F1E7-477A-86A8-456F0C25731C}"/>
              </a:ext>
            </a:extLst>
          </p:cNvPr>
          <p:cNvSpPr>
            <a:spLocks noGrp="1"/>
          </p:cNvSpPr>
          <p:nvPr/>
        </p:nvSpPr>
        <p:spPr>
          <a:xfrm>
            <a:off x="2809875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B9A61B3-2A4E-4136-AC34-D9DF36E16FC2}"/>
              </a:ext>
            </a:extLst>
          </p:cNvPr>
          <p:cNvSpPr>
            <a:spLocks noGrp="1"/>
          </p:cNvSpPr>
          <p:nvPr/>
        </p:nvSpPr>
        <p:spPr>
          <a:xfrm>
            <a:off x="3695700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分析</a:t>
            </a:r>
            <a:endParaRPr/>
          </a:p>
        </p:txBody>
      </p:sp>
      <p:pic>
        <p:nvPicPr>
          <p:cNvPr id="96" name="图形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3775" y="5895975"/>
            <a:ext cx="171450" cy="17145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FCD20E21-950F-4F15-A790-5F4D7BFFD18F}"/>
              </a:ext>
            </a:extLst>
          </p:cNvPr>
          <p:cNvSpPr>
            <a:spLocks noGrp="1"/>
          </p:cNvSpPr>
          <p:nvPr/>
        </p:nvSpPr>
        <p:spPr>
          <a:xfrm>
            <a:off x="3762375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DC3697C-BFCC-4968-8CB9-C65FF7029AD9}"/>
              </a:ext>
            </a:extLst>
          </p:cNvPr>
          <p:cNvSpPr>
            <a:spLocks noGrp="1"/>
          </p:cNvSpPr>
          <p:nvPr/>
        </p:nvSpPr>
        <p:spPr>
          <a:xfrm>
            <a:off x="5048250" y="5438775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2552AB2-AF28-48B8-B909-DB0963326450}"/>
              </a:ext>
            </a:extLst>
          </p:cNvPr>
          <p:cNvSpPr>
            <a:spLocks noGrp="1"/>
          </p:cNvSpPr>
          <p:nvPr/>
        </p:nvSpPr>
        <p:spPr>
          <a:xfrm>
            <a:off x="5924550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调参</a:t>
            </a:r>
            <a:endParaRPr/>
          </a:p>
        </p:txBody>
      </p:sp>
      <p:pic>
        <p:nvPicPr>
          <p:cNvPr id="100" name="图形 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150" y="5895975"/>
            <a:ext cx="171450" cy="171450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2DA730E9-231A-4B74-B368-349AB93747E3}"/>
              </a:ext>
            </a:extLst>
          </p:cNvPr>
          <p:cNvSpPr>
            <a:spLocks noGrp="1"/>
          </p:cNvSpPr>
          <p:nvPr/>
        </p:nvSpPr>
        <p:spPr>
          <a:xfrm>
            <a:off x="6000750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1CB1EF4-B388-48F5-A108-66F1D23A891B}"/>
              </a:ext>
            </a:extLst>
          </p:cNvPr>
          <p:cNvSpPr>
            <a:spLocks noGrp="1"/>
          </p:cNvSpPr>
          <p:nvPr/>
        </p:nvSpPr>
        <p:spPr>
          <a:xfrm>
            <a:off x="7277100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6299062-C624-48B7-B262-D8CD43402F74}"/>
              </a:ext>
            </a:extLst>
          </p:cNvPr>
          <p:cNvSpPr>
            <a:spLocks noGrp="1"/>
          </p:cNvSpPr>
          <p:nvPr/>
        </p:nvSpPr>
        <p:spPr>
          <a:xfrm>
            <a:off x="8077200" y="559117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智能体</a:t>
            </a:r>
            <a:endParaRPr/>
          </a:p>
        </p:txBody>
      </p:sp>
      <p:pic>
        <p:nvPicPr>
          <p:cNvPr id="104" name="图形 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0" y="5895975"/>
            <a:ext cx="171450" cy="171450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5722F48A-C34A-4CA1-81C2-63827F172A4D}"/>
              </a:ext>
            </a:extLst>
          </p:cNvPr>
          <p:cNvSpPr>
            <a:spLocks noGrp="1"/>
          </p:cNvSpPr>
          <p:nvPr/>
        </p:nvSpPr>
        <p:spPr>
          <a:xfrm>
            <a:off x="8229600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78EF7A0-43A3-4505-A6D9-D7930173E589}"/>
              </a:ext>
            </a:extLst>
          </p:cNvPr>
          <p:cNvSpPr>
            <a:spLocks noGrp="1"/>
          </p:cNvSpPr>
          <p:nvPr/>
        </p:nvSpPr>
        <p:spPr>
          <a:xfrm>
            <a:off x="9515475" y="5438775"/>
            <a:ext cx="2105025" cy="781050"/>
          </a:xfrm>
          <a:prstGeom prst="roundRect">
            <a:avLst>
              <a:gd name="adj" fmla="val 9756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99B7BFB-204E-415C-835B-9079F99CF7A6}"/>
              </a:ext>
            </a:extLst>
          </p:cNvPr>
          <p:cNvSpPr>
            <a:spLocks noGrp="1"/>
          </p:cNvSpPr>
          <p:nvPr/>
        </p:nvSpPr>
        <p:spPr>
          <a:xfrm>
            <a:off x="10401300" y="55911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发布</a:t>
            </a:r>
            <a:endParaRPr/>
          </a:p>
        </p:txBody>
      </p:sp>
      <p:pic>
        <p:nvPicPr>
          <p:cNvPr id="108" name="图形 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9375" y="5895975"/>
            <a:ext cx="171450" cy="171450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32CF34BE-F2F2-4BD0-8EA9-BB31D796B98D}"/>
              </a:ext>
            </a:extLst>
          </p:cNvPr>
          <p:cNvSpPr>
            <a:spLocks noGrp="1"/>
          </p:cNvSpPr>
          <p:nvPr/>
        </p:nvSpPr>
        <p:spPr>
          <a:xfrm>
            <a:off x="10467975" y="58959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已交付</a:t>
            </a:r>
            <a:endParaRPr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F3D197D-6B22-4553-8F26-73812C9C6E59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协作证据：RACI-V分工表、问题反馈与Git提交记录；团队通过交叉联调回应上下文失真和硬件受阻。</a:t>
            </a:r>
            <a:endParaRPr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B0B6855-CE7C-4277-94F0-FD256749A111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13 / 20</a:t>
            </a: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任务按期交付率：看板驱动提升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4297680"/>
            <a:ext cx="5318760" cy="914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2960" y="4407408"/>
            <a:ext cx="486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微软雅黑"/>
                <a:ea typeface="微软雅黑"/>
              </a:rPr>
              <a:t>项目初期</a:t>
            </a:r>
          </a:p>
          <a:p>
            <a:pPr algn="l"/>
            <a:r>
              <a:rPr sz="3200" b="1">
                <a:solidFill>
                  <a:srgbClr val="FF7A45"/>
                </a:solidFill>
                <a:latin typeface="微软雅黑"/>
                <a:ea typeface="微软雅黑"/>
              </a:rPr>
              <a:t>70%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4983480"/>
            <a:ext cx="3672840" cy="14630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828800" y="4983480"/>
            <a:ext cx="2570988" cy="146304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324600" y="4297680"/>
            <a:ext cx="5318760" cy="914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98920" y="4407408"/>
            <a:ext cx="486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微软雅黑"/>
                <a:ea typeface="微软雅黑"/>
              </a:rPr>
              <a:t>结题阶段</a:t>
            </a:r>
          </a:p>
          <a:p>
            <a:pPr algn="l"/>
            <a:r>
              <a:rPr sz="3200" b="1">
                <a:solidFill>
                  <a:srgbClr val="00C48D"/>
                </a:solidFill>
                <a:latin typeface="微软雅黑"/>
                <a:ea typeface="微软雅黑"/>
              </a:rPr>
              <a:t>90%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604760" y="4983480"/>
            <a:ext cx="3672840" cy="14630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604760" y="4983480"/>
            <a:ext cx="3305556" cy="146304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5349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五泳道里程碑甘特（7/19 → 8/25，全部交付）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63040" y="566928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7/19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16680" y="566928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7/27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70320" y="566928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8/4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823960" y="566928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8/16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77600" y="566928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8/25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0080" y="5952744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  <a:ea typeface="微软雅黑"/>
              </a:rPr>
              <a:t>底座 M1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737360" y="6007608"/>
            <a:ext cx="9814560" cy="164592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737360" y="5961888"/>
            <a:ext cx="1962912" cy="256032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608832" y="5980176"/>
            <a:ext cx="201168" cy="201168"/>
          </a:xfrm>
          <a:prstGeom prst="ellipse">
            <a:avLst/>
          </a:prstGeom>
          <a:solidFill>
            <a:srgbClr val="00C48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718560" y="5980176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0080" y="628192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  <a:ea typeface="微软雅黑"/>
              </a:rPr>
              <a:t>分析 M2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737360" y="6336792"/>
            <a:ext cx="9814560" cy="164592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209544" y="6291072"/>
            <a:ext cx="2649931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768035" y="6309360"/>
            <a:ext cx="201168" cy="201168"/>
          </a:xfrm>
          <a:prstGeom prst="ellipse">
            <a:avLst/>
          </a:prstGeom>
          <a:solidFill>
            <a:srgbClr val="00C48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877763" y="630936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6611112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  <a:ea typeface="微软雅黑"/>
              </a:rPr>
              <a:t>调参 M3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737360" y="6665976"/>
            <a:ext cx="9814560" cy="164592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76164" y="6620256"/>
            <a:ext cx="3435096" cy="256032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319820" y="6638544"/>
            <a:ext cx="201168" cy="201168"/>
          </a:xfrm>
          <a:prstGeom prst="ellipse">
            <a:avLst/>
          </a:prstGeom>
          <a:solidFill>
            <a:srgbClr val="00C48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429548" y="663854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6940296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737360" y="6995160"/>
            <a:ext cx="9814560" cy="164592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822387" y="6949440"/>
            <a:ext cx="2748076" cy="256032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479024" y="6967728"/>
            <a:ext cx="201168" cy="201168"/>
          </a:xfrm>
          <a:prstGeom prst="ellipse">
            <a:avLst/>
          </a:prstGeom>
          <a:solidFill>
            <a:srgbClr val="00C48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588752" y="696772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0080" y="7269480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  <a:ea typeface="微软雅黑"/>
              </a:rPr>
              <a:t>发布 v1.1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737360" y="7324344"/>
            <a:ext cx="9814560" cy="164592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177881" y="7278624"/>
            <a:ext cx="1374038" cy="2560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1460480" y="7296912"/>
            <a:ext cx="201168" cy="201168"/>
          </a:xfrm>
          <a:prstGeom prst="ellipse">
            <a:avLst/>
          </a:prstGeom>
          <a:solidFill>
            <a:srgbClr val="00C48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570208" y="729691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C48D"/>
                </a:solidFill>
                <a:latin typeface="微软雅黑"/>
                <a:ea typeface="微软雅黑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20769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800F17B-D6BC-463F-BB1C-5ECC727077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82525F-0B20-4EAF-B7AF-F9FF7CB1852A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资源杠杆｜完整资源—行动—价值对照总表</a:t>
            </a:r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7853157-869D-416C-9C56-6BA61E2B4B06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97F4D1A-40AB-4E05-86CC-9FE77CD1A8DC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来源：既有投入记录、发布包与用户测评记录；182h与350元口径不变，新增反馈不混入深访成本分母。</a:t>
            </a:r>
            <a:endParaRPr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11D0AD2-4185-46CD-97CB-4C0B775145E7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14 / 20</a:t>
            </a:r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F595EDF-06CB-43EF-80FF-778552EC44AE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有限资源优先投入三处瓶颈：真实反馈、AI上下文质量、仿真与硬件衔接。</a:t>
            </a:r>
          </a:p>
        </p:txBody>
      </p:sp>
      <p:graphicFrame>
        <p:nvGraphicFramePr>
          <p:cNvPr id="101" name="表格 100"/>
          <p:cNvGraphicFramePr/>
          <p:nvPr/>
        </p:nvGraphicFramePr>
        <p:xfrm>
          <a:off x="571500" y="1571625"/>
          <a:ext cx="11049000" cy="36957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95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资源类别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投入 / 来源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转化行动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形成的价值 / 成果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边界与效率</a:t>
                      </a:r>
                    </a:p>
                  </a:txBody>
                  <a:tcPr marL="85725" marR="85725" marT="57150" marB="57150" anchor="ctr"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团队时间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开发152h＋验证30h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合计182h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并行开发、联调、验证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完成可安装版本与文档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以交付物复核工时成果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现金经费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合计350元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API120 / 云80 / 激励150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模型调用、部署与反馈收集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12份深度反馈与产品迭代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约29.2元/份反馈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用户资源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7份问卷；12份深访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另补充5条体验反馈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定位调参痛点与付费意愿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8/12表达付费意愿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反馈推动5项体验改进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反馈条数≠独立人数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未计作实际收入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外部指导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2次指导＋5个开源库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吸收评审、复用组件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减少基础功能重复开发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保留来源与许可要求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技术底座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Electron / Vue / ECharts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串口组件＋模型API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桌面交付、波形、AI工具编排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v1.1.0、6份文档、31次提交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API成本与网络仍是约束</a:t>
                      </a:r>
                    </a:p>
                  </a:txBody>
                  <a:tcPr marL="85725" marR="85725" marT="57150" marB="5715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验证资产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12项自测 / 18测试文件</a:t>
                      </a:r>
                    </a:p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51份波形资产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仿真回归、异常与链路检查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低成本复现与诊断案例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不替代真实硬件用户测评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8" name="矩形 87">
            <a:extLst>
              <a:ext uri="{FF2B5EF4-FFF2-40B4-BE49-F238E27FC236}">
                <a16:creationId xmlns:a16="http://schemas.microsoft.com/office/drawing/2014/main" id="{017ADD30-E09E-48F4-A1B9-DF386F1C1FDF}"/>
              </a:ext>
            </a:extLst>
          </p:cNvPr>
          <p:cNvSpPr>
            <a:spLocks noGrp="1"/>
          </p:cNvSpPr>
          <p:nvPr/>
        </p:nvSpPr>
        <p:spPr>
          <a:xfrm>
            <a:off x="571500" y="547687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182h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4824833-07CF-483E-9BF6-8F5D0611BD97}"/>
              </a:ext>
            </a:extLst>
          </p:cNvPr>
          <p:cNvSpPr>
            <a:spLocks noGrp="1"/>
          </p:cNvSpPr>
          <p:nvPr/>
        </p:nvSpPr>
        <p:spPr>
          <a:xfrm>
            <a:off x="571500" y="593407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团队总投入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7FEFDBA-CC50-4AAE-8E5B-92653D58FE79}"/>
              </a:ext>
            </a:extLst>
          </p:cNvPr>
          <p:cNvSpPr>
            <a:spLocks noGrp="1"/>
          </p:cNvSpPr>
          <p:nvPr/>
        </p:nvSpPr>
        <p:spPr>
          <a:xfrm>
            <a:off x="3333750" y="54768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¥29.2 / 份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0E4F6A7-686B-44FF-821B-57645C0A94C3}"/>
              </a:ext>
            </a:extLst>
          </p:cNvPr>
          <p:cNvSpPr>
            <a:spLocks noGrp="1"/>
          </p:cNvSpPr>
          <p:nvPr/>
        </p:nvSpPr>
        <p:spPr>
          <a:xfrm>
            <a:off x="3333750" y="5934075"/>
            <a:ext cx="2667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350元 ÷ 12份深度反馈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3824B5C-B3E9-49FE-81A2-23B4ABB380D2}"/>
              </a:ext>
            </a:extLst>
          </p:cNvPr>
          <p:cNvSpPr>
            <a:spLocks noGrp="1"/>
          </p:cNvSpPr>
          <p:nvPr/>
        </p:nvSpPr>
        <p:spPr>
          <a:xfrm>
            <a:off x="6858000" y="5476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25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3.4份 / 百元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D5F835-1C33-4C16-A5A9-05B8F1208229}"/>
              </a:ext>
            </a:extLst>
          </p:cNvPr>
          <p:cNvSpPr>
            <a:spLocks noGrp="1"/>
          </p:cNvSpPr>
          <p:nvPr/>
        </p:nvSpPr>
        <p:spPr>
          <a:xfrm>
            <a:off x="6858000" y="5934075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12 ÷ 350 × 100；不代表付费转化率</a:t>
            </a:r>
          </a:p>
        </p:txBody>
      </p:sp>
    </p:spTree>
    <p:extLst>
      <p:ext uri="{BB962C8B-B14F-4D97-AF65-F5344CB8AC3E}">
        <p14:creationId xmlns:p14="http://schemas.microsoft.com/office/powerpoint/2010/main" val="2009289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1592A658-6160-439C-A84C-3EF90269A9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E263106-4778-41BA-8E57-3382DBEBCC22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开源杠杆 + 学长指导：用轻资源置换技术与传播</a:t>
            </a:r>
            <a:endParaRPr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34FC0B8-B660-489A-9A9F-BED301A94FA2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44B00F2-1F83-41B5-ADD7-0B50041ECCBD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  <a:defRPr sz="975">
                <a:solidFill>
                  <a:srgbClr val="72809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28090"/>
                </a:solidFill>
                <a:latin typeface="Arial"/>
                <a:ea typeface="Arial"/>
                <a:cs typeface="Arial"/>
              </a:rPr>
              <a:t>证据：原始Git提交截图；价值路径：复用降低重复开发成本，公开交付支撑后续社区补测。</a:t>
            </a:r>
            <a:endParaRPr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AB320D5-A4E9-4D46-A393-13A17C2AC96A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15 / 20</a:t>
            </a:r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45A39F2-A617-4D06-ABC4-B3662738F3FA}"/>
              </a:ext>
            </a:extLst>
          </p:cNvPr>
          <p:cNvSpPr>
            <a:spLocks noGrp="1"/>
          </p:cNvSpPr>
          <p:nvPr/>
        </p:nvSpPr>
        <p:spPr>
          <a:xfrm>
            <a:off x="571500" y="11525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已有定性反馈推动改进，开放交付继续支撑量化复测与真实硬件验证。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282CF9D-B602-476A-BDDD-32ED2AFB1AB8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MIT开源＋免费基础版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61096A8C-FC61-4DEA-BAA0-657725192002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5095875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可运行安装包与文档 → 社区测评入口</a:t>
            </a:r>
          </a:p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在现有反馈上扩展样本与硬件验证。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4B4661C-053E-493B-92A6-E5D19D289576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学长2次指导＋5个开源库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9D48A54-A972-4EE5-92A7-173150AE0E32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50958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消解技术未知项，减少基础功能重复开发；</a:t>
            </a:r>
          </a:p>
          <a:p>
            <a:pPr>
              <a:buNone/>
              <a:defRPr sz="1650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设备受限时，优先仿真，再推进实物联调。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03A3DB9-3281-457E-A81B-533DC3D13028}"/>
              </a:ext>
            </a:extLst>
          </p:cNvPr>
          <p:cNvSpPr>
            <a:spLocks noGrp="1"/>
          </p:cNvSpPr>
          <p:nvPr/>
        </p:nvSpPr>
        <p:spPr>
          <a:xfrm>
            <a:off x="571500" y="4791075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009ED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DB"/>
                </a:solidFill>
                <a:latin typeface="Arial"/>
                <a:ea typeface="Arial"/>
                <a:cs typeface="Arial"/>
              </a:rPr>
              <a:t>方法论沉淀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69E5E5C-21F8-41B2-BB94-2108BCC571F6}"/>
              </a:ext>
            </a:extLst>
          </p:cNvPr>
          <p:cNvSpPr>
            <a:spLocks noGrp="1"/>
          </p:cNvSpPr>
          <p:nvPr/>
        </p:nvSpPr>
        <p:spPr>
          <a:xfrm>
            <a:off x="571500" y="5210175"/>
            <a:ext cx="50958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MVP先验证 → 辅助式定位</a:t>
            </a:r>
          </a:p>
          <a:p>
            <a:pPr>
              <a:buNone/>
              <a:defRPr sz="1575" b="0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61F32"/>
                </a:solidFill>
                <a:latin typeface="Arial"/>
                <a:ea typeface="Arial"/>
                <a:cs typeface="Arial"/>
              </a:rPr>
              <a:t>→ 机制化安全 → 开源杠杆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C9ACFDD-951C-48D2-BC3F-65C12A9F72BC}"/>
              </a:ext>
            </a:extLst>
          </p:cNvPr>
          <p:cNvSpPr>
            <a:spLocks noGrp="1"/>
          </p:cNvSpPr>
          <p:nvPr/>
        </p:nvSpPr>
        <p:spPr>
          <a:xfrm>
            <a:off x="6238875" y="1743075"/>
            <a:ext cx="5381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发布证据｜8/25文档、安装包与许可记录</a:t>
            </a:r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38875" y="2194098"/>
            <a:ext cx="5381625" cy="3393729"/>
          </a:xfrm>
          <a:prstGeom prst="rect">
            <a:avLst/>
          </a:prstGeom>
        </p:spPr>
      </p:pic>
      <p:sp>
        <p:nvSpPr>
          <p:cNvPr id="116" name="矩形 115">
            <a:extLst>
              <a:ext uri="{FF2B5EF4-FFF2-40B4-BE49-F238E27FC236}">
                <a16:creationId xmlns:a16="http://schemas.microsoft.com/office/drawing/2014/main" id="{1AC7FB08-B27F-4D54-96D1-C919BFE4D9D6}"/>
              </a:ext>
            </a:extLst>
          </p:cNvPr>
          <p:cNvSpPr>
            <a:spLocks noGrp="1"/>
          </p:cNvSpPr>
          <p:nvPr/>
        </p:nvSpPr>
        <p:spPr>
          <a:xfrm>
            <a:off x="6238875" y="5772150"/>
            <a:ext cx="53816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350" b="1">
                <a:solidFill>
                  <a:srgbClr val="061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已形成安装上手反馈，后续以量化复测检验改善。</a:t>
            </a:r>
          </a:p>
        </p:txBody>
      </p:sp>
    </p:spTree>
    <p:extLst>
      <p:ext uri="{BB962C8B-B14F-4D97-AF65-F5344CB8AC3E}">
        <p14:creationId xmlns:p14="http://schemas.microsoft.com/office/powerpoint/2010/main" val="287036226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45720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商业模式与盈利测算｜分层订阅 + 赛事周专享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Source：问卷 D1/D3 付费意愿 8/12 · 华中大 500+ 电赛队伍 · 竞赛一周集中爆发特征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2606040"/>
          </a:xfrm>
          <a:prstGeom prst="roundRect">
            <a:avLst>
              <a:gd name="adj" fmla="val 5000"/>
            </a:avLst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48D"/>
                </a:solidFill>
                <a:latin typeface="微软雅黑"/>
                <a:ea typeface="微软雅黑"/>
              </a:rPr>
              <a:t>三层订阅定价方案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86100"/>
            <a:ext cx="1554480" cy="388620"/>
          </a:xfrm>
          <a:prstGeom prst="roundRect">
            <a:avLst>
              <a:gd name="adj" fmla="val 5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203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7B8D"/>
                </a:solidFill>
                <a:latin typeface="微软雅黑"/>
                <a:ea typeface="微软雅黑"/>
              </a:rPr>
              <a:t>￥0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232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免费
基础版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>波形绘制+基础分析
无 AI 调参额度
开源引流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386584"/>
            <a:ext cx="1554480" cy="1088136"/>
          </a:xfrm>
          <a:prstGeom prst="roundRect">
            <a:avLst>
              <a:gd name="adj" fmla="val 5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02082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微软雅黑"/>
                <a:ea typeface="微软雅黑"/>
              </a:rPr>
              <a:t>￥30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52374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月订阅
￥30/月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60604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>400 次/月调参
覆盖日常实验
基础版所有功能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920240"/>
            <a:ext cx="1554480" cy="1554480"/>
          </a:xfrm>
          <a:prstGeom prst="roundRect">
            <a:avLst>
              <a:gd name="adj" fmla="val 5000"/>
            </a:avLst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55448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C48D"/>
                </a:solidFill>
                <a:latin typeface="微软雅黑"/>
                <a:ea typeface="微软雅黑"/>
              </a:rPr>
              <a:t>￥20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05740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周订阅
￥20/周 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60604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>电赛/智能车专享
一周不限量
冲刺期首选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74720"/>
            <a:ext cx="5212080" cy="18288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051560"/>
            <a:ext cx="5425440" cy="2606040"/>
          </a:xfrm>
          <a:prstGeom prst="roundRect">
            <a:avLst>
              <a:gd name="adj" fmla="val 5000"/>
            </a:avLst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43000"/>
            <a:ext cx="5059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48D"/>
                </a:solidFill>
                <a:latin typeface="微软雅黑"/>
                <a:ea typeface="微软雅黑"/>
              </a:rPr>
              <a:t>定价逻辑｜贴合竞赛场景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554480"/>
            <a:ext cx="365760" cy="365760"/>
          </a:xfrm>
          <a:prstGeom prst="ellipse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002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0C48D"/>
                </a:solidFill>
                <a:latin typeface="微软雅黑"/>
                <a:ea typeface="微软雅黑"/>
              </a:rP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508760"/>
            <a:ext cx="460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免费版引流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783080"/>
            <a:ext cx="460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波形+基础分析零门槛，支撑开源社区传播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240280"/>
            <a:ext cx="365760" cy="365760"/>
          </a:xfrm>
          <a:prstGeom prst="ellipse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2860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0C48D"/>
                </a:solidFill>
                <a:latin typeface="微软雅黑"/>
                <a:ea typeface="微软雅黑"/>
              </a:rPr>
              <a:t>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194560"/>
            <a:ext cx="460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月订阅日常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468880"/>
            <a:ext cx="460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400 次/月覆盖实验室常备调参需求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926080"/>
            <a:ext cx="365760" cy="365760"/>
          </a:xfrm>
          <a:prstGeom prst="ellipse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971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0C48D"/>
                </a:solidFill>
                <a:latin typeface="微软雅黑"/>
                <a:ea typeface="微软雅黑"/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80360"/>
            <a:ext cx="460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周订阅冲刺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154680"/>
            <a:ext cx="460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电赛/智能车一周内集中调参 → 20 元不限量，转化率更高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794760"/>
            <a:ext cx="5486400" cy="2697480"/>
          </a:xfrm>
          <a:prstGeom prst="roundRect">
            <a:avLst>
              <a:gd name="adj" fmla="val 5000"/>
            </a:avLst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86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48D"/>
                </a:solidFill>
                <a:latin typeface="微软雅黑"/>
                <a:ea typeface="微软雅黑"/>
              </a:rPr>
              <a:t>用户规模测算（从华科单校到全国）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251960"/>
            <a:ext cx="4754880" cy="4114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3251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华中大电赛参赛队伍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3251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A73E8"/>
                </a:solidFill>
                <a:latin typeface="微软雅黑"/>
                <a:ea typeface="微软雅黑"/>
              </a:rPr>
              <a:t>500+ 队/年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92808" y="4754880"/>
            <a:ext cx="2615184" cy="411480"/>
          </a:xfrm>
          <a:prstGeom prst="roundRect">
            <a:avLst>
              <a:gd name="adj" fmla="val 20000"/>
            </a:avLst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8280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购买周订阅（按 1/10 估算）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828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00A3FF"/>
                </a:solidFill>
                <a:latin typeface="微软雅黑"/>
                <a:ea typeface="微软雅黑"/>
              </a:rPr>
              <a:t>50 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96973" y="5257800"/>
            <a:ext cx="1806854" cy="411480"/>
          </a:xfrm>
          <a:prstGeom prst="roundRect">
            <a:avLst>
              <a:gd name="adj" fmla="val 20000"/>
            </a:avLst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3309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全国同比例推算（~100 倍高校基数）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330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00C48D"/>
                </a:solidFill>
                <a:latin typeface="微软雅黑"/>
                <a:ea typeface="微软雅黑"/>
              </a:rPr>
              <a:t>≈ 5,000 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06040" y="5760720"/>
            <a:ext cx="1188720" cy="411480"/>
          </a:xfrm>
          <a:prstGeom prst="roundRect">
            <a:avLst>
              <a:gd name="adj" fmla="val 20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8338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叠加智能车 / RM / RC 赛事 ×1.5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8338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B800"/>
                </a:solidFill>
                <a:latin typeface="微软雅黑"/>
                <a:ea typeface="微软雅黑"/>
              </a:rPr>
              <a:t>≈ 7,500 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1264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单校年收入（仅电赛周订阅）：50 队 × ￥20 = ￥1,000/年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794760"/>
            <a:ext cx="5425440" cy="2697480"/>
          </a:xfrm>
          <a:prstGeom prst="roundRect">
            <a:avLst>
              <a:gd name="adj" fmla="val 5000"/>
            </a:avLst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886200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48D"/>
                </a:solidFill>
                <a:latin typeface="微软雅黑"/>
                <a:ea typeface="微软雅黑"/>
              </a:rPr>
              <a:t>保守年收入估算 ≈ 22 万元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206240"/>
            <a:ext cx="487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B800"/>
                </a:solidFill>
                <a:latin typeface="微软雅黑"/>
                <a:ea typeface="微软雅黑"/>
              </a:rPr>
              <a:t>￥220,000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20"/>
            <a:ext cx="487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B8D"/>
                </a:solidFill>
                <a:latin typeface="微软雅黑"/>
                <a:ea typeface="微软雅黑"/>
              </a:rPr>
              <a:t>年营收 · 保守口径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5212080"/>
            <a:ext cx="2216727" cy="274320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08967" y="5212080"/>
            <a:ext cx="1108363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17330" y="5212080"/>
            <a:ext cx="997527" cy="2743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14857" y="5212080"/>
            <a:ext cx="554181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5714999"/>
            <a:ext cx="164592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5669279"/>
            <a:ext cx="4693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电赛周订阅（全国）  10.0 万（45%）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5916167"/>
            <a:ext cx="16459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5870447"/>
            <a:ext cx="4693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智能车 / RM / RC 周订阅  5.0 万（22%）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6117335"/>
            <a:ext cx="164592" cy="10972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6071615"/>
            <a:ext cx="4693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月订阅（日常用户）  4.5 万（20%）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6318503"/>
            <a:ext cx="164592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0840" y="6272783"/>
            <a:ext cx="4693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开源赞助 / API 增值  2.5 万（11%）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565392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B8D"/>
                </a:solidFill>
                <a:latin typeface="微软雅黑"/>
                <a:ea typeface="微软雅黑"/>
              </a:rPr>
              <a:t>测算口径：华科单校 500 队×10% 购买率=50 队×￥20=￥1,000/年（仅电赛一项赛事）；全国按约 100 倍高校基数推算；叠加智能车/RM/RC 赛事 ×1.5；再叠加月订阅与赞助 → 保守年收入 ≈ 22 万元。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B74229B-616C-44DB-839C-1E133CFB1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5216427-7F32-4CDC-B52B-6E16B4ED430E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从定性反馈走向量化复测：补齐真实硬件闭环</a:t>
            </a:r>
            <a:endParaRPr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5EFB7DD-39CF-4C84-8888-D9BBEDF014CE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908FA382-C8BC-4D7E-B188-A1D44F2D7526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552825" cy="2286000"/>
          </a:xfrm>
          <a:prstGeom prst="roundRect">
            <a:avLst>
              <a:gd name="adj" fmla="val 41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BB959DC8-07C6-49C4-94A4-133B4905D2F4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3552825" cy="2286000"/>
          </a:xfrm>
          <a:custGeom>
            <a:avLst/>
            <a:gdLst/>
            <a:ahLst/>
            <a:cxnLst/>
            <a:rect l="0" t="0" r="0" b="0"/>
            <a:pathLst>
              <a:path w="373" h="240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4C654527-20CC-4686-8F7E-C9EB295D8ADB}"/>
              </a:ext>
            </a:extLst>
          </p:cNvPr>
          <p:cNvSpPr>
            <a:spLocks noGrp="1"/>
          </p:cNvSpPr>
          <p:nvPr/>
        </p:nvSpPr>
        <p:spPr>
          <a:xfrm>
            <a:off x="762000" y="1409700"/>
            <a:ext cx="3171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短期 · 3 个月</a:t>
            </a:r>
            <a:endParaRPr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C96E8C8-FED7-4231-B32D-2BF54C59BB61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3171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接通下发链路</a:t>
            </a:r>
            <a:endParaRPr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999AD93-DC70-4FF4-9885-2F66E2905FB0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317182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PID/前馈参数下发链路（zhichuan 指令集已就绪）→ 真实硬件闭环实测；GitHub 开源 + B 站上手视频</a:t>
            </a:r>
            <a:endParaRPr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D20409F-E63F-4872-8039-847974AB933C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依赖：依赖：实验室 STM32 套件 / 课程时间</a:t>
            </a:r>
            <a:endParaRPr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926784-402B-40CD-A4E6-99775E44F933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替代：替代：USB-TTL 中转、仿真演示替代实机</a:t>
            </a:r>
            <a:endParaRPr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72E7F960-18C8-463B-96B0-EEDB7C41FF7A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2286000"/>
          </a:xfrm>
          <a:prstGeom prst="roundRect">
            <a:avLst>
              <a:gd name="adj" fmla="val 41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4333772F-6A9A-40ED-9D13-27B4E823BC49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2286000"/>
          </a:xfrm>
          <a:custGeom>
            <a:avLst/>
            <a:gdLst/>
            <a:ahLst/>
            <a:cxnLst/>
            <a:rect l="0" t="0" r="0" b="0"/>
            <a:pathLst>
              <a:path w="374" h="240">
                <a:moveTo>
                  <a:pt x="364" y="0"/>
                </a:moveTo>
                <a:cubicBezTo>
                  <a:pt x="369" y="0"/>
                  <a:pt x="373" y="4"/>
                  <a:pt x="374" y="8"/>
                </a:cubicBezTo>
                <a:cubicBezTo>
                  <a:pt x="373" y="6"/>
                  <a:pt x="371" y="4"/>
                  <a:pt x="36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D009BC64-8760-4F2E-B90A-A69938A05C27}"/>
              </a:ext>
            </a:extLst>
          </p:cNvPr>
          <p:cNvSpPr>
            <a:spLocks noGrp="1"/>
          </p:cNvSpPr>
          <p:nvPr/>
        </p:nvSpPr>
        <p:spPr>
          <a:xfrm>
            <a:off x="4505325" y="1409700"/>
            <a:ext cx="3181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中期 · 3–12 个月</a:t>
            </a:r>
            <a:endParaRPr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69E9856-486D-4BF9-AB2C-19FEE74CAC8A}"/>
              </a:ext>
            </a:extLst>
          </p:cNvPr>
          <p:cNvSpPr>
            <a:spLocks noGrp="1"/>
          </p:cNvSpPr>
          <p:nvPr/>
        </p:nvSpPr>
        <p:spPr>
          <a:xfrm>
            <a:off x="4505325" y="1695450"/>
            <a:ext cx="3181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v1.2 扩充</a:t>
            </a:r>
            <a:endParaRPr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C52519CF-737A-4DC2-8B4C-38EC3C263170}"/>
              </a:ext>
            </a:extLst>
          </p:cNvPr>
          <p:cNvSpPr>
            <a:spLocks noGrp="1"/>
          </p:cNvSpPr>
          <p:nvPr/>
        </p:nvSpPr>
        <p:spPr>
          <a:xfrm>
            <a:off x="4505325" y="2047875"/>
            <a:ext cx="31813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策略模板扩充（直立环 / 舵机环）+ 离线整定降级（Z-N / 继电）→ 发布 v1.2</a:t>
            </a:r>
            <a:endParaRPr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8AF0CA51-1357-4348-9D58-38BD67698996}"/>
              </a:ext>
            </a:extLst>
          </p:cNvPr>
          <p:cNvSpPr>
            <a:spLocks noGrp="1"/>
          </p:cNvSpPr>
          <p:nvPr/>
        </p:nvSpPr>
        <p:spPr>
          <a:xfrm>
            <a:off x="4505325" y="2933700"/>
            <a:ext cx="3181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依赖：对接校内电赛群 / 智能车社团征集真实测评</a:t>
            </a:r>
            <a:endParaRPr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25A4F04-E672-4597-9CE6-84DC996DF3E2}"/>
              </a:ext>
            </a:extLst>
          </p:cNvPr>
          <p:cNvSpPr>
            <a:spLocks noGrp="1"/>
          </p:cNvSpPr>
          <p:nvPr/>
        </p:nvSpPr>
        <p:spPr>
          <a:xfrm>
            <a:off x="4505325" y="3124200"/>
            <a:ext cx="3181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替代：回应评审①：真实测评证据</a:t>
            </a:r>
            <a:endParaRPr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4C8A7F8E-9040-45A8-9082-6D89D7267D45}"/>
              </a:ext>
            </a:extLst>
          </p:cNvPr>
          <p:cNvSpPr>
            <a:spLocks noGrp="1"/>
          </p:cNvSpPr>
          <p:nvPr/>
        </p:nvSpPr>
        <p:spPr>
          <a:xfrm>
            <a:off x="8067675" y="1219200"/>
            <a:ext cx="3552825" cy="2286000"/>
          </a:xfrm>
          <a:prstGeom prst="roundRect">
            <a:avLst>
              <a:gd name="adj" fmla="val 4167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FAC29368-4F22-49C1-8F84-DFAF67E5917B}"/>
              </a:ext>
            </a:extLst>
          </p:cNvPr>
          <p:cNvSpPr>
            <a:spLocks noGrp="1"/>
          </p:cNvSpPr>
          <p:nvPr/>
        </p:nvSpPr>
        <p:spPr>
          <a:xfrm>
            <a:off x="8067675" y="1219200"/>
            <a:ext cx="3552825" cy="2286000"/>
          </a:xfrm>
          <a:custGeom>
            <a:avLst/>
            <a:gdLst/>
            <a:ahLst/>
            <a:cxnLst/>
            <a:rect l="0" t="0" r="0" b="0"/>
            <a:pathLst>
              <a:path w="373" h="240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20527BE-CFE5-43D0-A5DC-3203FCEF92DF}"/>
              </a:ext>
            </a:extLst>
          </p:cNvPr>
          <p:cNvSpPr>
            <a:spLocks noGrp="1"/>
          </p:cNvSpPr>
          <p:nvPr/>
        </p:nvSpPr>
        <p:spPr>
          <a:xfrm>
            <a:off x="8258175" y="1409700"/>
            <a:ext cx="3171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长期 · 愿景</a:t>
            </a:r>
            <a:endParaRPr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4193974-07D3-4D45-8996-648C9CF8D33A}"/>
              </a:ext>
            </a:extLst>
          </p:cNvPr>
          <p:cNvSpPr>
            <a:spLocks noGrp="1"/>
          </p:cNvSpPr>
          <p:nvPr/>
        </p:nvSpPr>
        <p:spPr>
          <a:xfrm>
            <a:off x="8258175" y="1695450"/>
            <a:ext cx="3171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开源默认工具</a:t>
            </a:r>
            <a:endParaRPr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9D18A21-386C-4078-8558-E6461B833EDF}"/>
              </a:ext>
            </a:extLst>
          </p:cNvPr>
          <p:cNvSpPr>
            <a:spLocks noGrp="1"/>
          </p:cNvSpPr>
          <p:nvPr/>
        </p:nvSpPr>
        <p:spPr>
          <a:xfrm>
            <a:off x="8258175" y="2047875"/>
            <a:ext cx="3171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成为竞赛圈“调参默认工具”的开源项目，社区共建</a:t>
            </a:r>
            <a:endParaRPr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145DCD5-9019-4E10-8EE5-78623B605073}"/>
              </a:ext>
            </a:extLst>
          </p:cNvPr>
          <p:cNvSpPr>
            <a:spLocks noGrp="1"/>
          </p:cNvSpPr>
          <p:nvPr/>
        </p:nvSpPr>
        <p:spPr>
          <a:xfrm>
            <a:off x="8258175" y="29337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依赖：可持续社区运营</a:t>
            </a:r>
            <a:endParaRPr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555D1540-8272-4C99-BF57-511738085BE0}"/>
              </a:ext>
            </a:extLst>
          </p:cNvPr>
          <p:cNvSpPr>
            <a:spLocks noGrp="1"/>
          </p:cNvSpPr>
          <p:nvPr/>
        </p:nvSpPr>
        <p:spPr>
          <a:xfrm>
            <a:off x="8258175" y="3124200"/>
            <a:ext cx="3171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75">
                <a:solidFill>
                  <a:srgbClr val="808080"/>
                </a:solidFill>
                <a:latin typeface="Arial"/>
                <a:ea typeface="Arial"/>
                <a:cs typeface="Arial"/>
              </a:rPr>
              <a:t>● 替代：MIT 开源持续积累 star 与案例</a:t>
            </a:r>
            <a:endParaRPr/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5595AC15-508B-47A4-8C05-A3A2449C71EA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5AFC7D3-C828-4794-8DF1-41DFCAF3C0DB}"/>
              </a:ext>
            </a:extLst>
          </p:cNvPr>
          <p:cNvSpPr>
            <a:spLocks noGrp="1"/>
          </p:cNvSpPr>
          <p:nvPr/>
        </p:nvSpPr>
        <p:spPr>
          <a:xfrm>
            <a:off x="781050" y="5895975"/>
            <a:ext cx="10629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8A6F6"/>
                </a:solidFill>
                <a:latin typeface="Arial"/>
                <a:ea typeface="Arial"/>
                <a:cs typeface="Arial"/>
              </a:rPr>
              <a:t>已有5条体验反馈；下一步记录独立用户、任务耗时与成功率，并完成真实硬件参数写回验证。</a:t>
            </a:r>
            <a:endParaRPr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26DF777-51ED-4817-B0B1-B3FC9D26826E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4143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Source：zhichuan_pid.c/.h 指令集 · 中期评审意见①② · 开源发布计划</a:t>
            </a:r>
            <a:endParaRPr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BEB75A2-B768-43B7-89FB-B7C14A0D4E2D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16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175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>
            <a:extLst>
              <a:ext uri="{FF2B5EF4-FFF2-40B4-BE49-F238E27FC236}">
                <a16:creationId xmlns:a16="http://schemas.microsoft.com/office/drawing/2014/main" id="{2A968FD9-B52C-4BC5-A60D-53288C1C48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C49D325A-AF69-44AD-9F7E-3E22F28D3851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三个真实薄弱环节已备话术：硬件链路 / 样本量 / 推广</a:t>
            </a:r>
            <a:endParaRPr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65207DB-002E-4F46-8ED6-72C5C604B6D0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147" name="表格 139"/>
          <p:cNvGraphicFramePr/>
          <p:nvPr/>
        </p:nvGraphicFramePr>
        <p:xfrm>
          <a:off x="571500" y="1143000"/>
          <a:ext cx="11048999" cy="5095874"/>
        </p:xfrm>
        <a:graphic>
          <a:graphicData uri="http://schemas.openxmlformats.org/drawingml/2006/table">
            <a:tbl>
              <a:tblPr/>
              <a:tblGrid>
                <a:gridCol w="127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1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9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挑战类型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预判问题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应对话术（含数据）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3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方法拷问（应对不确定性）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中期承诺 8/3 硬件联调，结题真实硬件自动调参通没通？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仿真三策略已实测 + 51 波形 + 12 自测全绿；串口已下发 SET_POINT 并异步采集；PID 参数下发进行中，指令集 PID/SET 与通信层模板已就绪（附路线图）。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3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过程质疑（体验式学习）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样本从 7 份到 12 份，结题有无新增真实用户测评？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>
                          <a:solidFill>
                            <a:srgbClr val="061F32"/>
                          </a:solidFill>
                          <a:latin typeface="Arial"/>
                          <a:ea typeface="Arial"/>
                          <a:cs typeface="Arial"/>
                        </a:rPr>
                        <a:t>已补充8/8—8/25共5条反馈，覆盖AI回答、界面、稳定性、调参与安装，并记录修改和体验改善。5条不是5位独立用户；尚缺人数、耗时/成功率等量化结果，下一步开展同任务复测与真实硬件验证。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3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结果挑战（推广 / 主动性）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校内 500 支队伍、全国更多，你们怎么推广？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直引评审意见；已执行开源仓库 + 发布包 + 免费基础版；获客 B站 57.1% / GitHub 57.1% / 社群 42.9%；付费 66.7% 意向 + 分层定价 + 敏感性修正。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1" name="文本框 140">
            <a:extLst>
              <a:ext uri="{FF2B5EF4-FFF2-40B4-BE49-F238E27FC236}">
                <a16:creationId xmlns:a16="http://schemas.microsoft.com/office/drawing/2014/main" id="{8E49BEA2-6174-4EF5-B7C3-8FA6B187FFC3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4543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Source：用户测评与修改记录.md · 中期评审意见①② · pid_waveforms/ · tests/ · 问卷D6</a:t>
            </a:r>
            <a:endParaRPr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14AA2CED-3CEF-47E5-B19C-86746C8BC37B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17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530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 143">
            <a:extLst>
              <a:ext uri="{FF2B5EF4-FFF2-40B4-BE49-F238E27FC236}">
                <a16:creationId xmlns:a16="http://schemas.microsoft.com/office/drawing/2014/main" id="{5B6E5701-5A89-4C48-A667-AB9C02D741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A9C3FE12-7DCF-4402-AF15-CCD622B13222}"/>
              </a:ext>
            </a:extLst>
          </p:cNvPr>
          <p:cNvSpPr>
            <a:spLocks noGrp="1"/>
          </p:cNvSpPr>
          <p:nvPr/>
        </p:nvSpPr>
        <p:spPr>
          <a:xfrm>
            <a:off x="914400" y="1590675"/>
            <a:ext cx="10363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 spc="225">
                <a:solidFill>
                  <a:srgbClr val="08A6F6"/>
                </a:solidFill>
                <a:latin typeface="Arial"/>
                <a:ea typeface="Arial"/>
                <a:cs typeface="Arial"/>
              </a:rPr>
              <a:t>结题总结 · CLOSING</a:t>
            </a:r>
            <a:endParaRPr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DF01F91-78BF-495B-996C-17E1758BF8A2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103632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 7 份问卷到一个能自主调参的智能体</a:t>
            </a:r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383CE284-A134-42A1-978E-04D18E438FE3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1238250" cy="38100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>
            <a:endParaRPr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41FB1B3B-4E4A-4F0A-9C36-7C53B48D60F1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0363200" cy="1028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2250">
                <a:solidFill>
                  <a:srgbClr val="C9D6E2"/>
                </a:solidFill>
                <a:latin typeface="Arial"/>
                <a:ea typeface="Arial"/>
                <a:cs typeface="Arial"/>
              </a:rPr>
              <a:t>我们用 8,422 行代码，把“调参靠经验”</a:t>
            </a:r>
            <a:endParaRPr/>
          </a:p>
          <a:p>
            <a:pPr>
              <a:lnSpc>
                <a:spcPct val="150000"/>
              </a:lnSpc>
              <a:buNone/>
            </a:pPr>
            <a:r>
              <a:rPr sz="2250">
                <a:solidFill>
                  <a:srgbClr val="C9D6E2"/>
                </a:solidFill>
                <a:latin typeface="Arial"/>
                <a:ea typeface="Arial"/>
                <a:cs typeface="Arial"/>
              </a:rPr>
              <a:t>变成了“调参靠数据 + AI”。</a:t>
            </a:r>
            <a:endParaRPr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5A9CB9C-D26B-485C-95EF-EEEB7B8495A8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3162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>
                <a:solidFill>
                  <a:srgbClr val="C9D6E2"/>
                </a:solidFill>
                <a:latin typeface="Arial"/>
                <a:ea typeface="Arial"/>
                <a:cs typeface="Arial"/>
              </a:rPr>
              <a:t>咕电子队 · 刘双瑞 / 胡雨杨 / 吴程龙秀</a:t>
            </a:r>
            <a:endParaRPr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B696BD88-5E4C-4FDA-BC36-E4E501F7F3BC}"/>
              </a:ext>
            </a:extLst>
          </p:cNvPr>
          <p:cNvSpPr>
            <a:spLocks noGrp="1"/>
          </p:cNvSpPr>
          <p:nvPr/>
        </p:nvSpPr>
        <p:spPr>
          <a:xfrm>
            <a:off x="8696325" y="5048250"/>
            <a:ext cx="25812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>
                <a:solidFill>
                  <a:srgbClr val="808080"/>
                </a:solidFill>
                <a:latin typeface="Arial"/>
                <a:ea typeface="Arial"/>
                <a:cs typeface="Arial"/>
              </a:rPr>
              <a:t>感谢评委与评审专家 · 2026.08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8757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>
            <a:extLst>
              <a:ext uri="{FF2B5EF4-FFF2-40B4-BE49-F238E27FC236}">
                <a16:creationId xmlns:a16="http://schemas.microsoft.com/office/drawing/2014/main" id="{3CE26914-A23A-46EA-8FED-3B533BF3D1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36F5D418-5E46-478C-A2C3-06826D7D865E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过程性证据索引 ≥5：Git 时间线 / 三轮评审 / 6 篇技术文档</a:t>
            </a:r>
            <a:endParaRPr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5F434291-9B95-4594-9075-0F33F0073213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1DE4932A-DF88-4152-8372-A7A1051BA13A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457825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194" name="图形 1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43025"/>
            <a:ext cx="247650" cy="247650"/>
          </a:xfrm>
          <a:prstGeom prst="rect">
            <a:avLst/>
          </a:prstGeom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D2A86A5A-77A8-4476-A7FA-1080AB7DCFA4}"/>
              </a:ext>
            </a:extLst>
          </p:cNvPr>
          <p:cNvSpPr>
            <a:spLocks noGrp="1"/>
          </p:cNvSpPr>
          <p:nvPr/>
        </p:nvSpPr>
        <p:spPr>
          <a:xfrm>
            <a:off x="1123950" y="136207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Git 时间线</a:t>
            </a:r>
            <a:endParaRPr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045D9ED3-0D8F-45B8-8F68-7DB5FE1A8BFD}"/>
              </a:ext>
            </a:extLst>
          </p:cNvPr>
          <p:cNvSpPr>
            <a:spLocks noGrp="1"/>
          </p:cNvSpPr>
          <p:nvPr/>
        </p:nvSpPr>
        <p:spPr>
          <a:xfrm>
            <a:off x="3924300" y="1295400"/>
            <a:ext cx="193357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31 commits，选题→结题 6 节点（见右侧图）</a:t>
            </a:r>
            <a:endParaRPr/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8EA89893-5E72-4001-A482-CCFE2D9D4348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5457825" cy="476250"/>
          </a:xfrm>
          <a:prstGeom prst="roundRect">
            <a:avLst>
              <a:gd name="adj" fmla="val 1600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198" name="图形 1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2247900"/>
            <a:ext cx="247650" cy="247650"/>
          </a:xfrm>
          <a:prstGeom prst="rect">
            <a:avLst/>
          </a:prstGeom>
        </p:spPr>
      </p:pic>
      <p:sp>
        <p:nvSpPr>
          <p:cNvPr id="161" name="文本框 160">
            <a:extLst>
              <a:ext uri="{FF2B5EF4-FFF2-40B4-BE49-F238E27FC236}">
                <a16:creationId xmlns:a16="http://schemas.microsoft.com/office/drawing/2014/main" id="{5B4F8DD6-11A4-4164-8AF9-04B556117AE4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问题反馈＋用户测评记录</a:t>
            </a:r>
            <a:endParaRPr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C8751092-5974-477B-B872-A5DF9E37EA43}"/>
              </a:ext>
            </a:extLst>
          </p:cNvPr>
          <p:cNvSpPr>
            <a:spLocks noGrp="1"/>
          </p:cNvSpPr>
          <p:nvPr/>
        </p:nvSpPr>
        <p:spPr>
          <a:xfrm>
            <a:off x="3924300" y="2286000"/>
            <a:ext cx="19335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三轮评审＋5条体验改进闭环</a:t>
            </a:r>
            <a:endParaRPr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13B92DE-4830-4ABA-AC5B-F56C1651A572}"/>
              </a:ext>
            </a:extLst>
          </p:cNvPr>
          <p:cNvSpPr>
            <a:spLocks noGrp="1"/>
          </p:cNvSpPr>
          <p:nvPr/>
        </p:nvSpPr>
        <p:spPr>
          <a:xfrm>
            <a:off x="571500" y="2990850"/>
            <a:ext cx="5457825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02" name="图形 1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3152775"/>
            <a:ext cx="247650" cy="247650"/>
          </a:xfrm>
          <a:prstGeom prst="rect">
            <a:avLst/>
          </a:prstGeom>
        </p:spPr>
      </p:pic>
      <p:sp>
        <p:nvSpPr>
          <p:cNvPr id="165" name="文本框 164">
            <a:extLst>
              <a:ext uri="{FF2B5EF4-FFF2-40B4-BE49-F238E27FC236}">
                <a16:creationId xmlns:a16="http://schemas.microsoft.com/office/drawing/2014/main" id="{86987684-9064-42D0-A41B-2FAB4EFC576C}"/>
              </a:ext>
            </a:extLst>
          </p:cNvPr>
          <p:cNvSpPr>
            <a:spLocks noGrp="1"/>
          </p:cNvSpPr>
          <p:nvPr/>
        </p:nvSpPr>
        <p:spPr>
          <a:xfrm>
            <a:off x="1123950" y="317182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docs/ 6 篇技术文档</a:t>
            </a:r>
            <a:endParaRPr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A88E96E-7B8D-4E0F-BEA2-22218D89BC8C}"/>
              </a:ext>
            </a:extLst>
          </p:cNvPr>
          <p:cNvSpPr>
            <a:spLocks noGrp="1"/>
          </p:cNvSpPr>
          <p:nvPr/>
        </p:nvSpPr>
        <p:spPr>
          <a:xfrm>
            <a:off x="3924300" y="3105150"/>
            <a:ext cx="193357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含 Pi-agent 调研、PID 策略、UI 评审</a:t>
            </a:r>
            <a:endParaRPr/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67950C1E-3BED-4491-A977-02320AF2C9B1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5457825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06" name="图形 1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950" y="4095750"/>
            <a:ext cx="247650" cy="247650"/>
          </a:xfrm>
          <a:prstGeom prst="rect">
            <a:avLst/>
          </a:prstGeom>
        </p:spPr>
      </p:pic>
      <p:sp>
        <p:nvSpPr>
          <p:cNvPr id="169" name="文本框 168">
            <a:extLst>
              <a:ext uri="{FF2B5EF4-FFF2-40B4-BE49-F238E27FC236}">
                <a16:creationId xmlns:a16="http://schemas.microsoft.com/office/drawing/2014/main" id="{1EB8E2B0-0379-4681-A4F3-4E45C226DC61}"/>
              </a:ext>
            </a:extLst>
          </p:cNvPr>
          <p:cNvSpPr>
            <a:spLocks noGrp="1"/>
          </p:cNvSpPr>
          <p:nvPr/>
        </p:nvSpPr>
        <p:spPr>
          <a:xfrm>
            <a:off x="1123950" y="4114800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项目计划.md</a:t>
            </a:r>
            <a:endParaRPr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BD6ECF0D-043C-4380-81E6-C3D8C44B5DCD}"/>
              </a:ext>
            </a:extLst>
          </p:cNvPr>
          <p:cNvSpPr>
            <a:spLocks noGrp="1"/>
          </p:cNvSpPr>
          <p:nvPr/>
        </p:nvSpPr>
        <p:spPr>
          <a:xfrm>
            <a:off x="3924300" y="4048125"/>
            <a:ext cx="193357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阶段进展对照（计划 vs 实际）</a:t>
            </a:r>
            <a:endParaRPr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F7B8AB9E-BEE8-487D-A0B4-CB27D0DC2A9F}"/>
              </a:ext>
            </a:extLst>
          </p:cNvPr>
          <p:cNvSpPr>
            <a:spLocks noGrp="1"/>
          </p:cNvSpPr>
          <p:nvPr/>
        </p:nvSpPr>
        <p:spPr>
          <a:xfrm>
            <a:off x="571500" y="4886325"/>
            <a:ext cx="5457825" cy="476250"/>
          </a:xfrm>
          <a:prstGeom prst="roundRect">
            <a:avLst>
              <a:gd name="adj" fmla="val 1600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10" name="图形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950" y="5000625"/>
            <a:ext cx="247650" cy="247650"/>
          </a:xfrm>
          <a:prstGeom prst="rect">
            <a:avLst/>
          </a:prstGeom>
        </p:spPr>
      </p:pic>
      <p:sp>
        <p:nvSpPr>
          <p:cNvPr id="173" name="文本框 172">
            <a:extLst>
              <a:ext uri="{FF2B5EF4-FFF2-40B4-BE49-F238E27FC236}">
                <a16:creationId xmlns:a16="http://schemas.microsoft.com/office/drawing/2014/main" id="{AD82F470-5C0C-4D7F-9A72-13DEEE751243}"/>
              </a:ext>
            </a:extLst>
          </p:cNvPr>
          <p:cNvSpPr>
            <a:spLocks noGrp="1"/>
          </p:cNvSpPr>
          <p:nvPr/>
        </p:nvSpPr>
        <p:spPr>
          <a:xfrm>
            <a:off x="1123950" y="501967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debug.md</a:t>
            </a:r>
            <a:endParaRPr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D95129D2-885A-4F2B-83EF-435B68B50C37}"/>
              </a:ext>
            </a:extLst>
          </p:cNvPr>
          <p:cNvSpPr>
            <a:spLocks noGrp="1"/>
          </p:cNvSpPr>
          <p:nvPr/>
        </p:nvSpPr>
        <p:spPr>
          <a:xfrm>
            <a:off x="3924300" y="5038725"/>
            <a:ext cx="19335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Electron 环境排查记录</a:t>
            </a:r>
            <a:endParaRPr/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EA6992F1-FDEF-47DF-958D-64AA8649A4B3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5457825" cy="476250"/>
          </a:xfrm>
          <a:prstGeom prst="roundRect">
            <a:avLst>
              <a:gd name="adj" fmla="val 1600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14" name="图形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950" y="5857875"/>
            <a:ext cx="247650" cy="247650"/>
          </a:xfrm>
          <a:prstGeom prst="rect">
            <a:avLst/>
          </a:prstGeom>
        </p:spPr>
      </p:pic>
      <p:sp>
        <p:nvSpPr>
          <p:cNvPr id="177" name="文本框 176">
            <a:extLst>
              <a:ext uri="{FF2B5EF4-FFF2-40B4-BE49-F238E27FC236}">
                <a16:creationId xmlns:a16="http://schemas.microsoft.com/office/drawing/2014/main" id="{7A78B2BB-046C-4F20-B3B2-C1BA38D533B7}"/>
              </a:ext>
            </a:extLst>
          </p:cNvPr>
          <p:cNvSpPr>
            <a:spLocks noGrp="1"/>
          </p:cNvSpPr>
          <p:nvPr/>
        </p:nvSpPr>
        <p:spPr>
          <a:xfrm>
            <a:off x="1123950" y="5876925"/>
            <a:ext cx="2667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价值假设清单 H-001~H-004</a:t>
            </a:r>
            <a:endParaRPr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21BFA095-8EFC-44AA-B4DA-23475AF5F3A4}"/>
              </a:ext>
            </a:extLst>
          </p:cNvPr>
          <p:cNvSpPr>
            <a:spLocks noGrp="1"/>
          </p:cNvSpPr>
          <p:nvPr/>
        </p:nvSpPr>
        <p:spPr>
          <a:xfrm>
            <a:off x="3924300" y="5895975"/>
            <a:ext cx="19335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>
                <a:solidFill>
                  <a:srgbClr val="44546A"/>
                </a:solidFill>
                <a:latin typeface="Arial"/>
                <a:ea typeface="Arial"/>
                <a:cs typeface="Arial"/>
              </a:rPr>
              <a:t>更新版</a:t>
            </a:r>
            <a:endParaRPr/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2FB7438D-4CF0-4E75-97F2-1CA9B07E0A75}"/>
              </a:ext>
            </a:extLst>
          </p:cNvPr>
          <p:cNvSpPr>
            <a:spLocks noGrp="1"/>
          </p:cNvSpPr>
          <p:nvPr/>
        </p:nvSpPr>
        <p:spPr>
          <a:xfrm>
            <a:off x="6315075" y="1181100"/>
            <a:ext cx="5305425" cy="5038725"/>
          </a:xfrm>
          <a:prstGeom prst="roundRect">
            <a:avLst>
              <a:gd name="adj" fmla="val 1890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18" name="图片 179"/>
          <p:cNvPicPr>
            <a:picLocks noChangeAspect="1"/>
          </p:cNvPicPr>
          <p:nvPr/>
        </p:nvPicPr>
        <p:blipFill>
          <a:blip r:embed="rId9"/>
          <a:srcRect t="2927" b="2927"/>
          <a:stretch>
            <a:fillRect/>
          </a:stretch>
        </p:blipFill>
        <p:spPr>
          <a:xfrm>
            <a:off x="6315075" y="1181100"/>
            <a:ext cx="5305425" cy="5038725"/>
          </a:xfrm>
        </p:spPr>
      </p:pic>
      <p:sp>
        <p:nvSpPr>
          <p:cNvPr id="181" name="文本框 180">
            <a:extLst>
              <a:ext uri="{FF2B5EF4-FFF2-40B4-BE49-F238E27FC236}">
                <a16:creationId xmlns:a16="http://schemas.microsoft.com/office/drawing/2014/main" id="{55C56D53-BC02-41F8-9148-3D4F28E20987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附录 A · 过程性证据（满足 ≥5 项要求）</a:t>
            </a:r>
            <a:endParaRPr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B5DFCAB2-3D8D-4FE0-9BFD-E8C17BB5FA97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19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0318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>
            <a:extLst>
              <a:ext uri="{FF2B5EF4-FFF2-40B4-BE49-F238E27FC236}">
                <a16:creationId xmlns:a16="http://schemas.microsoft.com/office/drawing/2014/main" id="{57C09009-E861-47D9-B15E-A8043E6C23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143E26E-8484-44FA-87ED-0C7830C29298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1049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4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结果性 ≥3 + 认知性 ≥2：波形 / 自测 / 安装包 + 智能体决策</a:t>
            </a:r>
            <a:endParaRPr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75E6336-A425-44D0-968B-60B330E126EC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8189F447-BC6F-4E3C-A92C-8F479D4BF866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53530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61F32"/>
                </a:solidFill>
                <a:latin typeface="Arial"/>
                <a:ea typeface="Arial"/>
                <a:cs typeface="Arial"/>
              </a:rPr>
              <a:t>结果性证据（≥3）</a:t>
            </a:r>
            <a:endParaRPr/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F32A6F0A-543E-41B3-ACCA-2DEF5F8A7005}"/>
              </a:ext>
            </a:extLst>
          </p:cNvPr>
          <p:cNvSpPr>
            <a:spLocks noGrp="1"/>
          </p:cNvSpPr>
          <p:nvPr/>
        </p:nvSpPr>
        <p:spPr>
          <a:xfrm>
            <a:off x="571500" y="1781175"/>
            <a:ext cx="5353050" cy="657225"/>
          </a:xfrm>
          <a:prstGeom prst="roundRect">
            <a:avLst>
              <a:gd name="adj" fmla="val 1159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23" name="图形 1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" y="1914525"/>
            <a:ext cx="266700" cy="266700"/>
          </a:xfrm>
          <a:prstGeom prst="rect">
            <a:avLst/>
          </a:prstGeom>
        </p:spPr>
      </p:pic>
      <p:sp>
        <p:nvSpPr>
          <p:cNvPr id="190" name="文本框 189">
            <a:extLst>
              <a:ext uri="{FF2B5EF4-FFF2-40B4-BE49-F238E27FC236}">
                <a16:creationId xmlns:a16="http://schemas.microsoft.com/office/drawing/2014/main" id="{7439BD02-39AF-4E3E-AFB5-677CD890B7C2}"/>
              </a:ext>
            </a:extLst>
          </p:cNvPr>
          <p:cNvSpPr>
            <a:spLocks noGrp="1"/>
          </p:cNvSpPr>
          <p:nvPr/>
        </p:nvSpPr>
        <p:spPr>
          <a:xfrm>
            <a:off x="1123950" y="1914525"/>
            <a:ext cx="23526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pid_waveforms/ 51 张</a:t>
            </a:r>
            <a:endParaRPr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321A512-6963-4CBC-A4C6-6750638501EE}"/>
              </a:ext>
            </a:extLst>
          </p:cNvPr>
          <p:cNvSpPr>
            <a:spLocks noGrp="1"/>
          </p:cNvSpPr>
          <p:nvPr/>
        </p:nvSpPr>
        <p:spPr>
          <a:xfrm>
            <a:off x="1123950" y="2143125"/>
            <a:ext cx="2352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44546A"/>
                </a:solidFill>
                <a:latin typeface="Arial"/>
                <a:ea typeface="Arial"/>
                <a:cs typeface="Arial"/>
              </a:rPr>
              <a:t>三策略调参验证波形，含 CSV 原始数据</a:t>
            </a:r>
            <a:endParaRPr/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F9A5B3E8-F7C6-4375-9660-ABD1006511CC}"/>
              </a:ext>
            </a:extLst>
          </p:cNvPr>
          <p:cNvSpPr>
            <a:spLocks noGrp="1"/>
          </p:cNvSpPr>
          <p:nvPr/>
        </p:nvSpPr>
        <p:spPr>
          <a:xfrm>
            <a:off x="571500" y="2809875"/>
            <a:ext cx="5353050" cy="657225"/>
          </a:xfrm>
          <a:prstGeom prst="roundRect">
            <a:avLst>
              <a:gd name="adj" fmla="val 1159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27" name="图形 1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" y="2943225"/>
            <a:ext cx="266700" cy="266700"/>
          </a:xfrm>
          <a:prstGeom prst="rect">
            <a:avLst/>
          </a:prstGeom>
        </p:spPr>
      </p:pic>
      <p:sp>
        <p:nvSpPr>
          <p:cNvPr id="194" name="文本框 193">
            <a:extLst>
              <a:ext uri="{FF2B5EF4-FFF2-40B4-BE49-F238E27FC236}">
                <a16:creationId xmlns:a16="http://schemas.microsoft.com/office/drawing/2014/main" id="{3BC77BF2-1277-4128-A930-3123FB82C367}"/>
              </a:ext>
            </a:extLst>
          </p:cNvPr>
          <p:cNvSpPr>
            <a:spLocks noGrp="1"/>
          </p:cNvSpPr>
          <p:nvPr/>
        </p:nvSpPr>
        <p:spPr>
          <a:xfrm>
            <a:off x="1123950" y="2943225"/>
            <a:ext cx="27717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12 自测 + 18 测试文件</a:t>
            </a:r>
            <a:endParaRPr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B78B5798-D7BE-4F91-B129-4EF9FDC68494}"/>
              </a:ext>
            </a:extLst>
          </p:cNvPr>
          <p:cNvSpPr>
            <a:spLocks noGrp="1"/>
          </p:cNvSpPr>
          <p:nvPr/>
        </p:nvSpPr>
        <p:spPr>
          <a:xfrm>
            <a:off x="1123950" y="3171825"/>
            <a:ext cx="2771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44546A"/>
                </a:solidFill>
                <a:latin typeface="Arial"/>
                <a:ea typeface="Arial"/>
                <a:cs typeface="Arial"/>
              </a:rPr>
              <a:t>npm run test:analysis 全绿（运行日志可复现）</a:t>
            </a:r>
            <a:endParaRPr/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24262E68-A1E4-48A2-8EC8-5A4EF7620343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5353050" cy="657225"/>
          </a:xfrm>
          <a:prstGeom prst="roundRect">
            <a:avLst>
              <a:gd name="adj" fmla="val 11594"/>
            </a:avLst>
          </a:prstGeom>
          <a:solidFill>
            <a:srgbClr val="F5F7FA"/>
          </a:solidFill>
        </p:spPr>
        <p:txBody>
          <a:bodyPr/>
          <a:lstStyle/>
          <a:p>
            <a:endParaRPr/>
          </a:p>
        </p:txBody>
      </p:sp>
      <p:pic>
        <p:nvPicPr>
          <p:cNvPr id="231" name="图形 1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900" y="3962400"/>
            <a:ext cx="266700" cy="266700"/>
          </a:xfrm>
          <a:prstGeom prst="rect">
            <a:avLst/>
          </a:prstGeom>
        </p:spPr>
      </p:pic>
      <p:sp>
        <p:nvSpPr>
          <p:cNvPr id="198" name="文本框 197">
            <a:extLst>
              <a:ext uri="{FF2B5EF4-FFF2-40B4-BE49-F238E27FC236}">
                <a16:creationId xmlns:a16="http://schemas.microsoft.com/office/drawing/2014/main" id="{10F1489E-0CB2-4EFC-92C2-7FCF76B9B8E1}"/>
              </a:ext>
            </a:extLst>
          </p:cNvPr>
          <p:cNvSpPr>
            <a:spLocks noGrp="1"/>
          </p:cNvSpPr>
          <p:nvPr/>
        </p:nvSpPr>
        <p:spPr>
          <a:xfrm>
            <a:off x="1123950" y="3962400"/>
            <a:ext cx="3333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v1.1.0 安装包 + 6 张官方截图</a:t>
            </a:r>
            <a:endParaRPr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1B94C0A9-714C-444E-BC0E-89ABCB703956}"/>
              </a:ext>
            </a:extLst>
          </p:cNvPr>
          <p:cNvSpPr>
            <a:spLocks noGrp="1"/>
          </p:cNvSpPr>
          <p:nvPr/>
        </p:nvSpPr>
        <p:spPr>
          <a:xfrm>
            <a:off x="1123950" y="4191000"/>
            <a:ext cx="3333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44546A"/>
                </a:solidFill>
                <a:latin typeface="Arial"/>
                <a:ea typeface="Arial"/>
                <a:cs typeface="Arial"/>
              </a:rPr>
              <a:t>发布包.zip 已打包：安装程序 + 6 张界面截图 + 四份文档</a:t>
            </a:r>
            <a:endParaRPr/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08D764C5-9D7F-4C4A-9AE8-1AA149ADFA64}"/>
              </a:ext>
            </a:extLst>
          </p:cNvPr>
          <p:cNvSpPr>
            <a:spLocks noGrp="1"/>
          </p:cNvSpPr>
          <p:nvPr/>
        </p:nvSpPr>
        <p:spPr>
          <a:xfrm>
            <a:off x="571500" y="4933950"/>
            <a:ext cx="2619375" cy="1285875"/>
          </a:xfrm>
          <a:prstGeom prst="roundRect">
            <a:avLst>
              <a:gd name="adj" fmla="val 5926"/>
            </a:avLst>
          </a:prstGeom>
        </p:spPr>
        <p:txBody>
          <a:bodyPr/>
          <a:lstStyle/>
          <a:p>
            <a:endParaRPr/>
          </a:p>
        </p:txBody>
      </p:sp>
      <p:pic>
        <p:nvPicPr>
          <p:cNvPr id="235" name="图片 200"/>
          <p:cNvPicPr>
            <a:picLocks noChangeAspect="1"/>
          </p:cNvPicPr>
          <p:nvPr/>
        </p:nvPicPr>
        <p:blipFill>
          <a:blip r:embed="rId6"/>
          <a:srcRect t="9347" b="9347"/>
          <a:stretch>
            <a:fillRect/>
          </a:stretch>
        </p:blipFill>
        <p:spPr>
          <a:xfrm>
            <a:off x="571500" y="4933950"/>
            <a:ext cx="2619375" cy="1285875"/>
          </a:xfrm>
        </p:spPr>
      </p:pic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E4560362-22D2-47BD-BB74-6DC385098DFB}"/>
              </a:ext>
            </a:extLst>
          </p:cNvPr>
          <p:cNvSpPr>
            <a:spLocks noGrp="1"/>
          </p:cNvSpPr>
          <p:nvPr/>
        </p:nvSpPr>
        <p:spPr>
          <a:xfrm>
            <a:off x="3305175" y="4933950"/>
            <a:ext cx="2619375" cy="1285875"/>
          </a:xfrm>
          <a:prstGeom prst="roundRect">
            <a:avLst>
              <a:gd name="adj" fmla="val 5926"/>
            </a:avLst>
          </a:prstGeom>
        </p:spPr>
        <p:txBody>
          <a:bodyPr/>
          <a:lstStyle/>
          <a:p>
            <a:endParaRPr/>
          </a:p>
        </p:txBody>
      </p:sp>
      <p:pic>
        <p:nvPicPr>
          <p:cNvPr id="237" name="图片 202"/>
          <p:cNvPicPr>
            <a:picLocks noChangeAspect="1"/>
          </p:cNvPicPr>
          <p:nvPr/>
        </p:nvPicPr>
        <p:blipFill>
          <a:blip r:embed="rId7"/>
          <a:srcRect t="9347" b="9347"/>
          <a:stretch>
            <a:fillRect/>
          </a:stretch>
        </p:blipFill>
        <p:spPr>
          <a:xfrm>
            <a:off x="3305175" y="4933950"/>
            <a:ext cx="2619375" cy="1285875"/>
          </a:xfrm>
        </p:spPr>
      </p:pic>
      <p:sp>
        <p:nvSpPr>
          <p:cNvPr id="204" name="文本框 203">
            <a:extLst>
              <a:ext uri="{FF2B5EF4-FFF2-40B4-BE49-F238E27FC236}">
                <a16:creationId xmlns:a16="http://schemas.microsoft.com/office/drawing/2014/main" id="{44DDA11D-06E6-4E38-BB06-1F351B773034}"/>
              </a:ext>
            </a:extLst>
          </p:cNvPr>
          <p:cNvSpPr>
            <a:spLocks noGrp="1"/>
          </p:cNvSpPr>
          <p:nvPr/>
        </p:nvSpPr>
        <p:spPr>
          <a:xfrm>
            <a:off x="6267450" y="1181100"/>
            <a:ext cx="53530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 spc="75">
                <a:solidFill>
                  <a:srgbClr val="08A6F6"/>
                </a:solidFill>
                <a:latin typeface="Arial"/>
                <a:ea typeface="Arial"/>
                <a:cs typeface="Arial"/>
              </a:rPr>
              <a:t>认知性证据（≥2）</a:t>
            </a:r>
            <a:endParaRPr/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3BEF4067-7D5F-4433-A1FC-80601DA0A321}"/>
              </a:ext>
            </a:extLst>
          </p:cNvPr>
          <p:cNvSpPr>
            <a:spLocks noGrp="1"/>
          </p:cNvSpPr>
          <p:nvPr/>
        </p:nvSpPr>
        <p:spPr>
          <a:xfrm>
            <a:off x="6267450" y="1409700"/>
            <a:ext cx="5391150" cy="2409825"/>
          </a:xfrm>
          <a:custGeom>
            <a:avLst/>
            <a:gdLst/>
            <a:ahLst/>
            <a:cxnLst/>
            <a:rect l="0" t="0" r="0" b="0"/>
            <a:pathLst>
              <a:path w="566" h="253">
                <a:moveTo>
                  <a:pt x="0" y="0"/>
                </a:moveTo>
                <a:lnTo>
                  <a:pt x="4" y="0"/>
                </a:lnTo>
                <a:lnTo>
                  <a:pt x="4" y="253"/>
                </a:lnTo>
                <a:lnTo>
                  <a:pt x="0" y="25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D8411E12-63F8-4459-9E47-4DA394A135EE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5143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Ai-harness 调研 → 架构决策</a:t>
            </a:r>
            <a:endParaRPr/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15CA1F84-9F91-4BAE-9238-B157792729E9}"/>
              </a:ext>
            </a:extLst>
          </p:cNvPr>
          <p:cNvSpPr>
            <a:spLocks noGrp="1"/>
          </p:cNvSpPr>
          <p:nvPr/>
        </p:nvSpPr>
        <p:spPr>
          <a:xfrm>
            <a:off x="6477000" y="2628900"/>
            <a:ext cx="51435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从“单轮给参”到“自主闭环”的认知跃迁</a:t>
            </a:r>
            <a:endParaRPr/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7E7962EB-18F1-4257-9375-190DE7AB125C}"/>
              </a:ext>
            </a:extLst>
          </p:cNvPr>
          <p:cNvSpPr>
            <a:spLocks noGrp="1"/>
          </p:cNvSpPr>
          <p:nvPr/>
        </p:nvSpPr>
        <p:spPr>
          <a:xfrm>
            <a:off x="6267450" y="3819525"/>
            <a:ext cx="5391150" cy="2400300"/>
          </a:xfrm>
          <a:custGeom>
            <a:avLst/>
            <a:gdLst/>
            <a:ahLst/>
            <a:cxnLst/>
            <a:rect l="0" t="0" r="0" b="0"/>
            <a:pathLst>
              <a:path w="566" h="252">
                <a:moveTo>
                  <a:pt x="0" y="0"/>
                </a:moveTo>
                <a:lnTo>
                  <a:pt x="4" y="0"/>
                </a:lnTo>
                <a:lnTo>
                  <a:pt x="4" y="252"/>
                </a:lnTo>
                <a:lnTo>
                  <a:pt x="0" y="252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>
            <a:endParaRPr/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86AFBBBB-F022-4C8A-AD49-A95C4757E5EB}"/>
              </a:ext>
            </a:extLst>
          </p:cNvPr>
          <p:cNvSpPr>
            <a:spLocks noGrp="1"/>
          </p:cNvSpPr>
          <p:nvPr/>
        </p:nvSpPr>
        <p:spPr>
          <a:xfrm>
            <a:off x="6477000" y="4733925"/>
            <a:ext cx="5143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Arial"/>
                <a:ea typeface="Arial"/>
                <a:cs typeface="Arial"/>
              </a:rPr>
              <a:t>定位演变记录</a:t>
            </a:r>
            <a:endParaRPr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F6C2BB72-8988-4CD6-A93E-9D94F8196C13}"/>
              </a:ext>
            </a:extLst>
          </p:cNvPr>
          <p:cNvSpPr>
            <a:spLocks noGrp="1"/>
          </p:cNvSpPr>
          <p:nvPr/>
        </p:nvSpPr>
        <p:spPr>
          <a:xfrm>
            <a:off x="6477000" y="5038725"/>
            <a:ext cx="51435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/>
                </a:solidFill>
                <a:latin typeface="Arial"/>
                <a:ea typeface="Arial"/>
                <a:cs typeface="Arial"/>
              </a:rPr>
              <a:t>辅助式(N=7) → 智能体化(Pi 研究) → 开放闭环(8/25)，载于 docs 与 git 提交</a:t>
            </a:r>
            <a:endParaRPr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9F496709-16F4-4FCA-909D-53108375F36E}"/>
              </a:ext>
            </a:extLst>
          </p:cNvPr>
          <p:cNvSpPr>
            <a:spLocks noGrp="1"/>
          </p:cNvSpPr>
          <p:nvPr/>
        </p:nvSpPr>
        <p:spPr>
          <a:xfrm>
            <a:off x="571500" y="6353175"/>
            <a:ext cx="3057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附录 B · 结果性与认知性证据；用户测评与修改记录（5条定性反馈）见P5。</a:t>
            </a:r>
            <a:endParaRPr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1879CBD5-4521-487B-BE9F-25C8DF51B6B4}"/>
              </a:ext>
            </a:extLst>
          </p:cNvPr>
          <p:cNvSpPr>
            <a:spLocks noGrp="1"/>
          </p:cNvSpPr>
          <p:nvPr/>
        </p:nvSpPr>
        <p:spPr>
          <a:xfrm>
            <a:off x="11210925" y="6353175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Arial"/>
                <a:ea typeface="Arial"/>
                <a:cs typeface="Arial"/>
              </a:rPr>
              <a:t>20 / 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452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Microsoft Office PowerPoint</Application>
  <DocSecurity>0</DocSecurity>
  <PresentationFormat>宽屏</PresentationFormat>
  <Paragraphs>461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clx w</cp:lastModifiedBy>
  <cp:revision>1</cp:revision>
  <dcterms:created xsi:type="dcterms:W3CDTF">2026-08-27T03:11:41Z</dcterms:created>
  <dcterms:modified xsi:type="dcterms:W3CDTF">2026-08-27T03:22:27Z</dcterms:modified>
</cp:coreProperties>
</file>