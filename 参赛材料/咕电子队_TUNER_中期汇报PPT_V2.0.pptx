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</p:sldMasterIdLst>
  <p:notesMasterIdLst>
    <p:notesMasterId r:id="rId7"/>
  </p:notesMasterIdLst>
  <p:sldIdLst>
    <p:sldId id="256" r:id="rId6"/>
    <p:sldId id="258" r:id="rId8"/>
    <p:sldId id="275" r:id="rId9"/>
    <p:sldId id="259" r:id="rId10"/>
    <p:sldId id="260" r:id="rId11"/>
    <p:sldId id="261" r:id="rId12"/>
    <p:sldId id="262" r:id="rId13"/>
    <p:sldId id="278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6" r:id="rId25"/>
    <p:sldId id="274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32" userDrawn="1">
          <p15:clr>
            <a:srgbClr val="747775"/>
          </p15:clr>
        </p15:guide>
        <p15:guide id="2" pos="284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深色样式 1 - 强调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1668" y="762"/>
      </p:cViewPr>
      <p:guideLst>
        <p:guide orient="horz" pos="1632"/>
        <p:guide pos="28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评委老师,下午好。我们是咕电子队,今天非常荣幸能在这里向大家汇报我们的中期项目——TUNER,一款AI智能串口调参工具。本次汇报将围绕我们项目的核心价值、当前进展、团队效能以及未来规划展开。希望通过这次答辩,能让大家对我们的项目有一个全面深入的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现在,我们进入第一部分:项目价值与核心进展。在这一章,我们将详细阐述TUNER工具的核心价值主张,以及我们如何通过数据驱动的方式,在项目中期取得了关键性的突破。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价值主张非常清晰:为电控学生提供一个AI智能调参工具,将调参效率提升50%以上,时长从两天缩短到半天。这背后是我们集成了大模型PID诊断引擎,实现了从"看波形"到"AI教练指导"的质变。在商业模式上,我们采用基础功能免费、高级AI服务付费的策略,初步测算年化收入可达1.5万元,具备良好的盈利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价值主张非常清晰:为电控学生提供一个AI智能调参工具,将调参效率提升50%以上,时长从两天缩短到半天。这背后是我们集成了大模型PID诊断引擎,实现了从"看波形"到"AI教练指导"的质变。在商业模式上,我们采用基础功能免费、高级AI服务付费的策略,初步测算年化收入可达1.5万元,具备良好的盈利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我们的价值主张,我们从三个维度进行了检验。首先是清晰性,我们通过电梯演讲盲测,证明了核心价值易于理解。其次是竞争力,我们在智能化和易用性上显著优于传统工具。最后是可行性,我们的关键指标,如调参耗时和新手成功率,都已达成目标。目前,硬件联调的验证也在按计划进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采用精益创业的方法,对四个核心假设进行了验证。大家可以看到,关于用户痛点和AI诊断有效性的假设已经得到充分验证。用户付费意愿正在验证中,初步数据显示66.7%的用户愿意付费。唯一尚未验证的是真实硬件联调的误差,这也是我们下一阶段的核心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推进中,我们遇到了一个重大挑战:PID仿真震荡和AI诊断准确率低。面对这个问题,我们团队迅速投入额外工时和资源,通过引入新的算法和机制,最终成功将AI诊断有效率从40%提升到85%,并消除了仿真震荡。这个案例充分体现了我们团队解决复杂问题的能力和毅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接下来,我们进入第二部分,向各位老师汇报我们团队的效能表现和资源管理情况。这部分将展示我们如何在有限的资源下高效协作,并保持项目的持续推进。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接下来,我们进入第二部分,向各位老师汇报我们团队的效能表现和资源管理情况。这部分将展示我们如何在有限的资源下高效协作,并保持项目的持续推进。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团队效能方面,我们不仅量化了应对挫折的坚持,例如在48小时内解决了PID仿真震荡问题,还通过引入每日立会和看板等工具,将团队任务按期交付率从项目初期的70%提升到了90%。这表明我们不仅有毅力,也有科学的方法来保障项目进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对团队进行了SWOT分析,清醒地认识到我们的技术优势和商业化经验的不足。同时,我们通过资源缺口热力图,将资源需求按优先级排序,并制定了明确的解决方案和截止日期。例如,最高优先级的硬件测试环境问题,我们已经对接实验室并计划在8月1日前解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在财经素养方面,我们严格恪守MVC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(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最小可行性成本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)原则。项目总投入仅为350元显性成本和152小时工时。但我们获得了12份深度用户反馈和5版可运行原型,付费意向率达到66.7%。这证明了我们极高的资源转化效率,每29.2元就能收获一份高质量的深度反馈。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团队协作上,我们采用RACI-V模型明确分工。刘双瑞同学负责核心算法,吴程龙秀同学负责前端界面,胡雨杨同学负责用户调研和文档。这种清晰的分工确保了项目高效有序地推进。同时,我们还成功动员了12名外部同学参与测试,并获得了2次学长的深度指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第三部分,我们将介绍项目结题前的后期规划与风险应对策略。我们制定了详细的阶段性计划,并对可能出现的风险提前准备了预案。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后期计划分为冲刺期、测试期和收尾期三个阶段。冲刺期的核心任务是完成硬件联调,测试期将扩大用户测试范围,收尾期则专注于结题材料的准备。每个阶段都有明确的负责人和风险预案,确保项目能够按时高质量完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主动对项目进行了"创业者三问"自检,并预判了三个最尖锐的问题。对于硬件表现、用户付费意愿和成本控制这三个问题,我们都有清晰的认识和应对策略。我们相信,正视问题并准备好解决方案,是项目走向成功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最后一部分,我们想分享团队如何利用AI工具进行自我审视和反思。我们认为,能够吸收外部批判性意见并进行独立思考,是团队成长的重要标志。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使用AI工具对项目进行了审视。AI肯定了我们的动力和动员能力,同时指出了硬件资源和长期盈利测算的薄弱点。对于这些建设性意见,我们完全认同,并已经采取了行动来弥补短板,例如完成了硬件借用和毛利率的详细测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使用AI工具对项目进行了审视。AI肯定了我们的动力和动员能力,同时指出了硬件资源和长期盈利测算的薄弱点。对于这些建设性意见,我们完全认同,并已经采取了行动来弥补短板,例如完成了硬件借用和毛利率的详细测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我的汇报到此结束。感谢各位评委老师的聆听。我们非常乐意回答大家的提问,并期待得到更多宝贵的指导。谢谢!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notesSlide" Target="../notesSlides/notesSlide19.xml"/><Relationship Id="rId18" Type="http://schemas.openxmlformats.org/officeDocument/2006/relationships/slideLayout" Target="../slideLayouts/slideLayout13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1041" r="-1041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30000"/>
                </a:srgbClr>
              </a:gs>
              <a:gs pos="30000">
                <a:srgbClr val="000000">
                  <a:alpha val="40000"/>
                </a:srgbClr>
              </a:gs>
              <a:gs pos="60000">
                <a:srgbClr val="000000">
                  <a:alpha val="50000"/>
                </a:srgbClr>
              </a:gs>
              <a:gs pos="90000">
                <a:srgbClr val="000000">
                  <a:alpha val="55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9144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中期答辩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76400"/>
            <a:ext cx="1066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7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TUNER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1496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AI智能串口调参工具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57290">
            <a:off x="762053" y="42100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60A5F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762000" y="44704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咕电子队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207000"/>
            <a:ext cx="1066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团队成员: 刘双瑞 胡雨杨 吴程龙秀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60706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5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汇报日期:2026年8月1</a:t>
            </a:r>
            <a:r>
              <a:rPr lang="zh-CN" altLang="en-US" sz="1400" b="0" i="0" u="none" strike="noStrike">
                <a:solidFill>
                  <a:srgbClr val="FFFFFF">
                    <a:alpha val="5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  <a:endParaRPr lang="zh-CN" altLang="en-US" sz="1400" b="0" i="0" u="none" strike="noStrike">
              <a:solidFill>
                <a:srgbClr val="FFFFFF">
                  <a:alpha val="5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1041" r="-1041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15000"/>
                </a:srgbClr>
              </a:gs>
              <a:gs pos="30000">
                <a:srgbClr val="000000">
                  <a:alpha val="35000"/>
                </a:srgbClr>
              </a:gs>
              <a:gs pos="60000">
                <a:srgbClr val="000000">
                  <a:alpha val="50000"/>
                </a:srgbClr>
              </a:gs>
              <a:gs pos="90000">
                <a:srgbClr val="000000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41400" y="1778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0" b="1" i="0" u="none" strike="noStrike">
                <a:solidFill>
                  <a:srgbClr val="FFFFFF">
                    <a:alpha val="3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3556000"/>
            <a:ext cx="1041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6400" b="1" spc="400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资源全景</a:t>
            </a:r>
            <a:r>
              <a:rPr lang="en-US" sz="6400" b="1" i="0" u="none" strike="noStrike" spc="400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与核心进展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041400" y="508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DC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41400" y="5334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spc="100">
                <a:solidFill>
                  <a:srgbClr val="DCE1EB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在这一章,我们将详细阐述TUNER工具的核心价值主张,以及我们如何通过数据驱动的方式,在项目中期取得了关键性的突破。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9151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749300" y="609600"/>
            <a:ext cx="10414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zh-CN" altLang="en-US" sz="40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资源全景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87400" y="1346200"/>
            <a:ext cx="5588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lstStyle/>
          <a:p>
            <a:pPr>
              <a:lnSpc>
                <a:spcPct val="200000"/>
              </a:lnSpc>
              <a:defRPr/>
            </a:pPr>
            <a:endParaRPr lang="en-US" sz="1600" b="1" dirty="0">
              <a:solidFill>
                <a:schemeClr val="bg1"/>
              </a:solidFill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93750" y="1523999"/>
            <a:ext cx="2797175" cy="482601"/>
          </a:xfrm>
          <a:prstGeom prst="roundRect">
            <a:avLst>
              <a:gd name="adj" fmla="val 107142"/>
            </a:avLst>
          </a:prstGeom>
          <a:gradFill rotWithShape="1">
            <a:gsLst>
              <a:gs pos="0">
                <a:srgbClr val="2B2F36">
                  <a:alpha val="100000"/>
                </a:srgbClr>
              </a:gs>
              <a:gs pos="100000">
                <a:srgbClr val="424755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152400" tIns="76200" rIns="152400" bIns="7620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#1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资源投入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成果对照表</a:t>
            </a:r>
            <a:endParaRPr lang="en-US" dirty="0"/>
          </a:p>
        </p:txBody>
      </p:sp>
      <p:sp>
        <p:nvSpPr>
          <p:cNvPr id="6" name="AutoShape 6"/>
          <p:cNvSpPr/>
          <p:nvPr/>
        </p:nvSpPr>
        <p:spPr>
          <a:xfrm>
            <a:off x="749300" y="3683000"/>
            <a:ext cx="5461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50800" rIns="127000" bIns="5080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49300" y="5448300"/>
            <a:ext cx="5461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50800" rIns="127000" bIns="5080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endParaRPr lang="en-US" sz="1600" b="1" i="0" u="none" strike="noStrike" dirty="0">
              <a:solidFill>
                <a:srgbClr val="06B6D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010400" y="1841500"/>
            <a:ext cx="4381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7010400" y="2120900"/>
            <a:ext cx="177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8763000" y="22860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7010400" y="3111500"/>
            <a:ext cx="4381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7010400" y="3390900"/>
            <a:ext cx="1651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8661400" y="3556000"/>
            <a:ext cx="21463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7010400" y="4381500"/>
            <a:ext cx="4381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7010400" y="46736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7683500" y="4867274"/>
            <a:ext cx="114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8" name="AutoShape 28"/>
          <p:cNvSpPr/>
          <p:nvPr/>
        </p:nvSpPr>
        <p:spPr>
          <a:xfrm>
            <a:off x="7010400" y="5270500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3810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9" name="AutoShape 29"/>
          <p:cNvSpPr/>
          <p:nvPr/>
        </p:nvSpPr>
        <p:spPr>
          <a:xfrm>
            <a:off x="6731000" y="58674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50800" rIns="1270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1" name="AutoShape 5"/>
          <p:cNvSpPr/>
          <p:nvPr/>
        </p:nvSpPr>
        <p:spPr>
          <a:xfrm>
            <a:off x="800100" y="4418545"/>
            <a:ext cx="2159000" cy="501651"/>
          </a:xfrm>
          <a:prstGeom prst="roundRect">
            <a:avLst>
              <a:gd name="adj" fmla="val 107142"/>
            </a:avLst>
          </a:prstGeom>
          <a:gradFill rotWithShape="1">
            <a:gsLst>
              <a:gs pos="0">
                <a:srgbClr val="2B2F36">
                  <a:alpha val="100000"/>
                </a:srgbClr>
              </a:gs>
              <a:gs pos="100000">
                <a:srgbClr val="424755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152400" tIns="76200" rIns="152400" bIns="7620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#2</a:t>
            </a:r>
            <a:r>
              <a:rPr lang="zh-CN" altLang="zh-CN" sz="16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</a:rPr>
              <a:t>里程碑进度</a:t>
            </a:r>
            <a:endParaRPr lang="en-US" dirty="0"/>
          </a:p>
        </p:txBody>
      </p:sp>
      <p:sp>
        <p:nvSpPr>
          <p:cNvPr id="33" name="AutoShape 18"/>
          <p:cNvSpPr/>
          <p:nvPr/>
        </p:nvSpPr>
        <p:spPr>
          <a:xfrm>
            <a:off x="6978650" y="1835150"/>
            <a:ext cx="4381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endParaRPr lang="en-US" sz="1300" dirty="0">
              <a:solidFill>
                <a:srgbClr val="B4B9C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800100" y="2025650"/>
          <a:ext cx="9213849" cy="2274242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3071283"/>
                <a:gridCol w="3071283"/>
                <a:gridCol w="3071283"/>
              </a:tblGrid>
              <a:tr h="4743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zh-CN" altLang="en-US" sz="1100" b="1" i="0" u="none" strike="noStrike" kern="100" cap="none" dirty="0">
                          <a:solidFill>
                            <a:schemeClr val="lt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Arial" panose="020B0604020202020204"/>
                        </a:rPr>
                        <a:t>投入</a:t>
                      </a:r>
                      <a:endParaRPr lang="zh-CN" altLang="en-US" sz="1100" b="1" i="0" u="none" strike="noStrike" kern="100" cap="none" dirty="0">
                        <a:solidFill>
                          <a:schemeClr val="lt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zh-CN" altLang="en-US" sz="1100" b="1" i="0" u="none" strike="noStrike" kern="100" cap="none" dirty="0">
                          <a:solidFill>
                            <a:schemeClr val="lt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Arial" panose="020B0604020202020204"/>
                        </a:rPr>
                        <a:t>产出 </a:t>
                      </a:r>
                      <a:endParaRPr lang="zh-CN" altLang="en-US" sz="1100" b="1" i="0" u="none" strike="noStrike" kern="100" cap="none" dirty="0">
                        <a:solidFill>
                          <a:schemeClr val="lt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1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效率说明 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</a:tr>
              <a:tr h="474342">
                <a:tc>
                  <a:txBody>
                    <a:bodyPr/>
                    <a:lstStyle/>
                    <a:p>
                      <a:pPr marR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zh-CN" altLang="zh-CN" sz="1100" b="1" i="0" u="none" strike="noStrike" kern="100" cap="none" dirty="0">
                          <a:solidFill>
                            <a:schemeClr val="lt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Arial" panose="020B0604020202020204"/>
                        </a:rPr>
                        <a:t>时间：152 团队累计工时</a:t>
                      </a:r>
                      <a:endParaRPr lang="zh-CN" altLang="en-US" sz="1100" b="1" i="0" u="none" strike="noStrike" kern="100" cap="none" dirty="0">
                        <a:solidFill>
                          <a:schemeClr val="lt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1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验证数据：</a:t>
                      </a:r>
                      <a:r>
                        <a:rPr lang="zh-CN" sz="1100" b="1" kern="100" dirty="0">
                          <a:effectLst/>
                          <a:latin typeface="Segoe UI Emoji" panose="020B0502040204020203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 </a:t>
                      </a:r>
                      <a:r>
                        <a:rPr lang="zh-CN" sz="11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份有效电控深度反馈 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1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每</a:t>
                      </a:r>
                      <a:r>
                        <a:rPr lang="zh-CN" sz="1100" b="1" kern="100">
                          <a:effectLst/>
                          <a:latin typeface="Segoe UI Emoji" panose="020B0502040204020203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30.4</a:t>
                      </a:r>
                      <a:r>
                        <a:rPr lang="zh-CN" sz="11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小时 产出 </a:t>
                      </a:r>
                      <a:r>
                        <a:rPr lang="zh-CN" sz="1100" b="1" kern="100">
                          <a:effectLst/>
                          <a:latin typeface="Segoe UI Emoji" panose="020B0502040204020203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zh-CN" sz="11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版完整原型 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</a:tr>
              <a:tr h="662779">
                <a:tc>
                  <a:txBody>
                    <a:bodyPr/>
                    <a:lstStyle/>
                    <a:p>
                      <a:pPr marR="0" algn="l" rtl="0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zh-CN" altLang="zh-CN" sz="1100" b="1" i="0" u="none" strike="noStrike" kern="100" cap="none" dirty="0">
                          <a:solidFill>
                            <a:schemeClr val="lt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Arial" panose="020B0604020202020204"/>
                        </a:rPr>
                        <a:t>经费：¥350 实际花销（API/云服务/测试）</a:t>
                      </a:r>
                      <a:endParaRPr lang="zh-CN" altLang="en-US" sz="1100" b="1" i="0" u="none" strike="noStrike" kern="100" cap="none" dirty="0">
                        <a:solidFill>
                          <a:schemeClr val="lt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1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实物成果：</a:t>
                      </a:r>
                      <a:r>
                        <a:rPr lang="zh-CN" sz="1100" b="1" kern="100">
                          <a:effectLst/>
                          <a:latin typeface="Segoe UI Emoji" panose="020B0502040204020203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zh-CN" sz="11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版可运行原型迭代 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1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每</a:t>
                      </a:r>
                      <a:r>
                        <a:rPr lang="zh-CN" sz="1100" b="1" kern="100">
                          <a:effectLst/>
                          <a:latin typeface="Segoe UI Emoji" panose="020B0502040204020203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¥29.2 </a:t>
                      </a:r>
                      <a:r>
                        <a:rPr lang="zh-CN" sz="11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获取 </a:t>
                      </a:r>
                      <a:r>
                        <a:rPr lang="zh-CN" sz="1100" b="1" kern="100">
                          <a:effectLst/>
                          <a:latin typeface="Segoe UI Emoji" panose="020B0502040204020203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zh-CN" sz="11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份深度用户反馈 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</a:tr>
              <a:tr h="66277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zh-CN" altLang="zh-CN" sz="1100" b="1" i="0" u="none" strike="noStrike" kern="100" cap="none" dirty="0">
                          <a:solidFill>
                            <a:schemeClr val="lt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Arial" panose="020B0604020202020204"/>
                        </a:rPr>
                        <a:t>外部资源：7 次（学长指导2次+测试用户+开源库5个）</a:t>
                      </a:r>
                      <a:endParaRPr lang="zh-CN" altLang="en-US" sz="1100" b="1" i="0" u="none" strike="noStrike" kern="100" cap="none" dirty="0">
                        <a:solidFill>
                          <a:schemeClr val="lt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1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合作</a:t>
                      </a:r>
                      <a:r>
                        <a:rPr lang="zh-CN" sz="1100" b="1" kern="100" dirty="0">
                          <a:effectLst/>
                          <a:latin typeface="Segoe UI Emoji" panose="020B0502040204020203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sz="11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改进：</a:t>
                      </a:r>
                      <a:r>
                        <a:rPr lang="zh-CN" sz="1100" b="1" kern="100" dirty="0">
                          <a:effectLst/>
                          <a:latin typeface="Segoe UI Emoji" panose="020B0502040204020203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17 </a:t>
                      </a:r>
                      <a:r>
                        <a:rPr lang="zh-CN" sz="11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条可落地改进建议 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1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平均每次外部对接产出</a:t>
                      </a:r>
                      <a:r>
                        <a:rPr lang="zh-CN" sz="1100" b="1" kern="100" dirty="0">
                          <a:effectLst/>
                          <a:latin typeface="Segoe UI Emoji" panose="020B0502040204020203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2.4</a:t>
                      </a:r>
                      <a:r>
                        <a:rPr lang="zh-CN" sz="1100" b="1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条 有效建议 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</a:tr>
            </a:tbl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800100" y="4914906"/>
            <a:ext cx="9601200" cy="1750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</a:pPr>
            <a:r>
              <a:rPr lang="zh-CN" altLang="zh-CN" b="1" dirty="0">
                <a:solidFill>
                  <a:schemeClr val="bg1"/>
                </a:solidFill>
              </a:rPr>
              <a:t>整体进度条</a:t>
            </a:r>
            <a:r>
              <a:rPr lang="zh-CN" altLang="zh-CN" dirty="0">
                <a:solidFill>
                  <a:schemeClr val="bg1"/>
                </a:solidFill>
              </a:rPr>
              <a:t>：████████████░░░░（70%） </a:t>
            </a:r>
            <a:endParaRPr lang="zh-CN" altLang="zh-CN" dirty="0">
              <a:solidFill>
                <a:schemeClr val="bg1"/>
              </a:solidFill>
            </a:endParaRPr>
          </a:p>
          <a:p>
            <a:pPr lvl="0">
              <a:lnSpc>
                <a:spcPct val="200000"/>
              </a:lnSpc>
            </a:pPr>
            <a:r>
              <a:rPr lang="zh-CN" altLang="zh-CN" b="1" dirty="0">
                <a:solidFill>
                  <a:schemeClr val="bg1"/>
                </a:solidFill>
              </a:rPr>
              <a:t>里程碑 1：核心算法与前端可视化</a:t>
            </a:r>
            <a:r>
              <a:rPr lang="zh-CN" altLang="zh-CN" dirty="0">
                <a:solidFill>
                  <a:schemeClr val="bg1"/>
                </a:solidFill>
              </a:rPr>
              <a:t> | 7月2</a:t>
            </a:r>
            <a:r>
              <a:rPr lang="en-US" altLang="zh-CN" dirty="0">
                <a:solidFill>
                  <a:schemeClr val="bg1"/>
                </a:solidFill>
              </a:rPr>
              <a:t>7</a:t>
            </a:r>
            <a:r>
              <a:rPr lang="zh-CN" altLang="zh-CN" dirty="0">
                <a:solidFill>
                  <a:schemeClr val="bg1"/>
                </a:solidFill>
              </a:rPr>
              <a:t>日 | 100% | 🟢 已完成 </a:t>
            </a:r>
            <a:endParaRPr lang="zh-CN" altLang="zh-CN" dirty="0">
              <a:solidFill>
                <a:schemeClr val="bg1"/>
              </a:solidFill>
            </a:endParaRPr>
          </a:p>
          <a:p>
            <a:pPr lvl="0">
              <a:lnSpc>
                <a:spcPct val="200000"/>
              </a:lnSpc>
            </a:pPr>
            <a:r>
              <a:rPr lang="zh-CN" altLang="zh-CN" b="1" dirty="0">
                <a:solidFill>
                  <a:schemeClr val="bg1"/>
                </a:solidFill>
              </a:rPr>
              <a:t>里程碑 2：中期答辩全套材料</a:t>
            </a:r>
            <a:r>
              <a:rPr lang="zh-CN" altLang="en-US" b="1" dirty="0">
                <a:solidFill>
                  <a:schemeClr val="bg1"/>
                </a:solidFill>
              </a:rPr>
              <a:t>（测试）</a:t>
            </a:r>
            <a:r>
              <a:rPr lang="zh-CN" altLang="zh-CN" dirty="0">
                <a:solidFill>
                  <a:schemeClr val="bg1"/>
                </a:solidFill>
              </a:rPr>
              <a:t> | 7月</a:t>
            </a:r>
            <a:r>
              <a:rPr lang="en-US" altLang="zh-CN" dirty="0">
                <a:solidFill>
                  <a:schemeClr val="bg1"/>
                </a:solidFill>
              </a:rPr>
              <a:t>29</a:t>
            </a:r>
            <a:r>
              <a:rPr lang="zh-CN" altLang="zh-CN" dirty="0">
                <a:solidFill>
                  <a:schemeClr val="bg1"/>
                </a:solidFill>
              </a:rPr>
              <a:t>日 | </a:t>
            </a:r>
            <a:r>
              <a:rPr lang="en-US" altLang="zh-CN" dirty="0">
                <a:solidFill>
                  <a:schemeClr val="bg1"/>
                </a:solidFill>
              </a:rPr>
              <a:t>10</a:t>
            </a:r>
            <a:r>
              <a:rPr lang="zh-CN" altLang="zh-CN" dirty="0">
                <a:solidFill>
                  <a:schemeClr val="bg1"/>
                </a:solidFill>
              </a:rPr>
              <a:t>0% | 🟢 已完成 </a:t>
            </a:r>
            <a:endParaRPr lang="zh-CN" altLang="zh-CN" dirty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zh-CN" b="1" dirty="0">
                <a:solidFill>
                  <a:schemeClr val="bg1"/>
                </a:solidFill>
              </a:rPr>
              <a:t>里程碑 3：线上答辩与硬件联调</a:t>
            </a:r>
            <a:r>
              <a:rPr lang="en-US" altLang="zh-CN" b="1" dirty="0">
                <a:solidFill>
                  <a:schemeClr val="bg1"/>
                </a:solidFill>
              </a:rPr>
              <a:t>  </a:t>
            </a:r>
            <a:r>
              <a:rPr lang="zh-CN" altLang="zh-CN" dirty="0">
                <a:solidFill>
                  <a:schemeClr val="bg1"/>
                </a:solidFill>
              </a:rPr>
              <a:t>| 8月</a:t>
            </a:r>
            <a:r>
              <a:rPr lang="en-US" altLang="zh-CN" dirty="0">
                <a:solidFill>
                  <a:schemeClr val="bg1"/>
                </a:solidFill>
              </a:rPr>
              <a:t>3</a:t>
            </a:r>
            <a:r>
              <a:rPr lang="zh-CN" altLang="zh-CN" dirty="0">
                <a:solidFill>
                  <a:schemeClr val="bg1"/>
                </a:solidFill>
              </a:rPr>
              <a:t>日 | </a:t>
            </a:r>
            <a:r>
              <a:rPr lang="en-US" altLang="zh-CN" dirty="0">
                <a:solidFill>
                  <a:schemeClr val="bg1"/>
                </a:solidFill>
              </a:rPr>
              <a:t>6</a:t>
            </a:r>
            <a:r>
              <a:rPr lang="zh-CN" altLang="zh-CN" dirty="0">
                <a:solidFill>
                  <a:schemeClr val="bg1"/>
                </a:solidFill>
              </a:rPr>
              <a:t>0% | 🟠 进行中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1041" r="-1041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393295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749300" y="609600"/>
            <a:ext cx="10414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40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核心价值主张</a:t>
            </a:r>
            <a:r>
              <a:rPr lang="zh-CN" altLang="en-US" sz="40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公式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49300" y="2159000"/>
            <a:ext cx="5588000" cy="16700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lstStyle/>
          <a:p>
            <a:pPr>
              <a:lnSpc>
                <a:spcPct val="200000"/>
              </a:lnSpc>
              <a:defRPr/>
            </a:pPr>
            <a:r>
              <a:rPr lang="zh-CN" altLang="zh-CN" sz="1600" b="1" dirty="0">
                <a:solidFill>
                  <a:schemeClr val="bg1"/>
                </a:solidFill>
              </a:rPr>
              <a:t>【备赛电赛及智能车项目的电控学生】</a:t>
            </a:r>
            <a:r>
              <a:rPr lang="zh-CN" altLang="zh-CN" sz="1600" dirty="0">
                <a:solidFill>
                  <a:schemeClr val="bg1"/>
                </a:solidFill>
              </a:rPr>
              <a:t> 通过 </a:t>
            </a:r>
            <a:r>
              <a:rPr lang="zh-CN" altLang="zh-CN" sz="1600" b="1" dirty="0">
                <a:solidFill>
                  <a:schemeClr val="bg1"/>
                </a:solidFill>
              </a:rPr>
              <a:t>【Tuner——AI智能调参工具（AI提示词+曲线波形可视化）】</a:t>
            </a:r>
            <a:r>
              <a:rPr lang="zh-CN" altLang="zh-CN" sz="1600" dirty="0">
                <a:solidFill>
                  <a:schemeClr val="bg1"/>
                </a:solidFill>
              </a:rPr>
              <a:t> 实现 </a:t>
            </a:r>
            <a:r>
              <a:rPr lang="zh-CN" altLang="zh-CN" sz="1600" b="1" dirty="0">
                <a:solidFill>
                  <a:schemeClr val="bg1"/>
                </a:solidFill>
              </a:rPr>
              <a:t>【调参效率提升50%以上、调参时长由2天缩短至半天】</a:t>
            </a:r>
            <a:r>
              <a:rPr lang="zh-CN" altLang="zh-CN" sz="1600" dirty="0">
                <a:solidFill>
                  <a:schemeClr val="bg1"/>
                </a:solidFill>
              </a:rPr>
              <a:t>，相比 </a:t>
            </a:r>
            <a:r>
              <a:rPr lang="zh-CN" altLang="zh-CN" sz="1600" b="1" dirty="0">
                <a:solidFill>
                  <a:schemeClr val="bg1"/>
                </a:solidFill>
              </a:rPr>
              <a:t>【VOFA+等传统</a:t>
            </a:r>
            <a:r>
              <a:rPr lang="zh-CN" altLang="en-US" sz="1600" b="1" dirty="0">
                <a:solidFill>
                  <a:schemeClr val="bg1"/>
                </a:solidFill>
              </a:rPr>
              <a:t>工具</a:t>
            </a:r>
            <a:r>
              <a:rPr lang="zh-CN" altLang="zh-CN" sz="1600" b="1" dirty="0">
                <a:solidFill>
                  <a:schemeClr val="bg1"/>
                </a:solidFill>
              </a:rPr>
              <a:t>（仅看波形全靠人工盲调）】</a:t>
            </a:r>
            <a:r>
              <a:rPr lang="zh-CN" altLang="zh-CN" sz="1600" dirty="0">
                <a:solidFill>
                  <a:schemeClr val="bg1"/>
                </a:solidFill>
              </a:rPr>
              <a:t>，我们 </a:t>
            </a:r>
            <a:r>
              <a:rPr lang="zh-CN" altLang="zh-CN" sz="1600" b="1" dirty="0">
                <a:solidFill>
                  <a:schemeClr val="bg1"/>
                </a:solidFill>
              </a:rPr>
              <a:t>【集成大模型PID诊断引擎，提供个性化调参指导与自动参数预估】</a:t>
            </a:r>
            <a:r>
              <a:rPr lang="en-US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  <a:endParaRPr lang="en-US" b="0" i="0" u="none" strike="noStrike" dirty="0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76300" y="4768849"/>
            <a:ext cx="2159000" cy="501651"/>
          </a:xfrm>
          <a:prstGeom prst="roundRect">
            <a:avLst>
              <a:gd name="adj" fmla="val 107142"/>
            </a:avLst>
          </a:prstGeom>
          <a:gradFill rotWithShape="1">
            <a:gsLst>
              <a:gs pos="0">
                <a:srgbClr val="2B2F36">
                  <a:alpha val="100000"/>
                </a:srgbClr>
              </a:gs>
              <a:gs pos="100000">
                <a:srgbClr val="424755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152400" tIns="76200" rIns="152400" bIns="762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#1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用户经济效益</a:t>
            </a:r>
            <a:endParaRPr lang="en-US" dirty="0"/>
          </a:p>
        </p:txBody>
      </p:sp>
      <p:sp>
        <p:nvSpPr>
          <p:cNvPr id="6" name="AutoShape 6"/>
          <p:cNvSpPr/>
          <p:nvPr/>
        </p:nvSpPr>
        <p:spPr>
          <a:xfrm>
            <a:off x="749300" y="3683000"/>
            <a:ext cx="5461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50800" rIns="127000" bIns="5080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49300" y="5448300"/>
            <a:ext cx="5461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50800" rIns="127000" bIns="5080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 dirty="0">
                <a:solidFill>
                  <a:srgbClr val="D2D7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每位电控学生节省约</a:t>
            </a:r>
            <a:r>
              <a:rPr 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12-16小时</a:t>
            </a:r>
            <a:r>
              <a:rPr lang="en-US" sz="1600" b="0" i="0" u="none" strike="noStrike" dirty="0">
                <a:solidFill>
                  <a:srgbClr val="D2D7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盲目试错时间</a:t>
            </a:r>
            <a:endParaRPr lang="en-US" dirty="0"/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 dirty="0">
                <a:solidFill>
                  <a:srgbClr val="D2D7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折算工时价值超</a:t>
            </a:r>
            <a:r>
              <a:rPr lang="en-US" sz="1600" b="1" i="0" u="none" strike="noStrike" dirty="0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300元</a:t>
            </a:r>
            <a:endParaRPr lang="en-US" sz="1600" b="1" i="0" u="none" strike="noStrike" dirty="0">
              <a:solidFill>
                <a:srgbClr val="06B6D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731000" y="1778000"/>
            <a:ext cx="4826000" cy="1092200"/>
          </a:xfrm>
          <a:prstGeom prst="roundRect">
            <a:avLst>
              <a:gd name="adj" fmla="val 0"/>
            </a:avLst>
          </a:prstGeom>
          <a:solidFill>
            <a:srgbClr val="141923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731000" y="1778000"/>
            <a:ext cx="50800" cy="10922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010400" y="1841500"/>
            <a:ext cx="4381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7010400" y="2120900"/>
            <a:ext cx="177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400" b="1" i="0" u="none" strike="noStrike" dirty="0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基础版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8763000" y="22860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免费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9525000" y="2286000"/>
            <a:ext cx="114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C8CDD7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吸纳用户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6731000" y="3048000"/>
            <a:ext cx="4826000" cy="1092200"/>
          </a:xfrm>
          <a:prstGeom prst="roundRect">
            <a:avLst>
              <a:gd name="adj" fmla="val 0"/>
            </a:avLst>
          </a:prstGeom>
          <a:solidFill>
            <a:srgbClr val="141923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731000" y="3048000"/>
            <a:ext cx="50800" cy="10922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010400" y="3111500"/>
            <a:ext cx="4381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 dirty="0">
                <a:solidFill>
                  <a:srgbClr val="B4B9C8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无限次</a:t>
            </a:r>
            <a:r>
              <a:rPr lang="en-US" altLang="zh-CN" sz="1300" dirty="0">
                <a:solidFill>
                  <a:srgbClr val="B4B9C8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AI PID</a:t>
            </a:r>
            <a:r>
              <a:rPr lang="zh-CN" altLang="en-US" sz="1300" dirty="0">
                <a:solidFill>
                  <a:srgbClr val="B4B9C8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诊断服务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7010400" y="3390900"/>
            <a:ext cx="1651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400" b="1" dirty="0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高级版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8661400" y="3556000"/>
            <a:ext cx="21463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0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￥</a:t>
            </a:r>
            <a:r>
              <a:rPr lang="en-US" altLang="zh-CN" sz="1600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</a:t>
            </a:r>
            <a:r>
              <a:rPr lang="en-US" sz="1600" b="0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元</a:t>
            </a:r>
            <a:r>
              <a:rPr lang="en-US" sz="1600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600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月订阅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6731000" y="4318000"/>
            <a:ext cx="4826000" cy="1219200"/>
          </a:xfrm>
          <a:prstGeom prst="roundRect">
            <a:avLst>
              <a:gd name="adj" fmla="val 0"/>
            </a:avLst>
          </a:prstGeom>
          <a:solidFill>
            <a:srgbClr val="141923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731000" y="4318000"/>
            <a:ext cx="50800" cy="1219200"/>
          </a:xfrm>
          <a:prstGeom prst="roundRect">
            <a:avLst>
              <a:gd name="adj" fmla="val 0"/>
            </a:avLst>
          </a:prstGeom>
          <a:solidFill>
            <a:srgbClr val="06B6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010400" y="4381500"/>
            <a:ext cx="4381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B4B9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LTV</a:t>
            </a:r>
            <a:r>
              <a:rPr lang="zh-CN" altLang="en-US" sz="1300" b="0" i="0" u="none" strike="noStrike" dirty="0">
                <a:solidFill>
                  <a:srgbClr val="B4B9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测算</a:t>
            </a:r>
            <a:r>
              <a:rPr lang="en-US" sz="1300" b="0" i="0" u="none" strike="noStrike" dirty="0">
                <a:solidFill>
                  <a:srgbClr val="B4B9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en-US" sz="1300" b="0" i="0" u="none" strike="noStrike" dirty="0" err="1">
                <a:solidFill>
                  <a:srgbClr val="B4B9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</a:t>
            </a:r>
            <a:r>
              <a:rPr lang="zh-CN" altLang="en-US" sz="1300" b="0" i="0" u="none" strike="noStrike" dirty="0">
                <a:solidFill>
                  <a:srgbClr val="B4B9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校内以及全国＞</a:t>
            </a:r>
            <a:r>
              <a:rPr lang="en-US" sz="1300" b="0" i="0" u="none" strike="noStrike" dirty="0">
                <a:solidFill>
                  <a:srgbClr val="B4B9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1000人电赛群体</a:t>
            </a:r>
            <a:r>
              <a:rPr lang="en-US" altLang="zh-CN" sz="1100" dirty="0">
                <a:solidFill>
                  <a:srgbClr val="B4B9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zh-CN" altLang="en-US" sz="1100" dirty="0">
                <a:solidFill>
                  <a:srgbClr val="B4B9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年收入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7010400" y="46736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dirty="0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9</a:t>
            </a: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7683500" y="4867274"/>
            <a:ext cx="114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万元</a:t>
            </a:r>
            <a:endParaRPr lang="en-US" sz="1100" dirty="0"/>
          </a:p>
        </p:txBody>
      </p:sp>
      <p:sp>
        <p:nvSpPr>
          <p:cNvPr id="28" name="AutoShape 28"/>
          <p:cNvSpPr/>
          <p:nvPr/>
        </p:nvSpPr>
        <p:spPr>
          <a:xfrm>
            <a:off x="7010400" y="5270500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3810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9" name="AutoShape 29"/>
          <p:cNvSpPr/>
          <p:nvPr/>
        </p:nvSpPr>
        <p:spPr>
          <a:xfrm>
            <a:off x="6731000" y="58674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50800" rIns="1270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 dirty="0" err="1">
                <a:solidFill>
                  <a:srgbClr val="AAAF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基础版开源免费,高级版</a:t>
            </a:r>
            <a:r>
              <a:rPr lang="en-US" sz="1100" b="0" i="0" u="none" strike="noStrike" dirty="0">
                <a:solidFill>
                  <a:srgbClr val="AAAF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100" b="0" i="0" u="none" strike="noStrike" dirty="0" err="1">
                <a:solidFill>
                  <a:srgbClr val="AAAF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API服务按月订阅或按次收费,降低试用门槛、提升付费转化</a:t>
            </a:r>
            <a:r>
              <a:rPr lang="en-US" sz="1100" b="0" i="0" u="none" strike="noStrike" dirty="0">
                <a:solidFill>
                  <a:srgbClr val="AAAF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31" name="AutoShape 5"/>
          <p:cNvSpPr/>
          <p:nvPr/>
        </p:nvSpPr>
        <p:spPr>
          <a:xfrm>
            <a:off x="6502400" y="942974"/>
            <a:ext cx="2159000" cy="501651"/>
          </a:xfrm>
          <a:prstGeom prst="roundRect">
            <a:avLst>
              <a:gd name="adj" fmla="val 107142"/>
            </a:avLst>
          </a:prstGeom>
          <a:gradFill rotWithShape="1">
            <a:gsLst>
              <a:gs pos="0">
                <a:srgbClr val="2B2F36">
                  <a:alpha val="100000"/>
                </a:srgbClr>
              </a:gs>
              <a:gs pos="100000">
                <a:srgbClr val="424755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152400" tIns="76200" rIns="152400" bIns="7620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#2</a:t>
            </a:r>
            <a:r>
              <a:rPr lang="zh-CN" altLang="en-US" sz="16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团队商业模式</a:t>
            </a:r>
            <a:endParaRPr lang="en-US" dirty="0"/>
          </a:p>
        </p:txBody>
      </p:sp>
      <p:sp>
        <p:nvSpPr>
          <p:cNvPr id="33" name="AutoShape 18"/>
          <p:cNvSpPr/>
          <p:nvPr/>
        </p:nvSpPr>
        <p:spPr>
          <a:xfrm>
            <a:off x="6978650" y="1835150"/>
            <a:ext cx="4381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zh-CN" sz="1300" dirty="0">
                <a:solidFill>
                  <a:srgbClr val="B4B9C8"/>
                </a:solidFill>
                <a:latin typeface="Noto Sans SC" panose="020B0200000000000000" charset="-122"/>
                <a:ea typeface="Noto Sans SC" panose="020B0200000000000000" charset="-122"/>
              </a:rPr>
              <a:t>波形绘制、基础串口通信</a:t>
            </a:r>
            <a:endParaRPr lang="en-US" sz="1300" dirty="0">
              <a:solidFill>
                <a:srgbClr val="B4B9C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1041" r="-1041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85800" y="711200"/>
            <a:ext cx="10820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价值主张验证矩阵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85800" y="1778000"/>
            <a:ext cx="3530600" cy="3238500"/>
          </a:xfrm>
          <a:prstGeom prst="roundRect">
            <a:avLst>
              <a:gd name="adj" fmla="val 0"/>
            </a:avLst>
          </a:prstGeom>
          <a:solidFill>
            <a:srgbClr val="1E293B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5" name="AutoShape 5"/>
          <p:cNvSpPr/>
          <p:nvPr/>
        </p:nvSpPr>
        <p:spPr>
          <a:xfrm>
            <a:off x="685800" y="1778000"/>
            <a:ext cx="50800" cy="3238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0A5FA">
                  <a:alpha val="100000"/>
                </a:srgbClr>
              </a:gs>
              <a:gs pos="100000">
                <a:srgbClr val="60A5FA">
                  <a:alpha val="2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39800" y="19304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39800" y="2539999"/>
            <a:ext cx="3073400" cy="236220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50800" tIns="76200" rIns="50800" bIns="76200" rtlCol="0" anchor="ctr" anchorCtr="0"/>
          <a:lstStyle/>
          <a:p>
            <a:pPr>
              <a:lnSpc>
                <a:spcPct val="150000"/>
              </a:lnSpc>
              <a:defRPr/>
            </a:pPr>
            <a:r>
              <a:rPr lang="zh-CN" altLang="zh-CN" sz="1200" dirty="0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</a:rPr>
              <a:t>痛点：电赛调参全靠经验试错，波形震荡难以定位问题</a:t>
            </a:r>
            <a:endParaRPr lang="en-US" altLang="zh-CN" sz="1200" dirty="0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200" dirty="0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200" dirty="0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altLang="zh-CN" sz="1200" dirty="0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</a:rPr>
              <a:t>方案：Gongji AI 用 AI 诊断算法一键分析波形并给出 PID 修改建议 </a:t>
            </a:r>
            <a:endParaRPr lang="en-US" altLang="zh-CN" sz="1200" dirty="0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50000"/>
              </a:lnSpc>
              <a:defRPr/>
            </a:pPr>
            <a:endParaRPr lang="zh-CN" altLang="zh-CN" sz="1200" dirty="0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200" dirty="0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</a:rPr>
              <a:t>差异：从“纯工具看波形”升级为“AI教练带你调参”</a:t>
            </a:r>
            <a:endParaRPr lang="en-US" sz="1200" dirty="0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  <a:defRPr/>
            </a:pP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4330700" y="1809750"/>
            <a:ext cx="3530600" cy="3238500"/>
          </a:xfrm>
          <a:prstGeom prst="roundRect">
            <a:avLst>
              <a:gd name="adj" fmla="val 0"/>
            </a:avLst>
          </a:prstGeom>
          <a:solidFill>
            <a:srgbClr val="1E293B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330700" y="1778000"/>
            <a:ext cx="50800" cy="3238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0A5FA">
                  <a:alpha val="100000"/>
                </a:srgbClr>
              </a:gs>
              <a:gs pos="100000">
                <a:srgbClr val="60A5FA">
                  <a:alpha val="2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584700" y="19304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竞争力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84700" y="2540000"/>
            <a:ext cx="3073400" cy="226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50800" tIns="76200" rIns="50800" bIns="76200" rtlCol="0" anchor="ctr" anchorCtr="0"/>
          <a:lstStyle/>
          <a:p>
            <a:pPr>
              <a:lnSpc>
                <a:spcPct val="129000"/>
              </a:lnSpc>
              <a:defRPr/>
            </a:pPr>
            <a:r>
              <a:rPr lang="en-US" sz="1600" b="0" i="0" u="none" strike="noStrike" dirty="0" err="1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</a:t>
            </a:r>
            <a:r>
              <a:rPr lang="en-US" sz="1800" b="1" i="0" u="none" strike="noStrike" dirty="0" err="1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"智能化诊断</a:t>
            </a:r>
            <a:r>
              <a:rPr lang="en-US" altLang="zh-CN" sz="1600" b="1" dirty="0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" </a:t>
            </a:r>
            <a:r>
              <a:rPr lang="en-US" sz="1600" b="0" i="0" u="none" strike="noStrike" dirty="0" err="1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1800" b="1" i="0" u="none" strike="noStrike" dirty="0" err="1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"新手上手速度"</a:t>
            </a:r>
            <a:r>
              <a:rPr lang="en-US" sz="1600" b="0" i="0" u="none" strike="noStrike" dirty="0" err="1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维度大幅领先传统工具</a:t>
            </a:r>
            <a:endParaRPr lang="en-US" dirty="0"/>
          </a:p>
        </p:txBody>
      </p:sp>
      <p:sp>
        <p:nvSpPr>
          <p:cNvPr id="12" name="AutoShape 12"/>
          <p:cNvSpPr/>
          <p:nvPr/>
        </p:nvSpPr>
        <p:spPr>
          <a:xfrm>
            <a:off x="7975600" y="1778000"/>
            <a:ext cx="3530600" cy="3238500"/>
          </a:xfrm>
          <a:prstGeom prst="roundRect">
            <a:avLst>
              <a:gd name="adj" fmla="val 0"/>
            </a:avLst>
          </a:prstGeom>
          <a:solidFill>
            <a:srgbClr val="1E293B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975600" y="1778000"/>
            <a:ext cx="50800" cy="3238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0A5FA">
                  <a:alpha val="100000"/>
                </a:srgbClr>
              </a:gs>
              <a:gs pos="100000">
                <a:srgbClr val="60A5FA">
                  <a:alpha val="2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229600" y="19304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可行性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29600" y="2540000"/>
            <a:ext cx="30734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调参耗时</a:t>
            </a:r>
            <a:r>
              <a:rPr lang="en-US" sz="16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8小时</a:t>
            </a: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6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2.5小时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29600" y="3200400"/>
            <a:ext cx="30734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200" b="0" i="0" u="none" strike="noStrike" dirty="0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新手首次成功率</a:t>
            </a:r>
            <a:r>
              <a:rPr lang="en-US" sz="1600" b="1" i="0" u="none" strike="noStrike" dirty="0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35%</a:t>
            </a:r>
            <a:r>
              <a:rPr lang="en-US" sz="1200" b="0" i="0" u="none" strike="noStrike" dirty="0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600" b="1" i="0" u="none" strike="noStrike" dirty="0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80%</a:t>
            </a:r>
            <a:endParaRPr lang="en-US" sz="1600" b="1" i="0" u="none" strike="noStrike" dirty="0">
              <a:solidFill>
                <a:srgbClr val="60A5F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85800" y="5308600"/>
            <a:ext cx="10820400" cy="1041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E3A8A">
                  <a:alpha val="40000"/>
                </a:srgbClr>
              </a:gs>
              <a:gs pos="60000">
                <a:srgbClr val="1E293B">
                  <a:alpha val="35000"/>
                </a:srgbClr>
              </a:gs>
              <a:gs pos="100000">
                <a:srgbClr val="1E293B">
                  <a:alpha val="3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85800" y="5308600"/>
            <a:ext cx="50800" cy="10414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90600" y="5435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关键指标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454400" y="5486400"/>
            <a:ext cx="787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50800" tIns="76200" rIns="50800" bIns="7620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400" b="0" i="0" u="none" strike="noStrike" dirty="0" err="1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硬件联调误差</a:t>
            </a:r>
            <a:r>
              <a:rPr lang="en-US" sz="1800" b="1" i="0" u="none" strike="noStrike" dirty="0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&lt;10%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的目标正在验证中</a:t>
            </a:r>
            <a:endParaRPr lang="en-US" sz="1100" dirty="0"/>
          </a:p>
        </p:txBody>
      </p:sp>
      <p:sp>
        <p:nvSpPr>
          <p:cNvPr id="22" name="AutoShape 16"/>
          <p:cNvSpPr/>
          <p:nvPr/>
        </p:nvSpPr>
        <p:spPr>
          <a:xfrm>
            <a:off x="8229600" y="3860800"/>
            <a:ext cx="33909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50800" tIns="50800" rIns="50800" bIns="50800" rtlCol="0" anchor="ctr" anchorCtr="0"/>
          <a:lstStyle/>
          <a:p>
            <a:pPr>
              <a:lnSpc>
                <a:spcPct val="121000"/>
              </a:lnSpc>
              <a:defRPr/>
            </a:pPr>
            <a:endParaRPr lang="en-US" sz="1200" dirty="0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1041" r="-1041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47700" y="901700"/>
            <a:ext cx="10922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价值假设验证状态清单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47700" y="1460500"/>
            <a:ext cx="10922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采用精益创业方法对四个核心价值假设进行系统验证,明确已验证、验证中与待验证的关键结论。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47700" y="2286000"/>
            <a:ext cx="266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47700" y="2286000"/>
            <a:ext cx="50800" cy="406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38200" y="2387600"/>
            <a:ext cx="2349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3000" b="1" i="0" u="none" strike="noStrike">
                <a:solidFill>
                  <a:srgbClr val="10B981">
                    <a:alpha val="4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H-001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38200" y="3022600"/>
            <a:ext cx="1143000" cy="330200"/>
          </a:xfrm>
          <a:prstGeom prst="roundRect">
            <a:avLst>
              <a:gd name="adj" fmla="val 0"/>
            </a:avLst>
          </a:prstGeom>
          <a:solidFill>
            <a:srgbClr val="10B981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38200" y="3022600"/>
            <a:ext cx="114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已验证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8200" y="3454400"/>
            <a:ext cx="23495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电控学生存在"PID调参耗时且无从下手"的强烈痛点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8888">
            <a:off x="838217" y="4286250"/>
            <a:ext cx="231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838200" y="43688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000" b="0" i="0" u="none" strike="noStrike">
                <a:solidFill>
                  <a:srgbClr val="D1D5DB">
                    <a:alpha val="6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12/12 深度访谈用户均表达强烈需求,调参平均耗时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&gt;10</a:t>
            </a:r>
            <a:r>
              <a:rPr lang="en-US" sz="11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小时</a:t>
            </a:r>
            <a:endParaRPr lang="en-US" sz="11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38200" y="5130800"/>
            <a:ext cx="23495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风险应对 · 无需特别应对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517900" y="2286000"/>
            <a:ext cx="266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517900" y="2286000"/>
            <a:ext cx="50800" cy="406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708400" y="2387600"/>
            <a:ext cx="2349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3000" b="1" i="0" u="none" strike="noStrike">
                <a:solidFill>
                  <a:srgbClr val="10B981">
                    <a:alpha val="4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H-002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708400" y="3022600"/>
            <a:ext cx="1143000" cy="330200"/>
          </a:xfrm>
          <a:prstGeom prst="roundRect">
            <a:avLst>
              <a:gd name="adj" fmla="val 0"/>
            </a:avLst>
          </a:prstGeom>
          <a:solidFill>
            <a:srgbClr val="10B981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3708400" y="3022600"/>
            <a:ext cx="114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已验证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708400" y="3454400"/>
            <a:ext cx="23495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大模型能够准确根据波形数据给出有效调参参数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8888">
            <a:off x="3708417" y="4286250"/>
            <a:ext cx="231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3708400" y="43688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000" b="0" i="0" u="none" strike="noStrike">
                <a:solidFill>
                  <a:srgbClr val="D1D5DB">
                    <a:alpha val="6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完成2000次API调用测试,提示词优化后建议有效率达到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85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%</a:t>
            </a:r>
            <a:endParaRPr lang="en-US" sz="13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3708400" y="5130800"/>
            <a:ext cx="2349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风险应对 · 建立常见电机类型参数模板库备份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88100" y="2286000"/>
            <a:ext cx="266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59E0B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388100" y="2286000"/>
            <a:ext cx="50800" cy="4064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578600" y="2387600"/>
            <a:ext cx="2349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3000" b="1" i="0" u="none" strike="noStrike">
                <a:solidFill>
                  <a:srgbClr val="F59E0B">
                    <a:alpha val="4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H-003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578600" y="3022600"/>
            <a:ext cx="1143000" cy="330200"/>
          </a:xfrm>
          <a:prstGeom prst="roundRect">
            <a:avLst>
              <a:gd name="adj" fmla="val 0"/>
            </a:avLst>
          </a:prstGeom>
          <a:solidFill>
            <a:srgbClr val="F59E0B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578600" y="3022600"/>
            <a:ext cx="114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2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验证中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578600" y="3454400"/>
            <a:ext cx="23495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用户愿意为 AI 智能调参功能支付订阅费用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18888">
            <a:off x="6578617" y="4286250"/>
            <a:ext cx="231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6578600" y="43688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000" b="0" i="0" u="none" strike="noStrike">
                <a:solidFill>
                  <a:srgbClr val="D1D5DB">
                    <a:alpha val="6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12名测试用户中 8人表示在备赛冲刺期愿意付费,占比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6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66.7</a:t>
            </a:r>
            <a:r>
              <a:rPr lang="en-US" sz="13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%</a:t>
            </a:r>
            <a:endParaRPr lang="en-US" sz="1300" b="1" i="0" u="none" strike="noStrike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578600" y="5130800"/>
            <a:ext cx="2349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风险应对 · 计划8月5日前通过小范围预售进一步验证真实付费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258300" y="2286000"/>
            <a:ext cx="266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EF4444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9258300" y="2286000"/>
            <a:ext cx="50800" cy="40640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448800" y="2387600"/>
            <a:ext cx="2349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3000" b="1" i="0" u="none" strike="noStrike">
                <a:solidFill>
                  <a:srgbClr val="EF4444">
                    <a:alpha val="4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H-004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448800" y="3022600"/>
            <a:ext cx="1143000" cy="330200"/>
          </a:xfrm>
          <a:prstGeom prst="roundRect">
            <a:avLst>
              <a:gd name="adj" fmla="val 0"/>
            </a:avLst>
          </a:prstGeom>
          <a:solidFill>
            <a:srgbClr val="EF4444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9448800" y="3022600"/>
            <a:ext cx="114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2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未验证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448800" y="3454400"/>
            <a:ext cx="23495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纯仿真与真实 STM32 硬件联调误差可在 10% 以内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-18888">
            <a:off x="9448817" y="4286250"/>
            <a:ext cx="2311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9448800" y="4368800"/>
            <a:ext cx="2349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000" b="0" i="0" u="none" strike="noStrike">
                <a:solidFill>
                  <a:srgbClr val="D1D5DB">
                    <a:alpha val="6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仅完成软件PID仿真,真实硬件测试缺乏,目标误差控制在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6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</a:t>
            </a: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%</a:t>
            </a:r>
            <a:r>
              <a:rPr lang="en-US" sz="11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以内</a:t>
            </a:r>
            <a:endParaRPr lang="en-US" sz="11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9448800" y="5130800"/>
            <a:ext cx="2349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 dirty="0" err="1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风险应对</a:t>
            </a:r>
            <a:r>
              <a:rPr lang="en-US" sz="1000" b="0" i="0" u="none" strike="noStrike" dirty="0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en-US" sz="1000" b="0" i="0" u="none" strike="noStrike" dirty="0" err="1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借用实验室套件</a:t>
            </a:r>
            <a:r>
              <a:rPr lang="zh-CN" altLang="en-US" sz="1000" b="0" i="0" u="none" strike="noStrike" dirty="0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，以及邀请有相关经验的同学</a:t>
            </a:r>
            <a:r>
              <a:rPr lang="en-US" sz="1000" b="0" i="0" u="none" strike="noStrike" dirty="0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  8月3日前完成硬件联调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1041" r="-1041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85800" y="711200"/>
            <a:ext cx="10820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突破性进展案例:克服 PID 仿真震荡与上下文失真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85676">
            <a:off x="4318000" y="3295663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38BDF8">
                <a:alpha val="4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685800" y="17780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挑战 · CHALLENGE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85800" y="2057400"/>
            <a:ext cx="482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76200" rIns="76200" bIns="762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PID </a:t>
            </a:r>
            <a:r>
              <a:rPr lang="en-US" sz="20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仿真震荡与诊断失效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85800" y="2425700"/>
            <a:ext cx="49022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76200" rIns="76200" bIns="7620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400" b="0" i="0" u="none" strike="noStrike" dirty="0" err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原型</a:t>
            </a:r>
            <a:r>
              <a:rPr lang="en-US" sz="1400" b="0" i="0" u="none" strike="noStrike" dirty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V2.0 </a:t>
            </a:r>
            <a:r>
              <a:rPr lang="en-US" sz="1400" b="0" i="0" u="none" strike="noStrike" dirty="0" err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测试中,PID</a:t>
            </a:r>
            <a:r>
              <a:rPr lang="en-US" sz="1400" b="0" i="0" u="none" strike="noStrike" dirty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 dirty="0" err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仿真模块</a:t>
            </a:r>
            <a:r>
              <a:rPr lang="zh-CN" altLang="en-US" sz="1400" b="0" i="0" u="none" strike="noStrike" dirty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波形</a:t>
            </a:r>
            <a:r>
              <a:rPr lang="en-US" sz="1400" b="0" i="0" u="none" strike="noStrike" dirty="0" err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出现持续震荡,且</a:t>
            </a:r>
            <a:r>
              <a:rPr lang="en-US" sz="1400" b="0" i="0" u="none" strike="noStrike" dirty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AI 上下文过长导致回答偏移,诊断准确率仅有</a:t>
            </a:r>
            <a:r>
              <a:rPr lang="en-US" sz="1600" b="1" i="0" u="none" strike="noStrike" dirty="0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40%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685800" y="3708400"/>
            <a:ext cx="4902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76200" rIns="76200" bIns="7620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33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资源与突破 · RESOURCE &amp; BREAKTHROUGH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1844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1" i="0" u="none" strike="noStrike">
                <a:solidFill>
                  <a:srgbClr val="BAE6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0" y="2184400"/>
            <a:ext cx="382905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300" b="0" i="0" u="none" strike="noStrike" dirty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追加</a:t>
            </a:r>
            <a:r>
              <a:rPr lang="en-US" sz="14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32 </a:t>
            </a:r>
            <a:r>
              <a:rPr lang="en-US" sz="14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小时</a:t>
            </a:r>
            <a:r>
              <a:rPr lang="en-US" sz="1300" b="0" i="0" u="none" strike="noStrike" dirty="0" err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返工工时</a:t>
            </a:r>
            <a:r>
              <a:rPr lang="en-US" sz="1300" b="0" i="0" u="none" strike="noStrike" dirty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 消耗</a:t>
            </a:r>
            <a:r>
              <a:rPr lang="en-US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</a:t>
            </a:r>
            <a:r>
              <a:rPr lang="en-US" sz="14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元</a:t>
            </a:r>
            <a:r>
              <a:rPr lang="en-US" sz="1300" b="0" i="0" u="none" strike="noStrike" dirty="0" err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</a:t>
            </a:r>
            <a:r>
              <a:rPr lang="en-US" sz="1300" b="0" i="0" u="none" strike="noStrike" dirty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调试费,组织</a:t>
            </a:r>
            <a:r>
              <a:rPr lang="en-US" sz="14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 </a:t>
            </a:r>
            <a:r>
              <a:rPr lang="en-US" sz="14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次</a:t>
            </a:r>
            <a:r>
              <a:rPr lang="en-US" sz="1300" b="0" i="0" u="none" strike="noStrike" dirty="0" err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团队紧急研讨</a:t>
            </a:r>
            <a:r>
              <a:rPr lang="en-US" sz="1300" b="0" i="0" u="none" strike="noStrike" dirty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6223000" y="30480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1" i="0" u="none" strike="noStrike">
                <a:solidFill>
                  <a:srgbClr val="BAE6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0" y="3048000"/>
            <a:ext cx="393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300" b="0" i="0" u="none" strike="noStrike" dirty="0" err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查阅</a:t>
            </a:r>
            <a:r>
              <a:rPr lang="en-US" sz="1300" b="0" i="0" u="none" strike="noStrike" dirty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PID </a:t>
            </a:r>
            <a:r>
              <a:rPr lang="en-US" sz="1300" b="0" i="0" u="none" strike="noStrike" dirty="0" err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整定</a:t>
            </a:r>
            <a:r>
              <a:rPr lang="zh-CN" altLang="en-US" sz="1300" b="0" i="0" u="none" strike="noStrike" dirty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方式</a:t>
            </a:r>
            <a:r>
              <a:rPr lang="en-US" sz="1300" b="0" i="0" u="none" strike="noStrike" dirty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</a:t>
            </a:r>
            <a:r>
              <a:rPr lang="en-US" sz="1300" b="0" i="0" u="none" strike="noStrike" dirty="0" err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</a:t>
            </a:r>
            <a:r>
              <a:rPr lang="en-US" sz="13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参数安全边界算法</a:t>
            </a:r>
            <a:r>
              <a:rPr lang="en-US" sz="1300" b="0" i="0" u="none" strike="noStrike" dirty="0" err="1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3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自动回退机制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6223000" y="3860800"/>
            <a:ext cx="5334000" cy="965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/>
          </a:gradFill>
          <a:ln w="12700" cap="flat" cmpd="sng">
            <a:solidFill>
              <a:srgbClr val="38BDF8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375400" y="3937000"/>
            <a:ext cx="101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76200" bIns="254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00" b="1" i="0" u="none" strike="noStrike">
                <a:solidFill>
                  <a:srgbClr val="BAE6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467600" y="3937000"/>
            <a:ext cx="4013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76200" bIns="254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产出原型 V4.0 / V5.0,仿真震荡消除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467600" y="4318000"/>
            <a:ext cx="4013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25400" rIns="76200" bIns="254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00" b="0" i="0" u="none" strike="noStrik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</a:t>
            </a:r>
            <a:r>
              <a:rPr lang="en-US" sz="1200" b="0" i="0" u="none" strike="noStrike" dirty="0" err="1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参数诊断有效率</a:t>
            </a:r>
            <a:r>
              <a:rPr lang="zh-CN" altLang="en-US" sz="1200" b="0" i="0" u="none" strike="noStrike" dirty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以及波形可信度提升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685800" y="52070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优化前 · 诊断有效率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85800" y="5537200"/>
            <a:ext cx="279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36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</a:t>
            </a:r>
            <a:r>
              <a:rPr lang="en-US" sz="18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%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683000" y="5588000"/>
            <a:ext cx="114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76200" rIns="76200" bIns="762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2800" b="1" i="0" u="none" strike="noStrike" dirty="0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➔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5207000" y="52070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优化后 · 诊断有效率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207000" y="5537200"/>
            <a:ext cx="2921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36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85</a:t>
            </a:r>
            <a:r>
              <a:rPr lang="en-US" sz="1800" b="0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%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509000" y="52070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核心成果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509000" y="5537200"/>
            <a:ext cx="304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仿真震荡彻底消除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V4.0 / V5.0 稳定交付</a:t>
            </a:r>
            <a:endParaRPr 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429000"/>
            <a:ext cx="2369243" cy="1498599"/>
          </a:xfrm>
          <a:prstGeom prst="rect">
            <a:avLst/>
          </a:prstGeom>
        </p:spPr>
      </p:pic>
      <p:sp>
        <p:nvSpPr>
          <p:cNvPr id="28" name="AutoShape 20"/>
          <p:cNvSpPr/>
          <p:nvPr/>
        </p:nvSpPr>
        <p:spPr>
          <a:xfrm>
            <a:off x="2967584" y="4000500"/>
            <a:ext cx="594018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76200" rIns="76200" bIns="762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2800" b="1" i="0" u="none" strike="noStrike" dirty="0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➔</a:t>
            </a:r>
            <a:endParaRPr lang="en-US" sz="1100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735" y="3422651"/>
            <a:ext cx="2163965" cy="15049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1041" r="-1041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344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1041" r="-1041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20000"/>
                </a:srgbClr>
              </a:gs>
              <a:gs pos="35000">
                <a:srgbClr val="000000">
                  <a:alpha val="35000"/>
                </a:srgbClr>
              </a:gs>
              <a:gs pos="75000">
                <a:srgbClr val="000000">
                  <a:alpha val="50000"/>
                </a:srgbClr>
              </a:gs>
              <a:gs pos="100000">
                <a:srgbClr val="000000">
                  <a:alpha val="55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41400" y="1778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0" b="1" i="0" u="none" strike="noStrike">
                <a:solidFill>
                  <a:srgbClr val="FFFFFF">
                    <a:alpha val="3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3556000"/>
            <a:ext cx="10414000" cy="1231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400" b="1" i="0" u="none" strike="noStrike" spc="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团队效能与资源管理</a:t>
            </a:r>
            <a:endParaRPr lang="en-US" sz="1100"/>
          </a:p>
        </p:txBody>
      </p:sp>
      <p:sp>
        <p:nvSpPr>
          <p:cNvPr id="6" name="AutoShape 5"/>
          <p:cNvSpPr/>
          <p:nvPr/>
        </p:nvSpPr>
        <p:spPr>
          <a:xfrm>
            <a:off x="1244121" y="5137509"/>
            <a:ext cx="1524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C8FF">
                  <a:alpha val="90000"/>
                </a:srgbClr>
              </a:gs>
              <a:gs pos="100000">
                <a:srgbClr val="00C8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1041" r="-1041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800" y="711200"/>
            <a:ext cx="10795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团队效能与坚持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5390177">
            <a:off x="4241800" y="3994159"/>
            <a:ext cx="4445000" cy="12700"/>
          </a:xfrm>
          <a:prstGeom prst="straightConnector1">
            <a:avLst/>
          </a:prstGeom>
          <a:solidFill>
            <a:srgbClr val="DEE0E3">
              <a:alpha val="30000"/>
            </a:srgbClr>
          </a:solidFill>
          <a:ln w="12700" cap="sq" cmpd="sng">
            <a:solidFill>
              <a:srgbClr val="8F959E">
                <a:alpha val="3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685800" y="17780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量化坚持与应对挫折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85800" y="2413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50800" rIns="1270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典型困难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85800" y="2794000"/>
            <a:ext cx="482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5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PID 仿真震荡与 API 响应延迟。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85800" y="3530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50800" rIns="1270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48小时改进行动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85800" y="3962400"/>
            <a:ext cx="1117600" cy="584200"/>
          </a:xfrm>
          <a:prstGeom prst="roundRect">
            <a:avLst>
              <a:gd name="adj" fmla="val 0"/>
            </a:avLst>
          </a:prstGeom>
          <a:solidFill>
            <a:srgbClr val="60A5FA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85800" y="3962400"/>
            <a:ext cx="38100" cy="5842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85800" y="3962400"/>
            <a:ext cx="1117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问题识别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854200" y="3962400"/>
            <a:ext cx="2794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184400" y="3962400"/>
            <a:ext cx="1295400" cy="584200"/>
          </a:xfrm>
          <a:prstGeom prst="roundRect">
            <a:avLst>
              <a:gd name="adj" fmla="val 0"/>
            </a:avLst>
          </a:prstGeom>
          <a:solidFill>
            <a:srgbClr val="60A5FA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2184400" y="3962400"/>
            <a:ext cx="38100" cy="5842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2184400" y="3962400"/>
            <a:ext cx="12954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参数边界</a:t>
            </a:r>
            <a:br>
              <a:rPr lang="en-US" sz="11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约束算法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530600" y="3962400"/>
            <a:ext cx="2794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860800" y="3962400"/>
            <a:ext cx="1117600" cy="584200"/>
          </a:xfrm>
          <a:prstGeom prst="roundRect">
            <a:avLst>
              <a:gd name="adj" fmla="val 0"/>
            </a:avLst>
          </a:prstGeom>
          <a:solidFill>
            <a:srgbClr val="60A5FA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860800" y="3962400"/>
            <a:ext cx="38100" cy="5842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3860800" y="3962400"/>
            <a:ext cx="1117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自动回退</a:t>
            </a:r>
            <a:br>
              <a:rPr lang="en-US" sz="11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029200" y="3962400"/>
            <a:ext cx="2794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334000" y="3962400"/>
            <a:ext cx="1016000" cy="584200"/>
          </a:xfrm>
          <a:prstGeom prst="roundRect">
            <a:avLst>
              <a:gd name="adj" fmla="val 0"/>
            </a:avLst>
          </a:prstGeom>
          <a:solidFill>
            <a:srgbClr val="60A5FA">
              <a:alpha val="3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334000" y="3962400"/>
            <a:ext cx="38100" cy="5842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5334000" y="3962400"/>
            <a:ext cx="101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恢复稳定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85800" y="4826000"/>
            <a:ext cx="2349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85800" y="4902200"/>
            <a:ext cx="2349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85800" y="5435600"/>
            <a:ext cx="2349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版原型迭代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85800" y="5715000"/>
            <a:ext cx="2349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7月</a:t>
            </a:r>
            <a:r>
              <a:rPr lang="zh-CN" altLang="en-US" sz="1000" b="0" i="0" u="none" strike="noStrike" dirty="0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</a:t>
            </a:r>
            <a:r>
              <a:rPr lang="en-US" sz="1000" b="0" i="0" u="none" strike="noStrike" dirty="0" err="1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至今累计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3238500" y="4826000"/>
            <a:ext cx="2349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3238500" y="4902200"/>
            <a:ext cx="2349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32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238500" y="5435600"/>
            <a:ext cx="2349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小时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3238500" y="5715000"/>
            <a:ext cx="23495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累计加班/返工工时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477000" y="1778000"/>
            <a:ext cx="495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工具辅助与动力管理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77000" y="24130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50800" rIns="1270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每日立会与看板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477000" y="2794000"/>
            <a:ext cx="4953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采用每周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1 次 </a:t>
            </a:r>
            <a:r>
              <a:rPr lang="en-US" dirty="0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 dirty="0" err="1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分钟</a:t>
            </a:r>
            <a:r>
              <a:rPr lang="zh-CN" altLang="en-US" sz="1400" b="0" i="0" u="none" strike="noStrike" dirty="0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会议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+ </a:t>
            </a:r>
            <a:r>
              <a:rPr lang="en-US" sz="1400" b="0" i="0" u="none" strike="noStrike" dirty="0" err="1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任务认领看板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34" name="AutoShape 34"/>
          <p:cNvSpPr/>
          <p:nvPr/>
        </p:nvSpPr>
        <p:spPr>
          <a:xfrm>
            <a:off x="6477000" y="36830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50800" rIns="1270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效能提升结果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477000" y="4140200"/>
            <a:ext cx="1778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477000" y="4216400"/>
            <a:ext cx="177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0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70%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477000" y="48514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项目初期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382000" y="4419600"/>
            <a:ext cx="76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000" b="0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9271000" y="4140200"/>
            <a:ext cx="2159000" cy="1397000"/>
          </a:xfrm>
          <a:prstGeom prst="roundRect">
            <a:avLst>
              <a:gd name="adj" fmla="val 0"/>
            </a:avLst>
          </a:prstGeom>
          <a:solidFill>
            <a:srgbClr val="34D399">
              <a:alpha val="1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9271000" y="4191000"/>
            <a:ext cx="2159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90%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9271000" y="4953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当前交付率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6477000" y="5715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团队任务按期交付率显著提升,成效可量化。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1041" r="-1041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85800" y="711200"/>
            <a:ext cx="10820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团队分析与资源规划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80687">
            <a:off x="4965700" y="2774968"/>
            <a:ext cx="2260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8F959E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685800" y="1651000"/>
            <a:ext cx="5207000" cy="1117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3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85800" y="1651000"/>
            <a:ext cx="50800" cy="11176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14400" y="16764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2600" b="1" i="0" u="none" strike="noStrike">
                <a:solidFill>
                  <a:srgbClr val="34D399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78000" y="1676400"/>
            <a:ext cx="4013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 · 内部积极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78000" y="1981200"/>
            <a:ext cx="40132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200" b="0" i="0" u="none" strike="noStrike" dirty="0" err="1">
                <a:solidFill>
                  <a:srgbClr val="E6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三人技术互补</a:t>
            </a:r>
            <a:r>
              <a:rPr lang="en-US" sz="1200" b="0" i="0" u="none" strike="noStrike" dirty="0">
                <a:solidFill>
                  <a:srgbClr val="E6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200" b="0" i="0" u="none" strike="noStrike" dirty="0">
                <a:solidFill>
                  <a:srgbClr val="E6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sz="1200" b="0" i="0" u="none" strike="noStrike" dirty="0" err="1">
                <a:solidFill>
                  <a:srgbClr val="E6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</a:t>
            </a:r>
            <a:r>
              <a:rPr lang="en-US" sz="1200" b="0" i="0" u="none" strike="noStrike" dirty="0">
                <a:solidFill>
                  <a:srgbClr val="E6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200" b="0" i="0" u="none" strike="noStrike" dirty="0" err="1">
                <a:solidFill>
                  <a:srgbClr val="E6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</a:t>
            </a:r>
            <a:r>
              <a:rPr lang="en-US" sz="1200" b="0" i="0" u="none" strike="noStrike" dirty="0">
                <a:solidFill>
                  <a:srgbClr val="E6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200" b="0" i="0" u="none" strike="noStrike" dirty="0" err="1">
                <a:solidFill>
                  <a:srgbClr val="E6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文档全覆盖</a:t>
            </a:r>
            <a:r>
              <a:rPr lang="en-US" sz="1200" b="0" i="0" u="none" strike="noStrike" dirty="0">
                <a:solidFill>
                  <a:srgbClr val="E6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200" b="0" i="0" u="none" strike="noStrike" dirty="0">
                <a:solidFill>
                  <a:srgbClr val="E6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85800" y="2870200"/>
            <a:ext cx="5207000" cy="1117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3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85800" y="2870200"/>
            <a:ext cx="50800" cy="1117600"/>
          </a:xfrm>
          <a:prstGeom prst="roundRect">
            <a:avLst>
              <a:gd name="adj" fmla="val 0"/>
            </a:avLst>
          </a:prstGeom>
          <a:solidFill>
            <a:srgbClr val="F871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14400" y="28956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2600" b="1" i="0" u="none" strike="noStrike">
                <a:solidFill>
                  <a:srgbClr val="F8717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778000" y="2895600"/>
            <a:ext cx="4013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劣势 · 内部消极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78000" y="3200400"/>
            <a:ext cx="40132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200" b="0" i="0" u="none" strike="noStrike" dirty="0" err="1">
                <a:solidFill>
                  <a:srgbClr val="E6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缺乏商业化运营经验;课余开发工时受限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6350000" y="1651000"/>
            <a:ext cx="5207000" cy="1117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3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0000" y="1651000"/>
            <a:ext cx="50800" cy="11176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578600" y="16764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2600" b="1" i="0" u="none" strike="noStrike">
                <a:solidFill>
                  <a:srgbClr val="60A5FA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442200" y="1676400"/>
            <a:ext cx="4013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机会 · 外部积极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442200" y="1981200"/>
            <a:ext cx="40132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200" b="0" i="0" u="none" strike="noStrike" dirty="0" err="1">
                <a:solidFill>
                  <a:srgbClr val="E6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校内电赛</a:t>
            </a:r>
            <a:r>
              <a:rPr lang="en-US" sz="1200" b="0" i="0" u="none" strike="noStrike" dirty="0">
                <a:solidFill>
                  <a:srgbClr val="E6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200" b="0" i="0" u="none" strike="noStrike" dirty="0" err="1">
                <a:solidFill>
                  <a:srgbClr val="E6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智能车目标群体集中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6350000" y="2870200"/>
            <a:ext cx="5207000" cy="1117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3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0" y="2870200"/>
            <a:ext cx="50800" cy="1117600"/>
          </a:xfrm>
          <a:prstGeom prst="roundRect">
            <a:avLst>
              <a:gd name="adj" fmla="val 0"/>
            </a:avLst>
          </a:prstGeom>
          <a:solidFill>
            <a:srgbClr val="FB92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578600" y="28956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2600" b="1" i="0" u="none" strike="noStrike">
                <a:solidFill>
                  <a:srgbClr val="FB923C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442200" y="2895600"/>
            <a:ext cx="4013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威胁 · 外部消极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442200" y="3200400"/>
            <a:ext cx="40132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200" b="0" i="0" u="none" strike="noStrike" dirty="0">
                <a:solidFill>
                  <a:srgbClr val="E6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VOFA+ </a:t>
            </a:r>
            <a:r>
              <a:rPr lang="en-US" sz="1200" b="0" i="0" u="none" strike="noStrike" dirty="0" err="1">
                <a:solidFill>
                  <a:srgbClr val="E6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等老牌工具用户粘性高;同类</a:t>
            </a:r>
            <a:r>
              <a:rPr lang="en-US" sz="1200" b="0" i="0" u="none" strike="noStrike" dirty="0">
                <a:solidFill>
                  <a:srgbClr val="E6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AI </a:t>
            </a:r>
            <a:r>
              <a:rPr lang="en-US" sz="1200" b="0" i="0" u="none" strike="noStrike" dirty="0" err="1">
                <a:solidFill>
                  <a:srgbClr val="E6E8F0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概念竞争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685800" y="4267200"/>
            <a:ext cx="10820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76200" rIns="76200" bIns="762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资源缺口热力图</a:t>
            </a:r>
            <a:r>
              <a:rPr lang="en-US" sz="1300" b="0" i="0" u="none" strike="noStrike">
                <a:solidFill>
                  <a:srgbClr val="B4BAC8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按优先级排序与应对方案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85800" y="4775200"/>
            <a:ext cx="3632200" cy="1676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EF4444">
                  <a:alpha val="18000"/>
                </a:srgbClr>
              </a:gs>
              <a:gs pos="100000">
                <a:srgbClr val="EF4444">
                  <a:alpha val="4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85800" y="4775200"/>
            <a:ext cx="76200" cy="16764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39800" y="4826000"/>
            <a:ext cx="3200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高优先级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39800" y="5130800"/>
            <a:ext cx="3251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rgbClr val="F0F0F5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真实硬件测试环境不足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39800" y="5588000"/>
            <a:ext cx="325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0" bIns="127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100" b="0" i="0" u="none" strike="noStrike" dirty="0">
                <a:solidFill>
                  <a:srgbClr val="D2D6E2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寻找在校负责电控的同学进行真实硬件测试</a:t>
            </a:r>
            <a:endParaRPr lang="en-US" sz="1100" dirty="0"/>
          </a:p>
        </p:txBody>
      </p:sp>
      <p:sp>
        <p:nvSpPr>
          <p:cNvPr id="31" name="AutoShape 31"/>
          <p:cNvSpPr/>
          <p:nvPr/>
        </p:nvSpPr>
        <p:spPr>
          <a:xfrm>
            <a:off x="939800" y="5994400"/>
            <a:ext cx="3251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0" bIns="127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100" b="1" i="0" u="none" strike="noStrike" dirty="0" err="1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截止</a:t>
            </a:r>
            <a:r>
              <a:rPr lang="en-US" sz="1100" b="1" i="0" u="none" strike="noStrike" dirty="0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8月1日</a:t>
            </a:r>
            <a:endParaRPr lang="en-US" sz="1100" dirty="0"/>
          </a:p>
        </p:txBody>
      </p:sp>
      <p:sp>
        <p:nvSpPr>
          <p:cNvPr id="32" name="AutoShape 32"/>
          <p:cNvSpPr/>
          <p:nvPr/>
        </p:nvSpPr>
        <p:spPr>
          <a:xfrm>
            <a:off x="4521200" y="4775200"/>
            <a:ext cx="3632200" cy="1676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59E0B">
                  <a:alpha val="18000"/>
                </a:srgbClr>
              </a:gs>
              <a:gs pos="100000">
                <a:srgbClr val="F59E0B">
                  <a:alpha val="4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4521200" y="4775200"/>
            <a:ext cx="76200" cy="16764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4775200" y="4826000"/>
            <a:ext cx="3200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中优先级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4775200" y="5130800"/>
            <a:ext cx="3251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rgbClr val="F0F0F5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用户测试样本量偏少(现有12份)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775200" y="5588000"/>
            <a:ext cx="325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0" bIns="127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D2D6E2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通过电赛群与智能车社团扩招至 25 人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4775200" y="5994400"/>
            <a:ext cx="3251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0" bIns="127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1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截止 · 8月3日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356600" y="4775200"/>
            <a:ext cx="3632200" cy="1676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0B981">
                  <a:alpha val="18000"/>
                </a:srgbClr>
              </a:gs>
              <a:gs pos="100000">
                <a:srgbClr val="10B981">
                  <a:alpha val="4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8356600" y="4775200"/>
            <a:ext cx="76200" cy="16764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8610600" y="4826000"/>
            <a:ext cx="3200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低优先级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8610600" y="5130800"/>
            <a:ext cx="3251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25400" rIns="0" bIns="2540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rgbClr val="F0F0F5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商业化与竞品分析经验不足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8610600" y="5588000"/>
            <a:ext cx="325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0" bIns="127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D2D6E2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向有创业经验的学长请教并补充行业分析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8610600" y="5994400"/>
            <a:ext cx="3251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12700" rIns="0" bIns="1270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1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截止 · 8月5日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1041" r="-1041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47700" y="901700"/>
            <a:ext cx="108966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8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MVC</a:t>
            </a:r>
            <a:r>
              <a:rPr lang="zh-CN" altLang="en-US" sz="28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原则与</a:t>
            </a:r>
            <a:r>
              <a:rPr lang="en-US" sz="28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成本收益分析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647700" y="1460500"/>
            <a:ext cx="10896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严格恪守MVC(最小可行性成本)原则,以极小投入验证产品价值,实现极高的资源转化效率。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47700" y="2159000"/>
            <a:ext cx="53340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47700" y="2159000"/>
            <a:ext cx="50800" cy="11176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22352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显性成本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238500" y="2235200"/>
            <a:ext cx="2159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2600" b="1" i="0" u="none" strike="noStrike" dirty="0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¥350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889000" y="2667000"/>
            <a:ext cx="4635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 dirty="0" err="1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大模型API充值</a:t>
            </a:r>
            <a:r>
              <a:rPr lang="en-US" sz="1200" b="0" i="0" u="none" strike="noStrike" dirty="0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¥120 · </a:t>
            </a:r>
            <a:r>
              <a:rPr lang="en-US" sz="1200" b="0" i="0" u="none" strike="noStrike" dirty="0" err="1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云服务器</a:t>
            </a:r>
            <a:r>
              <a:rPr lang="en-US" sz="1200" b="0" i="0" u="none" strike="noStrike" dirty="0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¥80</a:t>
            </a:r>
            <a:endParaRPr lang="en-US" sz="1100" dirty="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 dirty="0" err="1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</a:t>
            </a:r>
            <a:r>
              <a:rPr lang="zh-CN" altLang="en-US" sz="1200" b="0" i="0" u="none" strike="noStrike" dirty="0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奖品 </a:t>
            </a:r>
            <a:r>
              <a:rPr lang="en-US" sz="1200" b="0" i="0" u="none" strike="noStrike" dirty="0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¥150</a:t>
            </a:r>
            <a:endParaRPr lang="en-US" sz="1200" b="0" i="0" u="none" strike="noStrike" dirty="0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47700" y="3454400"/>
            <a:ext cx="5334000" cy="11176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700" y="3454400"/>
            <a:ext cx="50800" cy="11176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89000" y="35306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隐性成本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238500" y="3530600"/>
            <a:ext cx="2159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152</a:t>
            </a:r>
            <a:endParaRPr lang="en-US" sz="1100"/>
          </a:p>
          <a:p>
            <a:pPr marL="0" indent="0" algn="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E5E7E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小时</a:t>
            </a:r>
            <a:endParaRPr lang="en-US" sz="1400" b="1" i="0" u="none" strike="noStrike">
              <a:solidFill>
                <a:srgbClr val="E5E7EB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89000" y="3962400"/>
            <a:ext cx="4635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整体开发工时 120h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迭代返工工时 32h</a:t>
            </a:r>
            <a:endParaRPr lang="en-US" sz="12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47700" y="4724400"/>
            <a:ext cx="5334000" cy="762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0A5FA">
                  <a:alpha val="28000"/>
                </a:srgbClr>
              </a:gs>
              <a:gs pos="100000">
                <a:srgbClr val="60A5FA">
                  <a:alpha val="8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" y="4724400"/>
            <a:ext cx="50800" cy="7620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89000" y="4775200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总投入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794000" y="4775200"/>
            <a:ext cx="2984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¥350 + 152 工时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2159000"/>
            <a:ext cx="5143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2159000"/>
            <a:ext cx="50800" cy="11430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705600" y="22352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核心成果产出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705600" y="2590800"/>
            <a:ext cx="2349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2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</a:t>
            </a:r>
            <a:r>
              <a:rPr lang="en-US" sz="1200" b="0" i="0" u="none" strike="noStrike">
                <a:solidFill>
                  <a:srgbClr val="E5E7E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份深度用户反馈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144000" y="25908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2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r>
              <a:rPr lang="en-US" sz="1200" b="0" i="0" u="none" strike="noStrike">
                <a:solidFill>
                  <a:srgbClr val="E5E7E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版可运行原型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667500" y="3530600"/>
            <a:ext cx="5143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MVP </a:t>
            </a:r>
            <a:r>
              <a:rPr lang="en-US" sz="1200" b="0" i="0" u="none" strike="noStrike" dirty="0" err="1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测试付费意向率</a:t>
            </a:r>
            <a:endParaRPr lang="en-US" sz="1050" dirty="0"/>
          </a:p>
        </p:txBody>
      </p:sp>
      <p:sp>
        <p:nvSpPr>
          <p:cNvPr id="25" name="AutoShape 25"/>
          <p:cNvSpPr/>
          <p:nvPr/>
        </p:nvSpPr>
        <p:spPr>
          <a:xfrm>
            <a:off x="6667500" y="3875272"/>
            <a:ext cx="2921000" cy="86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600" b="1" dirty="0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66.7</a:t>
            </a:r>
            <a:r>
              <a:rPr lang="en-US" sz="2600" b="1" dirty="0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en-US" sz="2200" b="1" i="0" u="none" strike="noStrike" dirty="0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%</a:t>
            </a:r>
            <a:endParaRPr lang="en-US" sz="2200" b="1" i="0" u="none" strike="noStrike" dirty="0">
              <a:solidFill>
                <a:srgbClr val="60A5F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9499600" y="3937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 位测试用户中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 人</a:t>
            </a: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表达付费意愿</a:t>
            </a:r>
            <a:endParaRPr lang="en-US" sz="1200" b="0" i="0" u="none" strike="noStrike">
              <a:solidFill>
                <a:srgbClr val="E5E7E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47700" y="5689600"/>
            <a:ext cx="10972800" cy="914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B82F6">
                  <a:alpha val="22000"/>
                </a:srgbClr>
              </a:gs>
              <a:gs pos="100000">
                <a:srgbClr val="60A5FA">
                  <a:alpha val="8000"/>
                </a:srgbClr>
              </a:gs>
            </a:gsLst>
            <a:lin ang="0"/>
          </a:gradFill>
          <a:ln w="12700" cap="flat" cmpd="sng">
            <a:solidFill>
              <a:srgbClr val="60A5FA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89000" y="57912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 ¥100 投入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89000" y="6070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3.4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E5E7E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份反馈</a:t>
            </a:r>
            <a:endParaRPr lang="en-US" sz="1300" b="1" i="0" u="none" strike="noStrike">
              <a:solidFill>
                <a:srgbClr val="E5E7EB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0" name="Connector 30"/>
          <p:cNvCxnSpPr/>
          <p:nvPr/>
        </p:nvCxnSpPr>
        <p:spPr>
          <a:xfrm rot="5325278">
            <a:off x="3898900" y="6127819"/>
            <a:ext cx="58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4508500" y="5791200"/>
            <a:ext cx="292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每份深度反馈成本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508500" y="60706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¥29.2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5325278">
            <a:off x="7581900" y="6127819"/>
            <a:ext cx="58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8191500" y="57912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资源转化效率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191500" y="60706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极高</a:t>
            </a:r>
            <a:endParaRPr lang="en-US" sz="1100"/>
          </a:p>
        </p:txBody>
      </p:sp>
      <p:sp>
        <p:nvSpPr>
          <p:cNvPr id="37" name="AutoShape 20"/>
          <p:cNvSpPr/>
          <p:nvPr/>
        </p:nvSpPr>
        <p:spPr>
          <a:xfrm>
            <a:off x="6477000" y="3200400"/>
            <a:ext cx="50800" cy="1407928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1041" r="-1041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47700" y="901700"/>
            <a:ext cx="10795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RACI-V 团队分工矩阵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47700" y="1460500"/>
            <a:ext cx="1079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明确团队成员在核心任务中的角色与职责 · R-执行 A-审批 C-咨询 I-知悉 V-验证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49300" y="2159000"/>
            <a:ext cx="10693400" cy="584200"/>
          </a:xfrm>
          <a:prstGeom prst="roundRect">
            <a:avLst>
              <a:gd name="adj" fmla="val 0"/>
            </a:avLst>
          </a:prstGeom>
          <a:solidFill>
            <a:srgbClr val="FFFFFF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6" name="Connector 6"/>
          <p:cNvCxnSpPr/>
          <p:nvPr/>
        </p:nvCxnSpPr>
        <p:spPr>
          <a:xfrm rot="-4082">
            <a:off x="749304" y="2736850"/>
            <a:ext cx="1069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76300" y="2159000"/>
            <a:ext cx="254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 / 决策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92500" y="2159000"/>
            <a:ext cx="203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刘双瑞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651500" y="2159000"/>
            <a:ext cx="203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胡雨杨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810500" y="2159000"/>
            <a:ext cx="1905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吴程龙秀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842500" y="2159000"/>
            <a:ext cx="152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职责说明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082">
            <a:off x="749304" y="3346450"/>
            <a:ext cx="1069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76300" y="2819400"/>
            <a:ext cx="2540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PID 调参算法引擎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492500" y="2895600"/>
            <a:ext cx="1295400" cy="355600"/>
          </a:xfrm>
          <a:prstGeom prst="roundRect">
            <a:avLst>
              <a:gd name="adj" fmla="val 50000"/>
            </a:avLst>
          </a:prstGeom>
          <a:solidFill>
            <a:srgbClr val="60A5FA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492500" y="2895600"/>
            <a:ext cx="1295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</a:t>
            </a: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651500" y="2895600"/>
            <a:ext cx="1295400" cy="355600"/>
          </a:xfrm>
          <a:prstGeom prst="roundRect">
            <a:avLst>
              <a:gd name="adj" fmla="val 50000"/>
            </a:avLst>
          </a:prstGeom>
          <a:solidFill>
            <a:srgbClr val="FBBF2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651500" y="2895600"/>
            <a:ext cx="1295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</a:t>
            </a: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咨询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810500" y="2895600"/>
            <a:ext cx="1295400" cy="355600"/>
          </a:xfrm>
          <a:prstGeom prst="roundRect">
            <a:avLst>
              <a:gd name="adj" fmla="val 50000"/>
            </a:avLst>
          </a:prstGeom>
          <a:solidFill>
            <a:srgbClr val="94A3B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810500" y="2895600"/>
            <a:ext cx="1295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</a:t>
            </a: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842500" y="2819400"/>
            <a:ext cx="15494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2157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刘双瑞主导底层算法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4082">
            <a:off x="749304" y="4032250"/>
            <a:ext cx="1069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76300" y="3429000"/>
            <a:ext cx="254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前端波形与 AI 界面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492500" y="3568700"/>
            <a:ext cx="1295400" cy="355600"/>
          </a:xfrm>
          <a:prstGeom prst="roundRect">
            <a:avLst>
              <a:gd name="adj" fmla="val 50000"/>
            </a:avLst>
          </a:prstGeom>
          <a:solidFill>
            <a:srgbClr val="FBBF2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3492500" y="3568700"/>
            <a:ext cx="1295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</a:t>
            </a: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咨询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651500" y="3568700"/>
            <a:ext cx="1295400" cy="355600"/>
          </a:xfrm>
          <a:prstGeom prst="roundRect">
            <a:avLst>
              <a:gd name="adj" fmla="val 50000"/>
            </a:avLst>
          </a:prstGeom>
          <a:solidFill>
            <a:srgbClr val="FBBF2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5651500" y="3568700"/>
            <a:ext cx="1295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</a:t>
            </a: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咨询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810500" y="3568700"/>
            <a:ext cx="1295400" cy="355600"/>
          </a:xfrm>
          <a:prstGeom prst="roundRect">
            <a:avLst>
              <a:gd name="adj" fmla="val 50000"/>
            </a:avLst>
          </a:prstGeom>
          <a:solidFill>
            <a:srgbClr val="60A5FA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810500" y="3568700"/>
            <a:ext cx="1295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</a:t>
            </a: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842500" y="3429000"/>
            <a:ext cx="15494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2157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吴程龙秀搭建可视化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4082">
            <a:off x="749304" y="4718050"/>
            <a:ext cx="1069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876300" y="4114800"/>
            <a:ext cx="254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用户调研与文档输出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3492500" y="4254500"/>
            <a:ext cx="1295400" cy="355600"/>
          </a:xfrm>
          <a:prstGeom prst="roundRect">
            <a:avLst>
              <a:gd name="adj" fmla="val 50000"/>
            </a:avLst>
          </a:prstGeom>
          <a:solidFill>
            <a:srgbClr val="FBBF24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3492500" y="4254500"/>
            <a:ext cx="1295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</a:t>
            </a: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咨询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5651500" y="4254500"/>
            <a:ext cx="1295400" cy="355600"/>
          </a:xfrm>
          <a:prstGeom prst="roundRect">
            <a:avLst>
              <a:gd name="adj" fmla="val 50000"/>
            </a:avLst>
          </a:prstGeom>
          <a:solidFill>
            <a:srgbClr val="60A5FA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5651500" y="4254500"/>
            <a:ext cx="1295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</a:t>
            </a: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810500" y="4254500"/>
            <a:ext cx="1295400" cy="355600"/>
          </a:xfrm>
          <a:prstGeom prst="roundRect">
            <a:avLst>
              <a:gd name="adj" fmla="val 50000"/>
            </a:avLst>
          </a:prstGeom>
          <a:solidFill>
            <a:srgbClr val="94A3B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7810500" y="4254500"/>
            <a:ext cx="1295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</a:t>
            </a: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知悉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842500" y="4114800"/>
            <a:ext cx="15494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2157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胡雨杨负责调研与文档</a:t>
            </a:r>
            <a:endParaRPr lang="en-US" sz="1100"/>
          </a:p>
        </p:txBody>
      </p:sp>
      <p:cxnSp>
        <p:nvCxnSpPr>
          <p:cNvPr id="39" name="Connector 39"/>
          <p:cNvCxnSpPr/>
          <p:nvPr/>
        </p:nvCxnSpPr>
        <p:spPr>
          <a:xfrm rot="-4082">
            <a:off x="749304" y="5403850"/>
            <a:ext cx="1069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AutoShape 40"/>
          <p:cNvSpPr/>
          <p:nvPr/>
        </p:nvSpPr>
        <p:spPr>
          <a:xfrm>
            <a:off x="876300" y="4800600"/>
            <a:ext cx="254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 PPT 整体审核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3492500" y="4940300"/>
            <a:ext cx="1295400" cy="355600"/>
          </a:xfrm>
          <a:prstGeom prst="roundRect">
            <a:avLst>
              <a:gd name="adj" fmla="val 50000"/>
            </a:avLst>
          </a:prstGeom>
          <a:solidFill>
            <a:srgbClr val="F87171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3492500" y="4940300"/>
            <a:ext cx="1295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</a:t>
            </a: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审批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5651500" y="4940300"/>
            <a:ext cx="1295400" cy="355600"/>
          </a:xfrm>
          <a:prstGeom prst="roundRect">
            <a:avLst>
              <a:gd name="adj" fmla="val 50000"/>
            </a:avLst>
          </a:prstGeom>
          <a:solidFill>
            <a:srgbClr val="60A5FA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5651500" y="4940300"/>
            <a:ext cx="1295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</a:t>
            </a: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7810500" y="4940300"/>
            <a:ext cx="1295400" cy="355600"/>
          </a:xfrm>
          <a:prstGeom prst="roundRect">
            <a:avLst>
              <a:gd name="adj" fmla="val 50000"/>
            </a:avLst>
          </a:prstGeom>
          <a:solidFill>
            <a:srgbClr val="60A5FA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46"/>
          <p:cNvSpPr/>
          <p:nvPr/>
        </p:nvSpPr>
        <p:spPr>
          <a:xfrm>
            <a:off x="7810500" y="4940300"/>
            <a:ext cx="1295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</a:t>
            </a: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9842500" y="4800600"/>
            <a:ext cx="15494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0" i="0" u="none" strike="noStrike" dirty="0" err="1">
                <a:solidFill>
                  <a:srgbClr val="FFFFFF">
                    <a:alpha val="72157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刘双瑞把关</a:t>
            </a:r>
            <a:r>
              <a:rPr lang="en-US" sz="1200" b="0" i="0" u="none" strike="noStrike" dirty="0">
                <a:solidFill>
                  <a:srgbClr val="FFFFFF">
                    <a:alpha val="72157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lang="en-US" sz="1200" b="0" i="0" u="none" strike="noStrike" dirty="0" err="1">
                <a:solidFill>
                  <a:srgbClr val="FFFFFF">
                    <a:alpha val="72157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二人制作</a:t>
            </a:r>
            <a:endParaRPr lang="en-US" sz="1100" dirty="0"/>
          </a:p>
        </p:txBody>
      </p:sp>
      <p:cxnSp>
        <p:nvCxnSpPr>
          <p:cNvPr id="48" name="Connector 48"/>
          <p:cNvCxnSpPr/>
          <p:nvPr/>
        </p:nvCxnSpPr>
        <p:spPr>
          <a:xfrm rot="-4082">
            <a:off x="749304" y="5734050"/>
            <a:ext cx="10693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AutoShape 49"/>
          <p:cNvSpPr/>
          <p:nvPr/>
        </p:nvSpPr>
        <p:spPr>
          <a:xfrm>
            <a:off x="749300" y="5918200"/>
            <a:ext cx="52070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AutoShape 50"/>
          <p:cNvSpPr/>
          <p:nvPr/>
        </p:nvSpPr>
        <p:spPr>
          <a:xfrm>
            <a:off x="749300" y="5918200"/>
            <a:ext cx="50800" cy="736600"/>
          </a:xfrm>
          <a:prstGeom prst="roundRect">
            <a:avLst>
              <a:gd name="adj" fmla="val 0"/>
            </a:avLst>
          </a:prstGeom>
          <a:solidFill>
            <a:srgbClr val="60A5FA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AutoShape 51"/>
          <p:cNvSpPr/>
          <p:nvPr/>
        </p:nvSpPr>
        <p:spPr>
          <a:xfrm>
            <a:off x="952500" y="5969000"/>
            <a:ext cx="114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2159000" y="59690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名外部同学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2159000" y="6261100"/>
            <a:ext cx="304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参与项目测试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6235700" y="5918200"/>
            <a:ext cx="52070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5" name="AutoShape 55"/>
          <p:cNvSpPr/>
          <p:nvPr/>
        </p:nvSpPr>
        <p:spPr>
          <a:xfrm>
            <a:off x="6235700" y="5918200"/>
            <a:ext cx="50800" cy="736600"/>
          </a:xfrm>
          <a:prstGeom prst="roundRect">
            <a:avLst>
              <a:gd name="adj" fmla="val 0"/>
            </a:avLst>
          </a:prstGeom>
          <a:solidFill>
            <a:srgbClr val="60A5FA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6" name="AutoShape 56"/>
          <p:cNvSpPr/>
          <p:nvPr/>
        </p:nvSpPr>
        <p:spPr>
          <a:xfrm>
            <a:off x="6438900" y="5969000"/>
            <a:ext cx="114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8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7645400" y="5969000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次深度指导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7645400" y="6261100"/>
            <a:ext cx="304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来自学长的专业反馈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1041" r="-1041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15000">
                <a:srgbClr val="000000">
                  <a:alpha val="20000"/>
                </a:srgbClr>
              </a:gs>
              <a:gs pos="40000">
                <a:srgbClr val="000000">
                  <a:alpha val="35000"/>
                </a:srgbClr>
              </a:gs>
              <a:gs pos="75000">
                <a:srgbClr val="000000">
                  <a:alpha val="5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41400" y="1778000"/>
            <a:ext cx="304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0" b="1" i="0" u="none" strike="noStrike">
                <a:solidFill>
                  <a:srgbClr val="FFFFFF">
                    <a:alpha val="3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3556000"/>
            <a:ext cx="10414000" cy="1231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400" b="1" i="0" u="none" strike="noStrike" spc="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后期规划与风险应对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17600" y="5080000"/>
            <a:ext cx="1524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C8FF">
                  <a:alpha val="90000"/>
                </a:srgbClr>
              </a:gs>
              <a:gs pos="100000">
                <a:srgbClr val="00C8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1041" r="-1041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47700" y="901700"/>
            <a:ext cx="10922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阶段性实施计划与风险预案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47700" y="1460500"/>
            <a:ext cx="10922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项目后期分为冲刺、测试、收尾三个关键阶段,各阶段明确任务、负责人与风险应对方案,确保高质量交付。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49300" y="2286000"/>
            <a:ext cx="35306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49300" y="2286000"/>
            <a:ext cx="50800" cy="3937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0A5FA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冲刺期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921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07.29 - 07.31</a:t>
            </a:r>
            <a:endParaRPr lang="en-US" sz="1100" dirty="0"/>
          </a:p>
        </p:txBody>
      </p:sp>
      <p:cxnSp>
        <p:nvCxnSpPr>
          <p:cNvPr id="9" name="Connector 9"/>
          <p:cNvCxnSpPr/>
          <p:nvPr/>
        </p:nvCxnSpPr>
        <p:spPr>
          <a:xfrm rot="-14505">
            <a:off x="1016013" y="3346450"/>
            <a:ext cx="3009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454400"/>
            <a:ext cx="30099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7843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 STM32 硬件串口联调,交付阶跃响应误差 ＜10% 测试报告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3434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032000" y="4318000"/>
            <a:ext cx="19939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刘双瑞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800600"/>
            <a:ext cx="30099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4800600"/>
            <a:ext cx="38100" cy="1016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168400" y="4876800"/>
            <a:ext cx="2730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风险预案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168400" y="5143500"/>
            <a:ext cx="2730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7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若硬件接口不兼容,备选通用 USB-TTL 模块中转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84700" y="2286000"/>
            <a:ext cx="35306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584700" y="2286000"/>
            <a:ext cx="50800" cy="3937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8BDF8">
                  <a:alpha val="100000"/>
                </a:srgbClr>
              </a:gs>
              <a:gs pos="100000">
                <a:srgbClr val="0EA5E9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851400" y="24130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测试期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851400" y="2921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08.02 - 08.04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505">
            <a:off x="4851413" y="3346450"/>
            <a:ext cx="3009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4851400" y="3454400"/>
            <a:ext cx="30099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7843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扩大用户测试至 25 人,收集 B 端/商业化付费意向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851400" y="43434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867400" y="4318000"/>
            <a:ext cx="19939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胡雨杨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851400" y="4800600"/>
            <a:ext cx="30099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4851400" y="4800600"/>
            <a:ext cx="38100" cy="1016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5003800" y="4876800"/>
            <a:ext cx="2730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风险预案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003800" y="5143500"/>
            <a:ext cx="27813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 dirty="0" err="1">
                <a:solidFill>
                  <a:srgbClr val="FFFFFF">
                    <a:alpha val="7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若问卷回收慢,提供"调参小礼品+试用权"激励</a:t>
            </a:r>
            <a:endParaRPr lang="en-US" sz="1100" dirty="0"/>
          </a:p>
        </p:txBody>
      </p:sp>
      <p:sp>
        <p:nvSpPr>
          <p:cNvPr id="29" name="AutoShape 29"/>
          <p:cNvSpPr/>
          <p:nvPr/>
        </p:nvSpPr>
        <p:spPr>
          <a:xfrm>
            <a:off x="8420100" y="2286000"/>
            <a:ext cx="35306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420100" y="2286000"/>
            <a:ext cx="50800" cy="3937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4D399">
                  <a:alpha val="100000"/>
                </a:srgbClr>
              </a:gs>
              <a:gs pos="100000">
                <a:srgbClr val="10B981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686800" y="2413000"/>
            <a:ext cx="304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收尾期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686800" y="29210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08.05 - 08.08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14505">
            <a:off x="8686813" y="3346450"/>
            <a:ext cx="3009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8686800" y="3454400"/>
            <a:ext cx="30099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FFFFFF">
                    <a:alpha val="87843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最终版</a:t>
            </a:r>
            <a:r>
              <a:rPr lang="en-US" sz="1200" b="0" i="0" u="none" strike="noStrike" dirty="0">
                <a:solidFill>
                  <a:srgbClr val="FFFFFF">
                    <a:alpha val="87843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PPT </a:t>
            </a:r>
            <a:r>
              <a:rPr lang="en-US" sz="1200" b="0" i="0" u="none" strike="noStrike" dirty="0" err="1">
                <a:solidFill>
                  <a:srgbClr val="FFFFFF">
                    <a:alpha val="87843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润色、演示视频剪辑、结题材料归档</a:t>
            </a:r>
            <a:endParaRPr lang="en-US" sz="1100" dirty="0"/>
          </a:p>
        </p:txBody>
      </p:sp>
      <p:sp>
        <p:nvSpPr>
          <p:cNvPr id="35" name="AutoShape 35"/>
          <p:cNvSpPr/>
          <p:nvPr/>
        </p:nvSpPr>
        <p:spPr>
          <a:xfrm>
            <a:off x="8686800" y="43434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负责人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702800" y="4318000"/>
            <a:ext cx="19939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吴程龙秀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686800" y="4800600"/>
            <a:ext cx="30099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8686800" y="4800600"/>
            <a:ext cx="38100" cy="1016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8839200" y="4876800"/>
            <a:ext cx="2730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风险预案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8839200" y="5143500"/>
            <a:ext cx="27305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7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提前 2 天进行全流程模拟答辩演练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1041" r="-1041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584200" y="711200"/>
            <a:ext cx="11176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8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Q&amp;A </a:t>
            </a:r>
            <a:r>
              <a:rPr lang="en-US" sz="28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预判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5389257">
            <a:off x="-1600200" y="3930660"/>
            <a:ext cx="4064000" cy="12700"/>
          </a:xfrm>
          <a:prstGeom prst="straightConnector1">
            <a:avLst/>
          </a:prstGeom>
          <a:solidFill>
            <a:srgbClr val="DEE0E3">
              <a:alpha val="30000"/>
            </a:srgbClr>
          </a:solidFill>
          <a:ln w="12700" cap="sq" cmpd="sng">
            <a:solidFill>
              <a:srgbClr val="8F959E">
                <a:alpha val="3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5" name="Connector 5"/>
          <p:cNvCxnSpPr/>
          <p:nvPr/>
        </p:nvCxnSpPr>
        <p:spPr>
          <a:xfrm rot="5389257">
            <a:off x="1384300" y="3930660"/>
            <a:ext cx="4064000" cy="12700"/>
          </a:xfrm>
          <a:prstGeom prst="straightConnector1">
            <a:avLst/>
          </a:prstGeom>
          <a:solidFill>
            <a:srgbClr val="DEE0E3">
              <a:alpha val="30000"/>
            </a:srgbClr>
          </a:solidFill>
          <a:ln w="12700" cap="sq" cmpd="sng">
            <a:solidFill>
              <a:srgbClr val="8F959E">
                <a:alpha val="3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5389257">
            <a:off x="4203700" y="3930660"/>
            <a:ext cx="4064000" cy="12700"/>
          </a:xfrm>
          <a:prstGeom prst="straightConnector1">
            <a:avLst/>
          </a:prstGeom>
          <a:solidFill>
            <a:srgbClr val="DEE0E3">
              <a:alpha val="30000"/>
            </a:srgbClr>
          </a:solidFill>
          <a:ln w="12700" cap="sq" cmpd="sng">
            <a:solidFill>
              <a:srgbClr val="8F959E">
                <a:alpha val="3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/>
        </p:nvCxnSpPr>
        <p:spPr>
          <a:xfrm rot="5389257">
            <a:off x="6794500" y="3930660"/>
            <a:ext cx="4064000" cy="12700"/>
          </a:xfrm>
          <a:prstGeom prst="straightConnector1">
            <a:avLst/>
          </a:prstGeom>
          <a:solidFill>
            <a:srgbClr val="DEE0E3">
              <a:alpha val="30000"/>
            </a:srgbClr>
          </a:solidFill>
          <a:ln w="12700" cap="sq" cmpd="sng">
            <a:solidFill>
              <a:srgbClr val="8F959E">
                <a:alpha val="3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01700" y="1981200"/>
            <a:ext cx="26035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7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硬件表现不佳怎么办</a:t>
            </a:r>
            <a:r>
              <a:rPr lang="en-US" sz="17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?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901700" y="2286000"/>
            <a:ext cx="2603500" cy="3587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lstStyle/>
          <a:p>
            <a:pPr>
              <a:lnSpc>
                <a:spcPct val="200000"/>
              </a:lnSpc>
              <a:defRPr/>
            </a:pPr>
            <a:r>
              <a:rPr lang="zh-CN" altLang="zh-CN" dirty="0">
                <a:solidFill>
                  <a:srgbClr val="DCE0E8"/>
                </a:solidFill>
                <a:latin typeface="Noto Sans SC" panose="020B0200000000000000" charset="-122"/>
                <a:ea typeface="Noto Sans SC" panose="020B0200000000000000" charset="-122"/>
              </a:rPr>
              <a:t>已通过软仿真验证 AI 诊断逻辑（85%有效率）。已借到实验室 STM32 套件，在 8月1日 答辩前完成硬件联调；若误差超10%，将引入衰减滤波算法优化</a:t>
            </a:r>
            <a:endParaRPr lang="en-US" dirty="0">
              <a:solidFill>
                <a:srgbClr val="DCE0E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606800" y="18415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0" rIns="12700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5600" b="1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908551" y="1981200"/>
            <a:ext cx="2540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7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用户凭什么付费</a:t>
            </a:r>
            <a:r>
              <a:rPr lang="en-US" sz="17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?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4699001" y="2477298"/>
            <a:ext cx="2540000" cy="320515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lstStyle/>
          <a:p>
            <a:pPr>
              <a:lnSpc>
                <a:spcPct val="200000"/>
              </a:lnSpc>
              <a:defRPr/>
            </a:pPr>
            <a:r>
              <a:rPr lang="zh-CN" altLang="zh-CN" dirty="0">
                <a:solidFill>
                  <a:srgbClr val="DCE0E8"/>
                </a:solidFill>
                <a:latin typeface="Noto Sans SC" panose="020B0200000000000000" charset="-122"/>
                <a:ea typeface="Noto Sans SC" panose="020B0200000000000000" charset="-122"/>
              </a:rPr>
              <a:t>传统工具提供“纯看波形”的无差异功能，而我们核心价值是“AI降低门槛与节省80%时间”。12名测试用户中 66.7% 愿付费，本质是为“节省的工时”付费</a:t>
            </a:r>
            <a:endParaRPr lang="en-US" sz="1200" dirty="0"/>
          </a:p>
        </p:txBody>
      </p:sp>
      <p:sp>
        <p:nvSpPr>
          <p:cNvPr id="15" name="AutoShape 15"/>
          <p:cNvSpPr/>
          <p:nvPr/>
        </p:nvSpPr>
        <p:spPr>
          <a:xfrm>
            <a:off x="8375650" y="1990725"/>
            <a:ext cx="2286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7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成本超支风险</a:t>
            </a:r>
            <a:r>
              <a:rPr lang="en-US" sz="17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?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8260557" y="2461024"/>
            <a:ext cx="2286000" cy="28249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lstStyle/>
          <a:p>
            <a:pPr>
              <a:lnSpc>
                <a:spcPct val="200000"/>
              </a:lnSpc>
              <a:defRPr/>
            </a:pPr>
            <a:r>
              <a:rPr lang="zh-CN" altLang="zh-CN" dirty="0">
                <a:solidFill>
                  <a:srgbClr val="DCE0E8"/>
                </a:solidFill>
                <a:latin typeface="Noto Sans SC" panose="020B0200000000000000" charset="-122"/>
                <a:ea typeface="Noto Sans SC" panose="020B0200000000000000" charset="-122"/>
              </a:rPr>
              <a:t>超出的 50 元用于测试激励以换取 12 份高质反馈，每 29.2 元产出 1 份深度反馈，大幅降低了产品偏离需求的风险</a:t>
            </a:r>
            <a:endParaRPr lang="en-US" dirty="0">
              <a:solidFill>
                <a:srgbClr val="DCE0E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105900" y="3937000"/>
            <a:ext cx="2476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endParaRPr lang="en-US" sz="1100" dirty="0"/>
          </a:p>
        </p:txBody>
      </p:sp>
      <p:sp>
        <p:nvSpPr>
          <p:cNvPr id="21" name="AutoShape 6"/>
          <p:cNvSpPr/>
          <p:nvPr/>
        </p:nvSpPr>
        <p:spPr>
          <a:xfrm>
            <a:off x="4160043" y="1936750"/>
            <a:ext cx="50800" cy="3937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0A5FA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6"/>
          <p:cNvSpPr/>
          <p:nvPr/>
        </p:nvSpPr>
        <p:spPr>
          <a:xfrm>
            <a:off x="7658100" y="1905000"/>
            <a:ext cx="50800" cy="3937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0A5FA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1041" r="-1041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41400" y="1778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0" b="1" i="0" u="none" strike="noStrike">
                <a:solidFill>
                  <a:srgbClr val="FFFFFF">
                    <a:alpha val="3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3556000"/>
            <a:ext cx="10414000" cy="1231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400" b="1" i="0" u="none" strike="noStrike" spc="4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AI评价与团队反思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41400" y="5080000"/>
            <a:ext cx="762000" cy="381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DCFF">
                  <a:alpha val="100000"/>
                </a:srgbClr>
              </a:gs>
              <a:gs pos="100000">
                <a:srgbClr val="00DC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41400" y="5334000"/>
            <a:ext cx="1041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我们认为,能够吸收外部批判性意见并进行独立思考,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41400" y="5842000"/>
            <a:ext cx="1041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50800" rIns="127000" bIns="508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 spc="100" dirty="0" err="1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是团队成长的重要标志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1041" r="-1041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800" y="711200"/>
            <a:ext cx="10795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评价观点摘要与团队回应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5389582">
            <a:off x="3746500" y="3867160"/>
            <a:ext cx="4191000" cy="12700"/>
          </a:xfrm>
          <a:prstGeom prst="straightConnector1">
            <a:avLst/>
          </a:prstGeom>
          <a:solidFill>
            <a:srgbClr val="DEE0E3">
              <a:alpha val="35000"/>
            </a:srgbClr>
          </a:solidFill>
          <a:ln w="12700" cap="sq" cmpd="sng">
            <a:solidFill>
              <a:srgbClr val="8F959E">
                <a:alpha val="35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685800" y="1778000"/>
            <a:ext cx="457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总体评价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85800" y="24384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50800" rIns="1270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5EEA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证据充分 · 优势项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85800" y="2819400"/>
            <a:ext cx="457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"动力和毅力"与"动员他人"上证据充分,展现了团队执行力与凝聚力。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85800" y="38608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50800" rIns="1270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B92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明显薄弱 · 待补强项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85800" y="4241800"/>
            <a:ext cx="4572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"财经素养的长期盈利测算"与"真实硬件环境的资源调动"上存在明显薄弱点。</a:t>
            </a:r>
            <a:endParaRPr lang="en-US" sz="110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170" y="1595755"/>
            <a:ext cx="6080760" cy="45154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1041" r="-1041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800" y="490220"/>
            <a:ext cx="10795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评价观点摘要与团队回应</a:t>
            </a:r>
            <a:endParaRPr lang="en-US" sz="1100"/>
          </a:p>
        </p:txBody>
      </p:sp>
      <p:cxnSp>
        <p:nvCxnSpPr>
          <p:cNvPr id="3" name="Connector 3"/>
          <p:cNvCxnSpPr/>
          <p:nvPr>
            <p:custDataLst>
              <p:tags r:id="rId2"/>
            </p:custDataLst>
          </p:nvPr>
        </p:nvCxnSpPr>
        <p:spPr>
          <a:xfrm rot="5389582">
            <a:off x="3746500" y="3867160"/>
            <a:ext cx="4191000" cy="12700"/>
          </a:xfrm>
          <a:prstGeom prst="straightConnector1">
            <a:avLst/>
          </a:prstGeom>
          <a:solidFill>
            <a:srgbClr val="DEE0E3">
              <a:alpha val="35000"/>
            </a:srgbClr>
          </a:solidFill>
          <a:ln w="12700" cap="sq" cmpd="sng">
            <a:solidFill>
              <a:srgbClr val="8F959E">
                <a:alpha val="35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413385" y="1397000"/>
            <a:ext cx="11445875" cy="1396365"/>
          </a:xfrm>
          <a:prstGeom prst="roundRect">
            <a:avLst>
              <a:gd name="adj" fmla="val 0"/>
            </a:avLst>
          </a:prstGeom>
          <a:solidFill>
            <a:srgbClr val="1E293B">
              <a:alpha val="55000"/>
            </a:srgbClr>
          </a:solidFill>
          <a:ln cap="flat" cmpd="sng">
            <a:solidFill>
              <a:srgbClr val="0E1522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4"/>
            </p:custDataLst>
          </p:nvPr>
        </p:nvSpPr>
        <p:spPr>
          <a:xfrm>
            <a:off x="685800" y="1397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观点1 · </a:t>
            </a: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财经素养</a:t>
            </a:r>
            <a:endParaRPr lang="zh-CN" altLang="en-US" sz="1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5"/>
            </p:custDataLst>
          </p:nvPr>
        </p:nvSpPr>
        <p:spPr>
          <a:xfrm>
            <a:off x="667385" y="1670685"/>
            <a:ext cx="4946015" cy="11728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“在‘财经素养’方面，</a:t>
            </a:r>
            <a:r>
              <a:rPr lang="en-US" altLang="zh-CN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PPT </a:t>
            </a: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缺少对电赛备赛学生购买高级版（30元/月）付费意愿与真实转化率的严密财务假设，</a:t>
            </a:r>
            <a:r>
              <a:rPr lang="en-US" altLang="zh-CN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LTV（</a:t>
            </a: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用户生命周期价值）和年收入9万元的推算缺乏敏感性分析与获客成本（</a:t>
            </a:r>
            <a:r>
              <a:rPr lang="en-US" altLang="zh-CN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CAC）</a:t>
            </a: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核算。”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6"/>
            </p:custDataLst>
          </p:nvPr>
        </p:nvSpPr>
        <p:spPr>
          <a:xfrm>
            <a:off x="413385" y="5015865"/>
            <a:ext cx="11507470" cy="1397000"/>
          </a:xfrm>
          <a:prstGeom prst="roundRect">
            <a:avLst>
              <a:gd name="adj" fmla="val 0"/>
            </a:avLst>
          </a:prstGeom>
          <a:solidFill>
            <a:srgbClr val="1E293B">
              <a:alpha val="55000"/>
            </a:srgbClr>
          </a:solidFill>
          <a:ln cap="flat" cmpd="sng">
            <a:solidFill>
              <a:srgbClr val="0E1522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14"/>
          <p:cNvSpPr/>
          <p:nvPr>
            <p:custDataLst>
              <p:tags r:id="rId7"/>
            </p:custDataLst>
          </p:nvPr>
        </p:nvSpPr>
        <p:spPr>
          <a:xfrm>
            <a:off x="413385" y="3198495"/>
            <a:ext cx="11507470" cy="1397000"/>
          </a:xfrm>
          <a:prstGeom prst="roundRect">
            <a:avLst>
              <a:gd name="adj" fmla="val 0"/>
            </a:avLst>
          </a:prstGeom>
          <a:solidFill>
            <a:srgbClr val="1E293B">
              <a:alpha val="55000"/>
            </a:srgbClr>
          </a:solidFill>
          <a:ln cap="flat" cmpd="sng">
            <a:solidFill>
              <a:srgbClr val="0E1522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14"/>
          <p:cNvSpPr/>
          <p:nvPr>
            <p:custDataLst>
              <p:tags r:id="rId8"/>
            </p:custDataLst>
          </p:nvPr>
        </p:nvSpPr>
        <p:spPr>
          <a:xfrm>
            <a:off x="817245" y="5203825"/>
            <a:ext cx="4929505" cy="1097280"/>
          </a:xfrm>
          <a:prstGeom prst="roundRect">
            <a:avLst>
              <a:gd name="adj" fmla="val 0"/>
            </a:avLst>
          </a:prstGeom>
          <a:noFill/>
          <a:ln cap="flat" cmpd="sng">
            <a:solidFill>
              <a:srgbClr val="0E1522">
                <a:alpha val="55000"/>
              </a:srgb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1E293B">
                    <a:alpha val="55000"/>
                  </a:srgbClr>
                </a:solidFill>
              </a14:hiddenFill>
            </a:ext>
          </a:extLst>
        </p:spPr>
        <p:txBody>
          <a:bodyPr vert="horz" wrap="square" lIns="63500" tIns="63500" rIns="63500" bIns="63500" rtlCol="0" anchor="ctr"/>
          <a:lstStyle/>
          <a:p>
            <a:pPr marL="0" indent="0" algn="l">
              <a:lnSpc>
                <a:spcPct val="129000"/>
              </a:lnSpc>
              <a:defRPr/>
            </a:pPr>
            <a:r>
              <a:rPr lang="zh-CN" altLang="en-US" sz="13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“在‘动员他人’方面，</a:t>
            </a:r>
            <a:r>
              <a:rPr lang="en-US" altLang="zh-CN" sz="13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RACI </a:t>
            </a:r>
            <a:r>
              <a:rPr lang="zh-CN" altLang="en-US" sz="13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矩阵中的分工虽然覆盖了前后端与文档，但在外部资源的调动上显得比较被动，主要依赖学长指导和零星测试，缺乏对更大规模高校社团或专家资源的体系化动员。”</a:t>
            </a:r>
            <a:endParaRPr lang="zh-CN" altLang="en-US" sz="130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9"/>
            </p:custDataLst>
          </p:nvPr>
        </p:nvSpPr>
        <p:spPr>
          <a:xfrm>
            <a:off x="685800" y="3206115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观点2 · </a:t>
            </a: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动力和毅力</a:t>
            </a:r>
            <a:endParaRPr lang="zh-CN" altLang="en-US" sz="1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0"/>
            </p:custDataLst>
          </p:nvPr>
        </p:nvSpPr>
        <p:spPr>
          <a:xfrm>
            <a:off x="5904230" y="1569085"/>
            <a:ext cx="5821045" cy="11042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300" b="1">
                <a:solidFill>
                  <a:srgbClr val="5EEA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【认同】</a:t>
            </a: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9万元年收入基于理想假设，未扣除转化率折扣</a:t>
            </a:r>
            <a:endParaRPr lang="zh-CN" alt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  <a:defRPr/>
            </a:pPr>
            <a:r>
              <a:rPr lang="en-US" sz="1300" b="1">
                <a:solidFill>
                  <a:srgbClr val="5EEA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【已执行】</a:t>
            </a: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 66.7% 的测试付费意愿修正了财务模型，补充获客成本说明</a:t>
            </a:r>
            <a:endParaRPr lang="en-US" altLang="zh-CN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  <a:defRPr/>
            </a:pPr>
            <a:r>
              <a:rPr lang="en-US" sz="1300" b="1">
                <a:solidFill>
                  <a:srgbClr val="5EEA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</a:t>
            </a:r>
            <a:r>
              <a:rPr lang="zh-CN" altLang="en-US" sz="1300" b="1">
                <a:solidFill>
                  <a:srgbClr val="5EEA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存疑</a:t>
            </a:r>
            <a:r>
              <a:rPr lang="en-US" sz="1300" b="1">
                <a:solidFill>
                  <a:srgbClr val="5EEA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】</a:t>
            </a:r>
            <a:r>
              <a:rPr lang="en-US" altLang="zh-CN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</a:t>
            </a: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认为我们缺乏商业化常识。实际是初期聚焦 </a:t>
            </a:r>
            <a:r>
              <a:rPr lang="en-US" altLang="zh-CN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MVP </a:t>
            </a:r>
            <a:r>
              <a:rPr lang="zh-CN" alt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验证，后续将完善分层定价分析</a:t>
            </a:r>
            <a:endParaRPr lang="zh-CN" altLang="en-US" sz="13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17"/>
          <p:cNvSpPr/>
          <p:nvPr>
            <p:custDataLst>
              <p:tags r:id="rId11"/>
            </p:custDataLst>
          </p:nvPr>
        </p:nvSpPr>
        <p:spPr>
          <a:xfrm>
            <a:off x="413385" y="3206115"/>
            <a:ext cx="50800" cy="13970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>
            <p:custDataLst>
              <p:tags r:id="rId12"/>
            </p:custDataLst>
          </p:nvPr>
        </p:nvSpPr>
        <p:spPr>
          <a:xfrm>
            <a:off x="413385" y="5015865"/>
            <a:ext cx="50800" cy="1397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5904230" y="3472180"/>
            <a:ext cx="6096000" cy="864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9000"/>
              </a:lnSpc>
              <a:defRPr/>
            </a:pPr>
            <a:r>
              <a:rPr lang="en-US" sz="1300" b="1">
                <a:solidFill>
                  <a:srgbClr val="5EEA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【认同】</a:t>
            </a:r>
            <a:r>
              <a:rPr lang="zh-CN" altLang="en-US" sz="13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单纯记录工时未深入剖析大模型偏移的技术本质</a:t>
            </a:r>
            <a:endParaRPr lang="zh-CN" altLang="en-US" sz="130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  <a:defRPr/>
            </a:pPr>
            <a:r>
              <a:rPr lang="en-US" sz="1300" b="1">
                <a:solidFill>
                  <a:srgbClr val="5EEA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【已执行】</a:t>
            </a:r>
            <a:r>
              <a:rPr lang="zh-CN" altLang="en-US" sz="13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引入参数安全边界算法与自动回退机制，将调参有效率提升至 85%</a:t>
            </a:r>
            <a:endParaRPr lang="zh-CN" altLang="en-US" sz="130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  <a:defRPr/>
            </a:pPr>
            <a:r>
              <a:rPr lang="en-US" sz="1300" b="1">
                <a:solidFill>
                  <a:srgbClr val="5EEA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</a:t>
            </a:r>
            <a:r>
              <a:rPr lang="zh-CN" altLang="en-US" sz="1300" b="1">
                <a:solidFill>
                  <a:srgbClr val="5EEA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存疑</a:t>
            </a:r>
            <a:r>
              <a:rPr lang="en-US" sz="1300" b="1">
                <a:solidFill>
                  <a:srgbClr val="5EEA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】</a:t>
            </a:r>
            <a:r>
              <a:rPr lang="en-US" altLang="zh-CN" sz="13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</a:t>
            </a:r>
            <a:r>
              <a:rPr lang="zh-CN" altLang="en-US" sz="13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认为缺乏系统性复盘。实际在每日立会和看板中已有敏捷迭代</a:t>
            </a:r>
            <a:endParaRPr lang="zh-CN" altLang="en-US" sz="130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17"/>
          <p:cNvSpPr/>
          <p:nvPr>
            <p:custDataLst>
              <p:tags r:id="rId14"/>
            </p:custDataLst>
          </p:nvPr>
        </p:nvSpPr>
        <p:spPr>
          <a:xfrm>
            <a:off x="413385" y="1397000"/>
            <a:ext cx="50800" cy="1397000"/>
          </a:xfrm>
          <a:prstGeom prst="roundRect">
            <a:avLst>
              <a:gd name="adj" fmla="val 0"/>
            </a:avLst>
          </a:prstGeom>
          <a:solidFill>
            <a:srgbClr val="EF4444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14"/>
          <p:cNvSpPr/>
          <p:nvPr>
            <p:custDataLst>
              <p:tags r:id="rId15"/>
            </p:custDataLst>
          </p:nvPr>
        </p:nvSpPr>
        <p:spPr>
          <a:xfrm>
            <a:off x="817245" y="3429000"/>
            <a:ext cx="4929505" cy="1097280"/>
          </a:xfrm>
          <a:prstGeom prst="roundRect">
            <a:avLst>
              <a:gd name="adj" fmla="val 0"/>
            </a:avLst>
          </a:prstGeom>
          <a:noFill/>
          <a:ln cap="flat" cmpd="sng">
            <a:solidFill>
              <a:srgbClr val="0E1522">
                <a:alpha val="55000"/>
              </a:srgb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1E293B">
                    <a:alpha val="55000"/>
                  </a:srgbClr>
                </a:solidFill>
              </a14:hiddenFill>
            </a:ext>
          </a:extLst>
        </p:spPr>
        <p:txBody>
          <a:bodyPr vert="horz" wrap="square" lIns="63500" tIns="63500" rIns="63500" bIns="63500" rtlCol="0" anchor="ctr"/>
          <a:lstStyle/>
          <a:p>
            <a:pPr marL="0" indent="0" algn="l">
              <a:lnSpc>
                <a:spcPct val="129000"/>
              </a:lnSpc>
              <a:defRPr/>
            </a:pPr>
            <a:r>
              <a:rPr lang="zh-CN" altLang="en-US" sz="13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“在‘动力和毅力’方面，虽然记录了 32 小时返工工时，但对于 PID 仿真震荡和上下文失真这类的突发技术难题，缺乏系统性的根本原因复盘，容易导致同类 Bug 的二次</a:t>
            </a:r>
            <a:r>
              <a:rPr lang="zh-CN" altLang="en-US" sz="13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发生。”</a:t>
            </a:r>
            <a:endParaRPr lang="zh-CN" altLang="en-US" sz="130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AutoShape 16"/>
          <p:cNvSpPr/>
          <p:nvPr>
            <p:custDataLst>
              <p:tags r:id="rId16"/>
            </p:custDataLst>
          </p:nvPr>
        </p:nvSpPr>
        <p:spPr>
          <a:xfrm>
            <a:off x="817245" y="501523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76200" tIns="50800" rIns="762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观点3· </a:t>
            </a: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动员他人</a:t>
            </a:r>
            <a:endParaRPr lang="zh-CN" altLang="en-US" sz="1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7"/>
            </p:custDataLst>
          </p:nvPr>
        </p:nvSpPr>
        <p:spPr>
          <a:xfrm>
            <a:off x="5904230" y="5203825"/>
            <a:ext cx="6096000" cy="1122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9000"/>
              </a:lnSpc>
              <a:defRPr/>
            </a:pPr>
            <a:r>
              <a:rPr lang="en-US" sz="1300" b="1">
                <a:solidFill>
                  <a:srgbClr val="5EEA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【认同】</a:t>
            </a:r>
            <a:r>
              <a:rPr lang="zh-CN" altLang="en-US" sz="13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外部资源多为点对点求助，缺乏体系化联合推广机制</a:t>
            </a:r>
            <a:endParaRPr lang="zh-CN" altLang="en-US" sz="130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  <a:defRPr/>
            </a:pPr>
            <a:r>
              <a:rPr lang="en-US" sz="1300" b="1">
                <a:solidFill>
                  <a:srgbClr val="5EEA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【已执行】</a:t>
            </a:r>
            <a:r>
              <a:rPr lang="zh-CN" altLang="en-US" sz="130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对接校内电赛群与智能车社团，将测试样本扩招至 25 人，增加奖励</a:t>
            </a:r>
            <a:endParaRPr lang="zh-CN" altLang="en-US" sz="130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9000"/>
              </a:lnSpc>
              <a:defRPr/>
            </a:pPr>
            <a:r>
              <a:rPr lang="en-US" sz="1300" b="1">
                <a:solidFill>
                  <a:srgbClr val="5EEA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</a:t>
            </a:r>
            <a:r>
              <a:rPr lang="zh-CN" altLang="en-US" sz="1300" b="1">
                <a:solidFill>
                  <a:srgbClr val="5EEA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存疑</a:t>
            </a:r>
            <a:r>
              <a:rPr lang="en-US" sz="1300" b="1">
                <a:solidFill>
                  <a:srgbClr val="5EEA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】</a:t>
            </a:r>
            <a:r>
              <a:rPr lang="en-US" sz="1300">
                <a:solidFill>
                  <a:srgbClr val="E8EA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AI误解了我们当前阶段的精益验证重点。我们当前处于MVP核心价值验证期(C端),而非B端商业扩张期,,强行拉入企业专家会增加沟通成本</a:t>
            </a:r>
            <a:endParaRPr lang="en-US" altLang="zh-CN" sz="130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l="-1041" r="-1041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15000"/>
                </a:srgbClr>
              </a:gs>
              <a:gs pos="35000">
                <a:srgbClr val="000000">
                  <a:alpha val="32000"/>
                </a:srgbClr>
              </a:gs>
              <a:gs pos="72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FFFF">
                  <a:alpha val="12000"/>
                </a:srgbClr>
              </a:gs>
              <a:gs pos="28000">
                <a:srgbClr val="FFFFFF">
                  <a:alpha val="4000"/>
                </a:srgbClr>
              </a:gs>
              <a:gs pos="55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1066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8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谢谢!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14323">
            <a:off x="762013" y="41084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762000" y="45466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76200" rIns="127000" bIns="762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56896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50800" rIns="127000" bIns="508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5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期待您的提问与指导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4.75,&quot;left&quot;:30.55,&quot;top&quot;:108.2,&quot;width&quot;:916.95}"/>
</p:tagLst>
</file>

<file path=ppt/tags/tag2.xml><?xml version="1.0" encoding="utf-8"?>
<p:tagLst xmlns:p="http://schemas.openxmlformats.org/presentationml/2006/main">
  <p:tag name="KSO_WM_DIAGRAM_VIRTUALLY_FRAME" val="{&quot;height&quot;:414.75,&quot;left&quot;:30.55,&quot;top&quot;:108.2,&quot;width&quot;:916.95}"/>
</p:tagLst>
</file>

<file path=ppt/tags/tag3.xml><?xml version="1.0" encoding="utf-8"?>
<p:tagLst xmlns:p="http://schemas.openxmlformats.org/presentationml/2006/main">
  <p:tag name="KSO_WM_DIAGRAM_VIRTUALLY_FRAME" val="{&quot;height&quot;:414.75,&quot;left&quot;:30.55,&quot;top&quot;:108.2,&quot;width&quot;:916.95}"/>
</p:tagLst>
</file>

<file path=ppt/tags/tag4.xml><?xml version="1.0" encoding="utf-8"?>
<p:tagLst xmlns:p="http://schemas.openxmlformats.org/presentationml/2006/main">
  <p:tag name="KSO_WM_DIAGRAM_VIRTUALLY_FRAME" val="{&quot;height&quot;:414.75,&quot;left&quot;:30.55,&quot;top&quot;:108.2,&quot;width&quot;:916.95}"/>
</p:tagLst>
</file>

<file path=ppt/tags/tag5.xml><?xml version="1.0" encoding="utf-8"?>
<p:tagLst xmlns:p="http://schemas.openxmlformats.org/presentationml/2006/main">
  <p:tag name="KSO_WM_DIAGRAM_VIRTUALLY_FRAME" val="{&quot;height&quot;:414.75,&quot;left&quot;:30.55,&quot;top&quot;:108.2,&quot;width&quot;:916.95}"/>
</p:tagLst>
</file>

<file path=ppt/tags/tag6.xml><?xml version="1.0" encoding="utf-8"?>
<p:tagLst xmlns:p="http://schemas.openxmlformats.org/presentationml/2006/main">
  <p:tag name="KSO_WM_DIAGRAM_VIRTUALLY_FRAME" val="{&quot;height&quot;:414.75,&quot;left&quot;:30.55,&quot;top&quot;:108.2,&quot;width&quot;:916.95}"/>
</p:tagLst>
</file>

<file path=ppt/tags/tag7.xml><?xml version="1.0" encoding="utf-8"?>
<p:tagLst xmlns:p="http://schemas.openxmlformats.org/presentationml/2006/main">
  <p:tag name="KSO_WM_DIAGRAM_VIRTUALLY_FRAME" val="{&quot;height&quot;:414.75,&quot;left&quot;:30.55,&quot;top&quot;:108.2,&quot;width&quot;:916.95}"/>
</p:tagLst>
</file>

<file path=ppt/tags/tag8.xml><?xml version="1.0" encoding="utf-8"?>
<p:tagLst xmlns:p="http://schemas.openxmlformats.org/presentationml/2006/main">
  <p:tag name="KSO_WM_DIAGRAM_VIRTUALLY_FRAME" val="{&quot;height&quot;:414.75,&quot;left&quot;:30.55,&quot;top&quot;:108.2,&quot;width&quot;:916.95}"/>
</p:tagLst>
</file>

<file path=ppt/tags/tag9.xml><?xml version="1.0" encoding="utf-8"?>
<p:tagLst xmlns:p="http://schemas.openxmlformats.org/presentationml/2006/main">
  <p:tag name="KSO_WM_DIAGRAM_VIRTUALLY_FRAME" val="{&quot;height&quot;:414.75,&quot;left&quot;:30.55,&quot;top&quot;:108.2,&quot;width&quot;:916.95}"/>
</p:tagLst>
</file>

<file path=ppt/tags/tag10.xml><?xml version="1.0" encoding="utf-8"?>
<p:tagLst xmlns:p="http://schemas.openxmlformats.org/presentationml/2006/main">
  <p:tag name="KSO_WM_DIAGRAM_VIRTUALLY_FRAME" val="{&quot;height&quot;:414.75,&quot;left&quot;:30.55,&quot;top&quot;:108.2,&quot;width&quot;:916.95}"/>
</p:tagLst>
</file>

<file path=ppt/tags/tag11.xml><?xml version="1.0" encoding="utf-8"?>
<p:tagLst xmlns:p="http://schemas.openxmlformats.org/presentationml/2006/main">
  <p:tag name="KSO_WM_DIAGRAM_VIRTUALLY_FRAME" val="{&quot;height&quot;:414.75,&quot;left&quot;:30.55,&quot;top&quot;:108.2,&quot;width&quot;:916.95}"/>
</p:tagLst>
</file>

<file path=ppt/tags/tag12.xml><?xml version="1.0" encoding="utf-8"?>
<p:tagLst xmlns:p="http://schemas.openxmlformats.org/presentationml/2006/main">
  <p:tag name="KSO_WM_DIAGRAM_VIRTUALLY_FRAME" val="{&quot;height&quot;:414.75,&quot;left&quot;:30.55,&quot;top&quot;:108.2,&quot;width&quot;:916.95}"/>
</p:tagLst>
</file>

<file path=ppt/tags/tag13.xml><?xml version="1.0" encoding="utf-8"?>
<p:tagLst xmlns:p="http://schemas.openxmlformats.org/presentationml/2006/main">
  <p:tag name="KSO_WM_DIAGRAM_VIRTUALLY_FRAME" val="{&quot;height&quot;:414.75,&quot;left&quot;:30.55,&quot;top&quot;:108.2,&quot;width&quot;:916.95}"/>
</p:tagLst>
</file>

<file path=ppt/tags/tag14.xml><?xml version="1.0" encoding="utf-8"?>
<p:tagLst xmlns:p="http://schemas.openxmlformats.org/presentationml/2006/main">
  <p:tag name="KSO_WM_DIAGRAM_VIRTUALLY_FRAME" val="{&quot;height&quot;:414.75,&quot;left&quot;:30.55,&quot;top&quot;:108.2,&quot;width&quot;:916.95}"/>
</p:tagLst>
</file>

<file path=ppt/tags/tag15.xml><?xml version="1.0" encoding="utf-8"?>
<p:tagLst xmlns:p="http://schemas.openxmlformats.org/presentationml/2006/main">
  <p:tag name="KSO_WM_DIAGRAM_VIRTUALLY_FRAME" val="{&quot;height&quot;:414.75,&quot;left&quot;:30.55,&quot;top&quot;:108.2,&quot;width&quot;:916.95}"/>
</p:tagLst>
</file>

<file path=ppt/tags/tag16.xml><?xml version="1.0" encoding="utf-8"?>
<p:tagLst xmlns:p="http://schemas.openxmlformats.org/presentationml/2006/main">
  <p:tag name="KSO_WM_DIAGRAM_VIRTUALLY_FRAME" val="{&quot;height&quot;:414.75,&quot;left&quot;:30.55,&quot;top&quot;:108.2,&quot;width&quot;:916.9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4032</Words>
  <Application>WPS 演示</Application>
  <PresentationFormat>宽屏</PresentationFormat>
  <Paragraphs>545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宋体</vt:lpstr>
      <vt:lpstr>Wingdings</vt:lpstr>
      <vt:lpstr>Arial</vt:lpstr>
      <vt:lpstr>Noto Sans SC</vt:lpstr>
      <vt:lpstr>等线</vt:lpstr>
      <vt:lpstr>Times New Roman</vt:lpstr>
      <vt:lpstr>Segoe UI Emoji</vt:lpstr>
      <vt:lpstr>微软雅黑</vt:lpstr>
      <vt:lpstr>Arial Unicode MS</vt:lpstr>
      <vt:lpstr>Office 主题​​</vt:lpstr>
      <vt:lpstr>默认主题</vt:lpstr>
      <vt:lpstr>1_默认主题</vt:lpstr>
      <vt:lpstr>2_默认主题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Flying Kiwi</dc:creator>
  <cp:lastModifiedBy>Ingrid</cp:lastModifiedBy>
  <cp:revision>5</cp:revision>
  <dcterms:created xsi:type="dcterms:W3CDTF">2026-07-30T12:26:00Z</dcterms:created>
  <dcterms:modified xsi:type="dcterms:W3CDTF">2026-08-01T03:09:40Z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{"Label":"1","ContentProducer":"001191110102MACQD9K64010000","ProduceID":"7668222422952234194","ReservedCode1":"","ContentPropagator":"","PropagateID":"","ReservedCode2":""}</vt:lpwstr>
  </property>
  <property fmtid="{D5CDD505-2E9C-101B-9397-08002B2CF9AE}" pid="3" name="KSOProductBuildVer">
    <vt:lpwstr>2052-12.1.0.28043</vt:lpwstr>
  </property>
  <property fmtid="{D5CDD505-2E9C-101B-9397-08002B2CF9AE}" pid="4" name="ICV">
    <vt:lpwstr>8EFF025028A449E285A6A3A85CC3FB20_12</vt:lpwstr>
  </property>
</Properties>
</file>